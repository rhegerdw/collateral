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gsVPvwIUMNLgf5eL4+7LLl3f6P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1FD6F3-BF1D-4B22-920C-FFA17561EC4F}">
  <a:tblStyle styleId="{FE1FD6F3-BF1D-4B22-920C-FFA17561EC4F}" styleName="Table_0">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US" sz="1050">
                <a:solidFill>
                  <a:srgbClr val="0E0E0E"/>
                </a:solidFill>
              </a:rPr>
              <a:t>When we say intelligence, we don’t mean headlines or feeds. We mean tradecraft and engaging with brokers. We mean operating with intention, discerning what’s real — and helping our partners act with clarity, not urgency</a:t>
            </a:r>
            <a:endParaRPr sz="1050">
              <a:solidFill>
                <a:srgbClr val="0E0E0E"/>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Mass exploitation</a:t>
            </a:r>
            <a:r>
              <a:rPr lang="en-US">
                <a:solidFill>
                  <a:schemeClr val="dk1"/>
                </a:solidFill>
              </a:rPr>
              <a:t> = widespread use of the same vulnerability or attack path across many victims.</a:t>
            </a:r>
            <a:br>
              <a:rPr lang="en-US">
                <a:solidFill>
                  <a:schemeClr val="dk1"/>
                </a:solidFill>
              </a:rPr>
            </a:br>
            <a:br>
              <a:rPr lang="en-US">
                <a:solidFill>
                  <a:schemeClr val="dk1"/>
                </a:solidFill>
              </a:rPr>
            </a:br>
            <a:r>
              <a:rPr lang="en-US">
                <a:solidFill>
                  <a:schemeClr val="dk1"/>
                </a:solidFill>
              </a:rPr>
              <a:t> </a:t>
            </a:r>
            <a:r>
              <a:rPr b="1" lang="en-US">
                <a:solidFill>
                  <a:schemeClr val="dk1"/>
                </a:solidFill>
              </a:rPr>
              <a:t>Examples</a:t>
            </a:r>
            <a:r>
              <a:rPr lang="en-US">
                <a:solidFill>
                  <a:schemeClr val="dk1"/>
                </a:solidFill>
              </a:rPr>
              <a:t>:</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MOVEit file transfer vulnerability (Cl0p)</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ProxyShell/ProxyLogon against Exchange Servers</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CVE-2023-34362 (Fortinet) abused by multiple IABs at once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MSP invisible exposure</a:t>
            </a:r>
            <a:r>
              <a:rPr lang="en-US">
                <a:solidFill>
                  <a:schemeClr val="dk1"/>
                </a:solidFill>
              </a:rPr>
              <a:t>:</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RMM credentials harvested from MSP helpdesk staff in stealer logs</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Shared AnyDesk, ConnectWise, or TeamViewer credentials reused across client orgs</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MSPs retaining remote access even after a service engagement ends</a:t>
            </a:r>
            <a:br>
              <a:rPr lang="en-US">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7acf3ef3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0E0E0E"/>
                </a:solidFill>
              </a:rPr>
              <a:t>Few focus on the root </a:t>
            </a:r>
            <a:r>
              <a:rPr lang="en-US" sz="1050">
                <a:solidFill>
                  <a:srgbClr val="0E0E0E"/>
                </a:solidFill>
              </a:rPr>
              <a:t>risk because of the focus on the symptoms / effects of root risk </a:t>
            </a:r>
            <a:endParaRPr/>
          </a:p>
        </p:txBody>
      </p:sp>
      <p:sp>
        <p:nvSpPr>
          <p:cNvPr id="94" name="Google Shape;94;g357acf3ef38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9d2cedb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59d2cedba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7acf3ef3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57acf3ef38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7acf3ef3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“Offensive Mindset” language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“Intercept underground movement”</a:t>
            </a:r>
            <a:r>
              <a:rPr lang="en-US">
                <a:solidFill>
                  <a:schemeClr val="dk1"/>
                </a:solidFill>
              </a:rPr>
              <a:t> = acquiring access from threat actors before it’s sold downstream</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“Validate claims”</a:t>
            </a:r>
            <a:r>
              <a:rPr lang="en-US">
                <a:solidFill>
                  <a:schemeClr val="dk1"/>
                </a:solidFill>
              </a:rPr>
              <a:t> = validating breach/extortion claims circulating in underground chatter or private channels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“Debunk or validate with firsthand proof”</a:t>
            </a:r>
            <a:r>
              <a:rPr lang="en-US">
                <a:solidFill>
                  <a:schemeClr val="dk1"/>
                </a:solidFill>
              </a:rPr>
              <a:t> = showing the credential never existed, the malware was fake, or the actor was bluffing — because you engaged them or reviewed the actual logs</a:t>
            </a:r>
            <a:br>
              <a:rPr lang="en-US">
                <a:solidFill>
                  <a:schemeClr val="dk1"/>
                </a:solidFill>
              </a:rPr>
            </a:br>
            <a:endParaRPr>
              <a:solidFill>
                <a:schemeClr val="dk1"/>
              </a:solidFill>
            </a:endParaRPr>
          </a:p>
          <a:p>
            <a:pPr indent="0" lvl="0" marL="0" rtl="0" algn="l">
              <a:spcBef>
                <a:spcPts val="1200"/>
              </a:spcBef>
              <a:spcAft>
                <a:spcPts val="0"/>
              </a:spcAft>
              <a:buNone/>
            </a:pPr>
            <a:r>
              <a:t/>
            </a:r>
            <a:endParaRPr/>
          </a:p>
        </p:txBody>
      </p:sp>
      <p:sp>
        <p:nvSpPr>
          <p:cNvPr id="112" name="Google Shape;112;g357acf3ef3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bddd4cc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US" sz="1050">
                <a:solidFill>
                  <a:srgbClr val="0E0E0E"/>
                </a:solidFill>
              </a:rPr>
              <a:t>Even JPMorgan — the largest financial institution on earth — is calling out this new reality.</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US" sz="1050">
                <a:solidFill>
                  <a:srgbClr val="0E0E0E"/>
                </a:solidFill>
              </a:rPr>
              <a:t>Their CISO’s open letter reads like a warning about what happens when trust boundaries collapse.</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US" sz="1050">
                <a:solidFill>
                  <a:srgbClr val="0E0E0E"/>
                </a:solidFill>
              </a:rPr>
              <a:t>“we must reject these integration models without better solutions”  - intentional security design, offensive minded approach to bolster an already strong defense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b="1" sz="1050">
              <a:solidFill>
                <a:srgbClr val="0E0E0E"/>
              </a:solidFill>
            </a:endParaRPr>
          </a:p>
          <a:p>
            <a:pPr indent="0" lvl="0" marL="0" rtl="0" algn="l">
              <a:spcBef>
                <a:spcPts val="0"/>
              </a:spcBef>
              <a:spcAft>
                <a:spcPts val="0"/>
              </a:spcAft>
              <a:buNone/>
            </a:pPr>
            <a:r>
              <a:t/>
            </a:r>
            <a:endParaRPr/>
          </a:p>
        </p:txBody>
      </p:sp>
      <p:sp>
        <p:nvSpPr>
          <p:cNvPr id="118" name="Google Shape;118;g34bddd4cca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bddd4cca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4bddd4cca2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bddd4cc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4bddd4cca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bddd4cca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a:t>
            </a:r>
            <a:r>
              <a:rPr lang="en-US"/>
              <a:t>evolution</a:t>
            </a:r>
            <a:r>
              <a:rPr lang="en-US"/>
              <a:t> of third party risk is made up of many causes of different weights, we touched on the natural evolution of software and services etc that increased the risk, however, one factor of </a:t>
            </a:r>
            <a:r>
              <a:rPr lang="en-US"/>
              <a:t>outweighed</a:t>
            </a:r>
            <a:r>
              <a:rPr lang="en-US"/>
              <a:t> proportions must be acknowledged: COVID 19 and it’s impact on 3rd party risk</a:t>
            </a:r>
            <a:br>
              <a:rPr lang="en-US"/>
            </a:br>
            <a:br>
              <a:rPr lang="en-US"/>
            </a:br>
            <a:r>
              <a:rPr lang="en-US"/>
              <a:t>citations: </a:t>
            </a:r>
            <a:br>
              <a:rPr lang="en-US"/>
            </a:br>
            <a:r>
              <a:rPr lang="en-US"/>
              <a:t>ReliaQuest observed a 768% growth in RDP attacks throughout 2020, totaling 29 billion attempted attacks, as organizations expanded remote access capabilities</a:t>
            </a:r>
            <a:endParaRPr/>
          </a:p>
          <a:p>
            <a:pPr indent="0" lvl="0" marL="0" rtl="0" algn="l">
              <a:spcBef>
                <a:spcPts val="0"/>
              </a:spcBef>
              <a:spcAft>
                <a:spcPts val="0"/>
              </a:spcAft>
              <a:buClr>
                <a:schemeClr val="dk1"/>
              </a:buClr>
              <a:buSzPts val="1100"/>
              <a:buFont typeface="Arial"/>
              <a:buNone/>
            </a:pPr>
            <a:r>
              <a:rPr lang="en-US"/>
              <a:t>VMware noted a 148% increase in ransomware attacks in March 2020 compared to the previous month, attributing the surge to opportunistic exploitation during the pandemic .</a:t>
            </a:r>
            <a:endParaRPr/>
          </a:p>
          <a:p>
            <a:pPr indent="0" lvl="0" marL="0" rtl="0" algn="l">
              <a:spcBef>
                <a:spcPts val="0"/>
              </a:spcBef>
              <a:spcAft>
                <a:spcPts val="0"/>
              </a:spcAft>
              <a:buClr>
                <a:schemeClr val="dk1"/>
              </a:buClr>
              <a:buSzPts val="1100"/>
              <a:buFont typeface="Arial"/>
              <a:buNone/>
            </a:pPr>
            <a:r>
              <a:rPr lang="en-US"/>
              <a:t>Guidepoint Security reported that ransomware incidents reached a record high in the first quarter of 2025, with over 2,000 victims and 70 active threat groups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36" name="Google Shape;136;g34bddd4cca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bddd4cca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US" sz="1050">
                <a:solidFill>
                  <a:srgbClr val="0E0E0E"/>
                </a:solidFill>
              </a:rPr>
              <a:t>What we saw during COVID wasn’t just a spike in attacks — it was a shift in the playing field. Access became fluid. And the threat followed it.</a:t>
            </a:r>
            <a:endParaRPr/>
          </a:p>
        </p:txBody>
      </p:sp>
      <p:sp>
        <p:nvSpPr>
          <p:cNvPr id="142" name="Google Shape;142;g34bddd4cca2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bddd4cca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4bddd4cca2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bddd4cca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takeaway from JP Morgan’s letter: </a:t>
            </a:r>
            <a:br>
              <a:rPr lang="en-US"/>
            </a:br>
            <a:r>
              <a:rPr i="1" lang="en-US" sz="1050">
                <a:solidFill>
                  <a:srgbClr val="0E0E0E"/>
                </a:solidFill>
              </a:rPr>
              <a:t>“SaaS… is creating a substantial vulnerability that is weakening the global economic system.”</a:t>
            </a:r>
            <a:endParaRPr i="1" sz="1050">
              <a:solidFill>
                <a:srgbClr val="0E0E0E"/>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Cloud-native vendors have become </a:t>
            </a:r>
            <a:r>
              <a:rPr i="1" lang="en-US">
                <a:solidFill>
                  <a:schemeClr val="dk1"/>
                </a:solidFill>
              </a:rPr>
              <a:t>single points of failure.</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Historically segmented environments are now homogenized and connected — leading to </a:t>
            </a:r>
            <a:r>
              <a:rPr b="1" lang="en-US">
                <a:solidFill>
                  <a:schemeClr val="dk1"/>
                </a:solidFill>
              </a:rPr>
              <a:t>mass-scale breach propagation.</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US">
                <a:solidFill>
                  <a:schemeClr val="dk1"/>
                </a:solidFill>
              </a:rPr>
              <a:t> </a:t>
            </a:r>
            <a:r>
              <a:rPr b="1" lang="en-US">
                <a:solidFill>
                  <a:schemeClr val="dk1"/>
                </a:solidFill>
              </a:rPr>
              <a:t>many orgs now run the same SaaS platforms</a:t>
            </a:r>
            <a:r>
              <a:rPr lang="en-US">
                <a:solidFill>
                  <a:schemeClr val="dk1"/>
                </a:solidFill>
              </a:rPr>
              <a:t>, use shared APIs, and integrate through OAuth — flattening security distinctions</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b="1" lang="en-US">
                <a:solidFill>
                  <a:schemeClr val="dk1"/>
                </a:solidFill>
              </a:rPr>
              <a:t>Example</a:t>
            </a:r>
            <a:r>
              <a:rPr lang="en-US">
                <a:solidFill>
                  <a:schemeClr val="dk1"/>
                </a:solidFill>
              </a:rPr>
              <a:t>: Everyone uses Microsoft 365. If a vendor gets compromised and had access to your tenant via OAuth token or shared login, you’re exposed without realizing it.</a:t>
            </a:r>
            <a:br>
              <a:rPr lang="en-US">
                <a:solidFill>
                  <a:schemeClr val="dk1"/>
                </a:solidFill>
              </a:rPr>
            </a:br>
            <a:br>
              <a:rPr b="1" lang="en-US">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154" name="Google Shape;154;g34bddd4cca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what is</a:t>
            </a:r>
            <a:r>
              <a:rPr lang="en-US"/>
              <a:t> the rising cost of inaction — ransomware payouts, brand damage, delayed detection</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7acf3ef3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what is the rising cost of inaction — ransomware payouts, brand damage, delayed detection</a:t>
            </a:r>
            <a:endParaRPr/>
          </a:p>
        </p:txBody>
      </p:sp>
      <p:sp>
        <p:nvSpPr>
          <p:cNvPr id="189" name="Google Shape;189;g357acf3ef38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7acf3ef3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57acf3ef38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7acf3ef3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57acf3ef38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7acf3ef3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57acf3ef38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7acf3ef3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57acf3ef38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explain what we do when we focus on the </a:t>
            </a:r>
            <a:r>
              <a:rPr lang="en-US"/>
              <a:t>initial</a:t>
            </a:r>
            <a:r>
              <a:rPr lang="en-US"/>
              <a:t> access broker ecosystem </a:t>
            </a:r>
            <a:endParaRPr/>
          </a:p>
        </p:txBody>
      </p:sp>
      <p:sp>
        <p:nvSpPr>
          <p:cNvPr id="219" name="Google Shape;2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b13b09b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what are our gaps? </a:t>
            </a:r>
            <a:r>
              <a:rPr b="1" lang="en-US">
                <a:solidFill>
                  <a:schemeClr val="dk1"/>
                </a:solidFill>
              </a:rPr>
              <a:t>Gaps in 3rd-party visibility</a:t>
            </a:r>
            <a:r>
              <a:rPr lang="en-U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No insight into vendor credential theft</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No understanding of access resale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No early warning on compromise </a:t>
            </a:r>
            <a:r>
              <a:rPr i="1" lang="en-US">
                <a:solidFill>
                  <a:schemeClr val="dk1"/>
                </a:solidFill>
              </a:rPr>
              <a:t>before malware is deployed</a:t>
            </a:r>
            <a:br>
              <a:rPr i="1" lang="en-US">
                <a:solidFill>
                  <a:schemeClr val="dk1"/>
                </a:solidFill>
              </a:rPr>
            </a:b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Additions to underground op requirements</a:t>
            </a:r>
            <a:r>
              <a:rPr lang="en-U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Burner infrastructure &amp; opsec (clean VMs, proxies, misattrib cloud usage)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Linguistic mimicry (slang, dialect nuance, underground etiquette)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Temporal commitment (presence, consistency in persona behavior)</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Deep community fluency (knowing who’s real vs. bluffing)</a:t>
            </a:r>
            <a:br>
              <a:rPr lang="en-US">
                <a:solidFill>
                  <a:schemeClr val="dk1"/>
                </a:solidFill>
              </a:rPr>
            </a:br>
            <a:endParaRPr>
              <a:solidFill>
                <a:schemeClr val="dk1"/>
              </a:solidFill>
            </a:endParaRPr>
          </a:p>
          <a:p>
            <a:pPr indent="0" lvl="0" marL="0" rtl="0" algn="l">
              <a:spcBef>
                <a:spcPts val="1200"/>
              </a:spcBef>
              <a:spcAft>
                <a:spcPts val="0"/>
              </a:spcAft>
              <a:buNone/>
            </a:pPr>
            <a:r>
              <a:t/>
            </a:r>
            <a:endParaRPr/>
          </a:p>
        </p:txBody>
      </p:sp>
      <p:sp>
        <p:nvSpPr>
          <p:cNvPr id="225" name="Google Shape;225;g34b13b09b7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7acf3ef3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US" sz="1050">
                <a:solidFill>
                  <a:srgbClr val="0E0E0E"/>
                </a:solidFill>
              </a:rPr>
              <a:t>These are not ad hoc excursions. They are deliberate, tradecraft-driven operations — built to surface truth without triggering threat actor defenses.</a:t>
            </a:r>
            <a:endParaRPr sz="1050">
              <a:solidFill>
                <a:srgbClr val="0E0E0E"/>
              </a:solidFill>
            </a:endParaRPr>
          </a:p>
          <a:p>
            <a:pPr indent="0" lvl="0" marL="0" rtl="0" algn="l">
              <a:spcBef>
                <a:spcPts val="0"/>
              </a:spcBef>
              <a:spcAft>
                <a:spcPts val="0"/>
              </a:spcAft>
              <a:buNone/>
            </a:pPr>
            <a:r>
              <a:t/>
            </a:r>
            <a:endParaRPr/>
          </a:p>
        </p:txBody>
      </p:sp>
      <p:sp>
        <p:nvSpPr>
          <p:cNvPr id="236" name="Google Shape;236;g357acf3ef38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7acf3ef3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57acf3ef38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p:nvPr>
            <p:ph idx="2" type="pic"/>
          </p:nvPr>
        </p:nvSpPr>
        <p:spPr>
          <a:xfrm>
            <a:off x="1792288" y="612775"/>
            <a:ext cx="5486400" cy="4114800"/>
          </a:xfrm>
          <a:prstGeom prst="rect">
            <a:avLst/>
          </a:prstGeom>
          <a:noFill/>
          <a:ln>
            <a:noFill/>
          </a:ln>
        </p:spPr>
      </p:sp>
      <p:sp>
        <p:nvSpPr>
          <p:cNvPr id="64" name="Google Shape;64;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reliaquest.com/blog/mapping-mitre-to-initial-access-brokers-rdp-exploit/?utm_source=chatgpt.com" TargetMode="External"/><Relationship Id="rId4" Type="http://schemas.openxmlformats.org/officeDocument/2006/relationships/hyperlink" Target="https://blogs.vmware.com/security/2020/04/amid-covid-19-global-orgs-see-a-148-spike-in-ransomware-attacks-finance-industry-heavily-targeted.html?utm_source=chatgpt.com" TargetMode="External"/><Relationship Id="rId5" Type="http://schemas.openxmlformats.org/officeDocument/2006/relationships/hyperlink" Target="https://siliconangle.com/2025/04/10/first-quarter-2025-sets-record-ransomware-attacks-threat-groups/?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techcybersecuritynews.com/the-moveit-cyberattack-unveiling-the-biggest-data-breach-of-202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wired.com/story/ransomware-payments-2023-breaks-record/?utm_source=chatgpt.com" TargetMode="External"/><Relationship Id="rId4" Type="http://schemas.openxmlformats.org/officeDocument/2006/relationships/hyperlink" Target="https://www.cybereason.com/ransomware-the-true-cost-to-business-2024?utm_source=chatgpt.com" TargetMode="External"/><Relationship Id="rId9"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wired.com/story/ransomware-payments-2023-breaks-record/?utm_source=chatgpt.com" TargetMode="External"/><Relationship Id="rId4" Type="http://schemas.openxmlformats.org/officeDocument/2006/relationships/hyperlink" Target="https://www.cybereason.com/ransomware-the-true-cost-to-business-2024?utm_source=chatgpt.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Practicing Intelligence</a:t>
            </a:r>
            <a:endParaRPr/>
          </a:p>
        </p:txBody>
      </p:sp>
      <p:sp>
        <p:nvSpPr>
          <p:cNvPr id="85" name="Google Shape;85;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Third-Party Risk in a Noisy Supply Chain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InfraGard Conference Presentation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Darkweb IQ</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Why Third-Party Risk Demands a New Intelligence Standard</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Third-party compromise is not new — but the scale and opacity of access paths are growing.</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Mass exploitation, infostealer logs, and poor hygiene in MSPs, create invisible exposure.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Most alerts focus on symptoms: malware alert, abnormal log-in, phishing detection, anomalous behavior.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57acf3ef38_0_1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Why Third-Party Risk Demands a New Intelligence Standard</a:t>
            </a:r>
            <a:endParaRPr/>
          </a:p>
        </p:txBody>
      </p:sp>
      <p:sp>
        <p:nvSpPr>
          <p:cNvPr id="97" name="Google Shape;97;g357acf3ef38_0_12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342900" rtl="0" algn="l">
              <a:spcBef>
                <a:spcPts val="640"/>
              </a:spcBef>
              <a:spcAft>
                <a:spcPts val="0"/>
              </a:spcAft>
              <a:buSzPts val="3200"/>
              <a:buChar char="•"/>
            </a:pPr>
            <a:r>
              <a:rPr lang="en-US"/>
              <a:t>Root posture risk = why the access was possible in the first place:</a:t>
            </a:r>
            <a:endParaRPr/>
          </a:p>
          <a:p>
            <a:pPr indent="-431800" lvl="0" marL="342900" rtl="0" algn="l">
              <a:spcBef>
                <a:spcPts val="640"/>
              </a:spcBef>
              <a:spcAft>
                <a:spcPts val="0"/>
              </a:spcAft>
              <a:buSzPts val="3200"/>
              <a:buChar char="•"/>
            </a:pPr>
            <a:r>
              <a:rPr lang="en-US"/>
              <a:t>Overprivileged vendor account</a:t>
            </a:r>
            <a:endParaRPr/>
          </a:p>
          <a:p>
            <a:pPr indent="0" lvl="0" marL="342900" rtl="0" algn="l">
              <a:spcBef>
                <a:spcPts val="640"/>
              </a:spcBef>
              <a:spcAft>
                <a:spcPts val="0"/>
              </a:spcAft>
              <a:buNone/>
            </a:pPr>
            <a:r>
              <a:rPr lang="en-US"/>
              <a:t>	•	Unmonitored VPN user</a:t>
            </a:r>
            <a:endParaRPr/>
          </a:p>
          <a:p>
            <a:pPr indent="0" lvl="0" marL="342900" rtl="0" algn="l">
              <a:spcBef>
                <a:spcPts val="640"/>
              </a:spcBef>
              <a:spcAft>
                <a:spcPts val="0"/>
              </a:spcAft>
              <a:buNone/>
            </a:pPr>
            <a:r>
              <a:rPr lang="en-US"/>
              <a:t>	•	Password stolen weeks ago and never rotated</a:t>
            </a:r>
            <a:endParaRPr/>
          </a:p>
          <a:p>
            <a:pPr indent="0" lvl="0" marL="0" rtl="0" algn="l">
              <a:spcBef>
                <a:spcPts val="64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59d2cedbae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What’s Missing from the Cyber Stack</a:t>
            </a:r>
            <a:endParaRPr/>
          </a:p>
        </p:txBody>
      </p:sp>
      <p:sp>
        <p:nvSpPr>
          <p:cNvPr id="103" name="Google Shape;103;g359d2cedbae_0_0"/>
          <p:cNvSpPr txBox="1"/>
          <p:nvPr>
            <p:ph idx="1" type="body"/>
          </p:nvPr>
        </p:nvSpPr>
        <p:spPr>
          <a:xfrm>
            <a:off x="457200" y="1600200"/>
            <a:ext cx="8229600" cy="4734900"/>
          </a:xfrm>
          <a:prstGeom prst="rect">
            <a:avLst/>
          </a:prstGeom>
          <a:noFill/>
          <a:ln>
            <a:noFill/>
          </a:ln>
        </p:spPr>
        <p:txBody>
          <a:bodyPr anchorCtr="0" anchor="t" bIns="45700" lIns="91425" spcFirstLastPara="1" rIns="91425" wrap="square" tIns="45700">
            <a:noAutofit/>
          </a:bodyPr>
          <a:lstStyle/>
          <a:p>
            <a:pPr indent="0" lvl="0" marL="342900" rtl="0" algn="l">
              <a:lnSpc>
                <a:spcPct val="80000"/>
              </a:lnSpc>
              <a:spcBef>
                <a:spcPts val="640"/>
              </a:spcBef>
              <a:spcAft>
                <a:spcPts val="0"/>
              </a:spcAft>
              <a:buSzPts val="605"/>
              <a:buNone/>
            </a:pPr>
            <a:r>
              <a:rPr lang="en-US" sz="2160"/>
              <a:t>Everyone in this room has a defensive stack.</a:t>
            </a:r>
            <a:endParaRPr sz="2160"/>
          </a:p>
          <a:p>
            <a:pPr indent="0" lvl="0" marL="342900" rtl="0" algn="l">
              <a:lnSpc>
                <a:spcPct val="80000"/>
              </a:lnSpc>
              <a:spcBef>
                <a:spcPts val="640"/>
              </a:spcBef>
              <a:spcAft>
                <a:spcPts val="0"/>
              </a:spcAft>
              <a:buSzPts val="605"/>
              <a:buNone/>
            </a:pPr>
            <a:r>
              <a:rPr lang="en-US" sz="2160"/>
              <a:t>	•	MFA, EDR, XDR, GRC, segmentation, phishing simulations.</a:t>
            </a:r>
            <a:endParaRPr sz="2160"/>
          </a:p>
          <a:p>
            <a:pPr indent="0" lvl="0" marL="342900" rtl="0" algn="l">
              <a:lnSpc>
                <a:spcPct val="80000"/>
              </a:lnSpc>
              <a:spcBef>
                <a:spcPts val="640"/>
              </a:spcBef>
              <a:spcAft>
                <a:spcPts val="0"/>
              </a:spcAft>
              <a:buSzPts val="605"/>
              <a:buNone/>
            </a:pPr>
            <a:r>
              <a:rPr lang="en-US" sz="2160"/>
              <a:t>	•	These are critical. Keep them. Build on them.</a:t>
            </a:r>
            <a:endParaRPr sz="2160"/>
          </a:p>
          <a:p>
            <a:pPr indent="0" lvl="0" marL="342900" rtl="0" algn="l">
              <a:lnSpc>
                <a:spcPct val="80000"/>
              </a:lnSpc>
              <a:spcBef>
                <a:spcPts val="640"/>
              </a:spcBef>
              <a:spcAft>
                <a:spcPts val="0"/>
              </a:spcAft>
              <a:buSzPts val="605"/>
              <a:buNone/>
            </a:pPr>
            <a:r>
              <a:t/>
            </a:r>
            <a:endParaRPr sz="2160"/>
          </a:p>
          <a:p>
            <a:pPr indent="0" lvl="0" marL="342900" rtl="0" algn="l">
              <a:lnSpc>
                <a:spcPct val="80000"/>
              </a:lnSpc>
              <a:spcBef>
                <a:spcPts val="640"/>
              </a:spcBef>
              <a:spcAft>
                <a:spcPts val="0"/>
              </a:spcAft>
              <a:buSzPts val="605"/>
              <a:buNone/>
            </a:pPr>
            <a:r>
              <a:rPr lang="en-US" sz="2160"/>
              <a:t>But less are thinking:</a:t>
            </a:r>
            <a:endParaRPr sz="2160"/>
          </a:p>
          <a:p>
            <a:pPr indent="0" lvl="0" marL="342900" rtl="0" algn="l">
              <a:lnSpc>
                <a:spcPct val="80000"/>
              </a:lnSpc>
              <a:spcBef>
                <a:spcPts val="640"/>
              </a:spcBef>
              <a:spcAft>
                <a:spcPts val="0"/>
              </a:spcAft>
              <a:buSzPts val="605"/>
              <a:buNone/>
            </a:pPr>
            <a:r>
              <a:rPr lang="en-US" sz="2160"/>
              <a:t>	•	Who’s targeting your credentials right now?</a:t>
            </a:r>
            <a:endParaRPr sz="2160"/>
          </a:p>
          <a:p>
            <a:pPr indent="0" lvl="0" marL="342900" rtl="0" algn="l">
              <a:lnSpc>
                <a:spcPct val="80000"/>
              </a:lnSpc>
              <a:spcBef>
                <a:spcPts val="640"/>
              </a:spcBef>
              <a:spcAft>
                <a:spcPts val="0"/>
              </a:spcAft>
              <a:buSzPts val="605"/>
              <a:buNone/>
            </a:pPr>
            <a:r>
              <a:rPr lang="en-US" sz="2160"/>
              <a:t>	•	How is your remote access footprint appearing on stealer logs?</a:t>
            </a:r>
            <a:endParaRPr sz="2160"/>
          </a:p>
          <a:p>
            <a:pPr indent="0" lvl="0" marL="342900" rtl="0" algn="l">
              <a:lnSpc>
                <a:spcPct val="80000"/>
              </a:lnSpc>
              <a:spcBef>
                <a:spcPts val="640"/>
              </a:spcBef>
              <a:spcAft>
                <a:spcPts val="0"/>
              </a:spcAft>
              <a:buSzPts val="605"/>
              <a:buNone/>
            </a:pPr>
            <a:r>
              <a:rPr lang="en-US" sz="2160"/>
              <a:t>	•	Is your MSP being used as a brokered foothold?</a:t>
            </a:r>
            <a:endParaRPr sz="2160"/>
          </a:p>
          <a:p>
            <a:pPr indent="0" lvl="0" marL="342900" rtl="0" algn="l">
              <a:lnSpc>
                <a:spcPct val="80000"/>
              </a:lnSpc>
              <a:spcBef>
                <a:spcPts val="640"/>
              </a:spcBef>
              <a:spcAft>
                <a:spcPts val="0"/>
              </a:spcAft>
              <a:buSzPts val="605"/>
              <a:buNone/>
            </a:pPr>
            <a:r>
              <a:rPr lang="en-US" sz="2160"/>
              <a:t>	•	What does your organization look like to the access economy?</a:t>
            </a:r>
            <a:endParaRPr sz="2160"/>
          </a:p>
          <a:p>
            <a:pPr indent="0" lvl="0" marL="342900" rtl="0" algn="l">
              <a:lnSpc>
                <a:spcPct val="80000"/>
              </a:lnSpc>
              <a:spcBef>
                <a:spcPts val="640"/>
              </a:spcBef>
              <a:spcAft>
                <a:spcPts val="0"/>
              </a:spcAft>
              <a:buClr>
                <a:schemeClr val="dk1"/>
              </a:buClr>
              <a:buSzPts val="605"/>
              <a:buFont typeface="Arial"/>
              <a:buNone/>
            </a:pPr>
            <a:r>
              <a:t/>
            </a:r>
            <a:endParaRPr sz="2160"/>
          </a:p>
          <a:p>
            <a:pPr indent="0" lvl="0" marL="342900" rtl="0" algn="l">
              <a:lnSpc>
                <a:spcPct val="80000"/>
              </a:lnSpc>
              <a:spcBef>
                <a:spcPts val="640"/>
              </a:spcBef>
              <a:spcAft>
                <a:spcPts val="0"/>
              </a:spcAft>
              <a:buClr>
                <a:schemeClr val="dk1"/>
              </a:buClr>
              <a:buSzPts val="605"/>
              <a:buFont typeface="Arial"/>
              <a:buNone/>
            </a:pPr>
            <a:r>
              <a:t/>
            </a:r>
            <a:endParaRPr sz="2160"/>
          </a:p>
          <a:p>
            <a:pPr indent="0" lvl="0" marL="342900" rtl="0" algn="l">
              <a:lnSpc>
                <a:spcPct val="80000"/>
              </a:lnSpc>
              <a:spcBef>
                <a:spcPts val="640"/>
              </a:spcBef>
              <a:spcAft>
                <a:spcPts val="0"/>
              </a:spcAft>
              <a:buSzPts val="605"/>
              <a:buNone/>
            </a:pPr>
            <a:r>
              <a:t/>
            </a:r>
            <a:endParaRPr sz="216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57acf3ef38_0_1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What’s Missing from the Cyber Stack: </a:t>
            </a:r>
            <a:r>
              <a:rPr lang="en-US"/>
              <a:t>Offensive</a:t>
            </a:r>
            <a:r>
              <a:rPr lang="en-US"/>
              <a:t> Minded Intelligence</a:t>
            </a:r>
            <a:endParaRPr/>
          </a:p>
        </p:txBody>
      </p:sp>
      <p:sp>
        <p:nvSpPr>
          <p:cNvPr id="109" name="Google Shape;109;g357acf3ef38_0_132"/>
          <p:cNvSpPr txBox="1"/>
          <p:nvPr>
            <p:ph idx="1" type="body"/>
          </p:nvPr>
        </p:nvSpPr>
        <p:spPr>
          <a:xfrm>
            <a:off x="457200" y="1600200"/>
            <a:ext cx="8229600" cy="4734900"/>
          </a:xfrm>
          <a:prstGeom prst="rect">
            <a:avLst/>
          </a:prstGeom>
          <a:noFill/>
          <a:ln>
            <a:noFill/>
          </a:ln>
        </p:spPr>
        <p:txBody>
          <a:bodyPr anchorCtr="0" anchor="t" bIns="45700" lIns="91425" spcFirstLastPara="1" rIns="91425" wrap="square" tIns="45700">
            <a:noAutofit/>
          </a:bodyPr>
          <a:lstStyle/>
          <a:p>
            <a:pPr indent="-365760" lvl="0" marL="457200" rtl="0" algn="l">
              <a:lnSpc>
                <a:spcPct val="80000"/>
              </a:lnSpc>
              <a:spcBef>
                <a:spcPts val="640"/>
              </a:spcBef>
              <a:spcAft>
                <a:spcPts val="0"/>
              </a:spcAft>
              <a:buSzPts val="2160"/>
              <a:buChar char="•"/>
            </a:pPr>
            <a:r>
              <a:rPr lang="en-US" sz="2160"/>
              <a:t>offensive minded intelligence.</a:t>
            </a:r>
            <a:endParaRPr sz="2160"/>
          </a:p>
          <a:p>
            <a:pPr indent="-365760" lvl="1" marL="914400" rtl="0" algn="l">
              <a:lnSpc>
                <a:spcPct val="80000"/>
              </a:lnSpc>
              <a:spcBef>
                <a:spcPts val="0"/>
              </a:spcBef>
              <a:spcAft>
                <a:spcPts val="0"/>
              </a:spcAft>
              <a:buSzPts val="2160"/>
              <a:buChar char="–"/>
            </a:pPr>
            <a:r>
              <a:rPr lang="en-US" sz="2160"/>
              <a:t>not threat feeds or scraping.</a:t>
            </a:r>
            <a:endParaRPr sz="2160"/>
          </a:p>
          <a:p>
            <a:pPr indent="0" lvl="0" marL="342900" rtl="0" algn="l">
              <a:lnSpc>
                <a:spcPct val="80000"/>
              </a:lnSpc>
              <a:spcBef>
                <a:spcPts val="640"/>
              </a:spcBef>
              <a:spcAft>
                <a:spcPts val="0"/>
              </a:spcAft>
              <a:buClr>
                <a:schemeClr val="dk1"/>
              </a:buClr>
              <a:buSzPts val="605"/>
              <a:buFont typeface="Arial"/>
              <a:buNone/>
            </a:pPr>
            <a:r>
              <a:rPr lang="en-US" sz="2160"/>
              <a:t>We’re talking about offensive collection — human-driven, source-facing, and upstream.</a:t>
            </a:r>
            <a:endParaRPr sz="2160"/>
          </a:p>
          <a:p>
            <a:pPr indent="0" lvl="0" marL="342900" rtl="0" algn="l">
              <a:lnSpc>
                <a:spcPct val="80000"/>
              </a:lnSpc>
              <a:spcBef>
                <a:spcPts val="640"/>
              </a:spcBef>
              <a:spcAft>
                <a:spcPts val="0"/>
              </a:spcAft>
              <a:buSzPts val="1100"/>
              <a:buNone/>
            </a:pPr>
            <a:r>
              <a:t/>
            </a:r>
            <a:endParaRPr sz="2160"/>
          </a:p>
          <a:p>
            <a:pPr indent="-365760" lvl="0" marL="457200" rtl="0" algn="l">
              <a:lnSpc>
                <a:spcPct val="80000"/>
              </a:lnSpc>
              <a:spcBef>
                <a:spcPts val="640"/>
              </a:spcBef>
              <a:spcAft>
                <a:spcPts val="0"/>
              </a:spcAft>
              <a:buSzPts val="2160"/>
              <a:buChar char="•"/>
            </a:pPr>
            <a:r>
              <a:rPr lang="en-US" sz="2160"/>
              <a:t>Most threat feeds (e.g., IOC, IP/domain watchlists) offer signals after compromise or attacker staging.</a:t>
            </a:r>
            <a:endParaRPr sz="2160"/>
          </a:p>
          <a:p>
            <a:pPr indent="-365760" lvl="1" marL="914400" rtl="0" algn="l">
              <a:lnSpc>
                <a:spcPct val="80000"/>
              </a:lnSpc>
              <a:spcBef>
                <a:spcPts val="0"/>
              </a:spcBef>
              <a:spcAft>
                <a:spcPts val="0"/>
              </a:spcAft>
              <a:buSzPts val="2160"/>
              <a:buChar char="–"/>
            </a:pPr>
            <a:r>
              <a:rPr lang="en-US" sz="2160"/>
              <a:t>OC feeds like MISP, Anomali, and Recorded Future are useful, but reactive.</a:t>
            </a:r>
            <a:endParaRPr sz="2160"/>
          </a:p>
          <a:p>
            <a:pPr indent="-365760" lvl="1" marL="914400" rtl="0" algn="l">
              <a:lnSpc>
                <a:spcPct val="80000"/>
              </a:lnSpc>
              <a:spcBef>
                <a:spcPts val="0"/>
              </a:spcBef>
              <a:spcAft>
                <a:spcPts val="0"/>
              </a:spcAft>
              <a:buSzPts val="2160"/>
              <a:buChar char="–"/>
            </a:pPr>
            <a:r>
              <a:rPr lang="en-US" sz="2160"/>
              <a:t>Scraping dark web forums = passive and noisy.</a:t>
            </a:r>
            <a:endParaRPr sz="2160"/>
          </a:p>
          <a:p>
            <a:pPr indent="0" lvl="0" marL="342900" rtl="0" algn="l">
              <a:lnSpc>
                <a:spcPct val="80000"/>
              </a:lnSpc>
              <a:spcBef>
                <a:spcPts val="640"/>
              </a:spcBef>
              <a:spcAft>
                <a:spcPts val="0"/>
              </a:spcAft>
              <a:buClr>
                <a:schemeClr val="dk1"/>
              </a:buClr>
              <a:buSzPts val="1100"/>
              <a:buFont typeface="Arial"/>
              <a:buNone/>
            </a:pPr>
            <a:r>
              <a:rPr lang="en-US" sz="2160"/>
              <a:t>value = real access and human-driven intelligence before threat indicators ever emerge</a:t>
            </a:r>
            <a:endParaRPr sz="2160"/>
          </a:p>
          <a:p>
            <a:pPr indent="0" lvl="0" marL="342900" rtl="0" algn="l">
              <a:lnSpc>
                <a:spcPct val="80000"/>
              </a:lnSpc>
              <a:spcBef>
                <a:spcPts val="640"/>
              </a:spcBef>
              <a:spcAft>
                <a:spcPts val="0"/>
              </a:spcAft>
              <a:buSzPts val="605"/>
              <a:buNone/>
            </a:pPr>
            <a:r>
              <a:t/>
            </a:r>
            <a:endParaRPr sz="216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57acf3ef38_0_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Companion Concept: “What Does an Offensive Mindset Look Like?”</a:t>
            </a:r>
            <a:endParaRPr/>
          </a:p>
        </p:txBody>
      </p:sp>
      <p:graphicFrame>
        <p:nvGraphicFramePr>
          <p:cNvPr id="115" name="Google Shape;115;g357acf3ef38_0_1"/>
          <p:cNvGraphicFramePr/>
          <p:nvPr/>
        </p:nvGraphicFramePr>
        <p:xfrm>
          <a:off x="1270175" y="1933250"/>
          <a:ext cx="3000000" cy="3000000"/>
        </p:xfrm>
        <a:graphic>
          <a:graphicData uri="http://schemas.openxmlformats.org/drawingml/2006/table">
            <a:tbl>
              <a:tblPr>
                <a:noFill/>
                <a:tableStyleId>{FE1FD6F3-BF1D-4B22-920C-FFA17561EC4F}</a:tableStyleId>
              </a:tblPr>
              <a:tblGrid>
                <a:gridCol w="2141125"/>
                <a:gridCol w="3751000"/>
              </a:tblGrid>
              <a:tr h="867725">
                <a:tc>
                  <a:txBody>
                    <a:bodyPr/>
                    <a:lstStyle/>
                    <a:p>
                      <a:pPr indent="0" lvl="0" marL="0" rtl="0" algn="ctr">
                        <a:lnSpc>
                          <a:spcPct val="115000"/>
                        </a:lnSpc>
                        <a:spcBef>
                          <a:spcPts val="1200"/>
                        </a:spcBef>
                        <a:spcAft>
                          <a:spcPts val="1200"/>
                        </a:spcAft>
                        <a:buNone/>
                      </a:pPr>
                      <a:r>
                        <a:rPr b="1" lang="en-US" sz="1800"/>
                        <a:t>Defensive Posture</a:t>
                      </a:r>
                      <a:endParaRPr b="1"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1800"/>
                        <a:t>Offensive Intelligence Posture</a:t>
                      </a:r>
                      <a:endParaRPr b="1"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664350">
                <a:tc>
                  <a:txBody>
                    <a:bodyPr/>
                    <a:lstStyle/>
                    <a:p>
                      <a:pPr indent="0" lvl="0" marL="0" rtl="0" algn="l">
                        <a:lnSpc>
                          <a:spcPct val="115000"/>
                        </a:lnSpc>
                        <a:spcBef>
                          <a:spcPts val="1200"/>
                        </a:spcBef>
                        <a:spcAft>
                          <a:spcPts val="1200"/>
                        </a:spcAft>
                        <a:buNone/>
                      </a:pPr>
                      <a:r>
                        <a:rPr lang="en-US" sz="1800"/>
                        <a:t>Detect anomalies</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800"/>
                        <a:t>Identify compromised access before use</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664350">
                <a:tc>
                  <a:txBody>
                    <a:bodyPr/>
                    <a:lstStyle/>
                    <a:p>
                      <a:pPr indent="0" lvl="0" marL="0" rtl="0" algn="l">
                        <a:lnSpc>
                          <a:spcPct val="115000"/>
                        </a:lnSpc>
                        <a:spcBef>
                          <a:spcPts val="1200"/>
                        </a:spcBef>
                        <a:spcAft>
                          <a:spcPts val="1200"/>
                        </a:spcAft>
                        <a:buNone/>
                      </a:pPr>
                      <a:r>
                        <a:rPr lang="en-US" sz="1800"/>
                        <a:t>Block threats</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800"/>
                        <a:t>Trace how they’re brokered</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664350">
                <a:tc>
                  <a:txBody>
                    <a:bodyPr/>
                    <a:lstStyle/>
                    <a:p>
                      <a:pPr indent="0" lvl="0" marL="0" rtl="0" algn="l">
                        <a:lnSpc>
                          <a:spcPct val="115000"/>
                        </a:lnSpc>
                        <a:spcBef>
                          <a:spcPts val="1200"/>
                        </a:spcBef>
                        <a:spcAft>
                          <a:spcPts val="1200"/>
                        </a:spcAft>
                        <a:buNone/>
                      </a:pPr>
                      <a:r>
                        <a:rPr lang="en-US" sz="1800"/>
                        <a:t>Monitor traffic</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800"/>
                        <a:t>Intercept underground movement</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664350">
                <a:tc>
                  <a:txBody>
                    <a:bodyPr/>
                    <a:lstStyle/>
                    <a:p>
                      <a:pPr indent="0" lvl="0" marL="0" rtl="0" algn="l">
                        <a:lnSpc>
                          <a:spcPct val="115000"/>
                        </a:lnSpc>
                        <a:spcBef>
                          <a:spcPts val="1200"/>
                        </a:spcBef>
                        <a:spcAft>
                          <a:spcPts val="1200"/>
                        </a:spcAft>
                        <a:buNone/>
                      </a:pPr>
                      <a:r>
                        <a:rPr lang="en-US" sz="1800"/>
                        <a:t>React to incidents</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800"/>
                        <a:t>Prevent adversary foothold</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664350">
                <a:tc>
                  <a:txBody>
                    <a:bodyPr/>
                    <a:lstStyle/>
                    <a:p>
                      <a:pPr indent="0" lvl="0" marL="0" rtl="0" algn="l">
                        <a:lnSpc>
                          <a:spcPct val="115000"/>
                        </a:lnSpc>
                        <a:spcBef>
                          <a:spcPts val="1200"/>
                        </a:spcBef>
                        <a:spcAft>
                          <a:spcPts val="1200"/>
                        </a:spcAft>
                        <a:buNone/>
                      </a:pPr>
                      <a:r>
                        <a:rPr lang="en-US" sz="1800"/>
                        <a:t>Validate claims</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800"/>
                        <a:t>Debunk with firsthand proof</a:t>
                      </a:r>
                      <a:endParaRPr sz="18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4bddd4cca2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The Making of the Modern Third-Party Risk Landscape</a:t>
            </a:r>
            <a:endParaRPr/>
          </a:p>
        </p:txBody>
      </p:sp>
      <p:sp>
        <p:nvSpPr>
          <p:cNvPr id="121" name="Google Shape;121;g34bddd4cca2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85000"/>
          </a:bodyPr>
          <a:lstStyle/>
          <a:p>
            <a:pPr indent="-312420" lvl="0" marL="342900" rtl="0" algn="l">
              <a:spcBef>
                <a:spcPts val="640"/>
              </a:spcBef>
              <a:spcAft>
                <a:spcPts val="0"/>
              </a:spcAft>
              <a:buClr>
                <a:schemeClr val="dk1"/>
              </a:buClr>
              <a:buSzPct val="100000"/>
              <a:buChar char="•"/>
            </a:pPr>
            <a:r>
              <a:rPr lang="en-US"/>
              <a:t>What we call “third-party risk” today is the byproduct of a decade of scaling that accelerated under pressure of </a:t>
            </a:r>
            <a:r>
              <a:rPr b="1" lang="en-US"/>
              <a:t>convenience</a:t>
            </a:r>
            <a:r>
              <a:rPr lang="en-US"/>
              <a:t>, </a:t>
            </a:r>
            <a:r>
              <a:rPr b="1" lang="en-US"/>
              <a:t>cost savings</a:t>
            </a:r>
            <a:r>
              <a:rPr lang="en-US"/>
              <a:t>, and </a:t>
            </a:r>
            <a:r>
              <a:rPr b="1" lang="en-US"/>
              <a:t>reliance on third party expertise</a:t>
            </a:r>
            <a:r>
              <a:rPr lang="en-US"/>
              <a:t> — </a:t>
            </a:r>
            <a:r>
              <a:rPr b="1" lang="en-US"/>
              <a:t>NOT</a:t>
            </a:r>
            <a:r>
              <a:rPr lang="en-US"/>
              <a:t> intentional security design</a:t>
            </a:r>
            <a:endParaRPr/>
          </a:p>
          <a:p>
            <a:pPr indent="-401320" lvl="0" marL="342900" rtl="0" algn="l">
              <a:spcBef>
                <a:spcPts val="640"/>
              </a:spcBef>
              <a:spcAft>
                <a:spcPts val="0"/>
              </a:spcAft>
              <a:buSzPct val="100000"/>
              <a:buChar char="•"/>
            </a:pPr>
            <a:r>
              <a:rPr lang="en-US"/>
              <a:t>“SaaS has become the default… embedding concentration risk into global critical infrastructure.” Patrick Opet, CISO, JPMorgan Chase (May 2025)</a:t>
            </a:r>
            <a:endParaRPr/>
          </a:p>
          <a:p>
            <a:pPr indent="-325755" lvl="0" marL="342900" rtl="0" algn="l">
              <a:spcBef>
                <a:spcPts val="640"/>
              </a:spcBef>
              <a:spcAft>
                <a:spcPts val="0"/>
              </a:spcAft>
              <a:buSzPct val="56250"/>
              <a:buChar char="•"/>
            </a:pPr>
            <a:r>
              <a:rPr lang="en-US"/>
              <a:t>the system was architected for efficiency, not resilience.</a:t>
            </a:r>
            <a:endParaRPr/>
          </a:p>
          <a:p>
            <a:pPr indent="0" lvl="0" marL="0" rtl="0" algn="l">
              <a:spcBef>
                <a:spcPts val="64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4bddd4cca2_0_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How We Got Here</a:t>
            </a:r>
            <a:endParaRPr/>
          </a:p>
        </p:txBody>
      </p:sp>
      <p:sp>
        <p:nvSpPr>
          <p:cNvPr id="127" name="Google Shape;127;g34bddd4cca2_0_22"/>
          <p:cNvSpPr txBox="1"/>
          <p:nvPr>
            <p:ph idx="1" type="body"/>
          </p:nvPr>
        </p:nvSpPr>
        <p:spPr>
          <a:xfrm>
            <a:off x="457200" y="1447800"/>
            <a:ext cx="8229600" cy="4526100"/>
          </a:xfrm>
          <a:prstGeom prst="rect">
            <a:avLst/>
          </a:prstGeom>
          <a:noFill/>
          <a:ln>
            <a:noFill/>
          </a:ln>
        </p:spPr>
        <p:txBody>
          <a:bodyPr anchorCtr="0" anchor="t" bIns="45700" lIns="91425" spcFirstLastPara="1" rIns="91425" wrap="square" tIns="45700">
            <a:normAutofit fontScale="85000"/>
          </a:bodyPr>
          <a:lstStyle/>
          <a:p>
            <a:pPr indent="-312420" lvl="0" marL="342900" rtl="0" algn="l">
              <a:spcBef>
                <a:spcPts val="640"/>
              </a:spcBef>
              <a:spcAft>
                <a:spcPts val="0"/>
              </a:spcAft>
              <a:buClr>
                <a:schemeClr val="dk1"/>
              </a:buClr>
              <a:buSzPct val="100000"/>
              <a:buChar char="•"/>
            </a:pPr>
            <a:r>
              <a:rPr b="1" lang="en-US"/>
              <a:t>Reliance Accelerated: </a:t>
            </a:r>
            <a:r>
              <a:rPr lang="en-US"/>
              <a:t>“Organizations increasingly rely on third parties… to perform critical functions, provide essential services, and support strategic objectives.” (KPMG, 2021)</a:t>
            </a:r>
            <a:endParaRPr/>
          </a:p>
          <a:p>
            <a:pPr indent="-312420" lvl="0" marL="342900" rtl="0" algn="l">
              <a:spcBef>
                <a:spcPts val="640"/>
              </a:spcBef>
              <a:spcAft>
                <a:spcPts val="0"/>
              </a:spcAft>
              <a:buClr>
                <a:schemeClr val="dk1"/>
              </a:buClr>
              <a:buSzPct val="100000"/>
              <a:buChar char="•"/>
            </a:pPr>
            <a:r>
              <a:rPr b="1" lang="en-US"/>
              <a:t>Efficiency Over Visibility:</a:t>
            </a:r>
            <a:r>
              <a:rPr lang="en-US"/>
              <a:t> Cost savings and specialization drove adoption — but left behind real-time oversight and layered access governance.</a:t>
            </a:r>
            <a:endParaRPr/>
          </a:p>
          <a:p>
            <a:pPr indent="-312420" lvl="0" marL="342900" rtl="0" algn="l">
              <a:spcBef>
                <a:spcPts val="640"/>
              </a:spcBef>
              <a:spcAft>
                <a:spcPts val="0"/>
              </a:spcAft>
              <a:buClr>
                <a:schemeClr val="dk1"/>
              </a:buClr>
              <a:buSzPct val="100000"/>
              <a:buChar char="•"/>
            </a:pPr>
            <a:r>
              <a:rPr b="1" lang="en-US"/>
              <a:t>Cyber Risk Emerges: </a:t>
            </a:r>
            <a:r>
              <a:rPr lang="en-US"/>
              <a:t>“Cybersecurity and data privacy rank among the top third-party risks… requiring continuous monitoring and real-time visibility.”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4bddd4cca2_0_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How We Got Here</a:t>
            </a:r>
            <a:endParaRPr/>
          </a:p>
        </p:txBody>
      </p:sp>
      <p:sp>
        <p:nvSpPr>
          <p:cNvPr id="133" name="Google Shape;133;g34bddd4cca2_0_29"/>
          <p:cNvSpPr txBox="1"/>
          <p:nvPr>
            <p:ph idx="1" type="body"/>
          </p:nvPr>
        </p:nvSpPr>
        <p:spPr>
          <a:xfrm>
            <a:off x="457200" y="14478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1"/>
              </a:buClr>
              <a:buSzPts val="3200"/>
              <a:buChar char="•"/>
            </a:pPr>
            <a:r>
              <a:rPr b="1" lang="en-US"/>
              <a:t>Monitoring Gaps Remain: </a:t>
            </a:r>
            <a:r>
              <a:rPr lang="en-US"/>
              <a:t>Calls for real-time third-party data reinforce what’s missing in current tooling: the origin layer of compromise — where trust becomes exposure.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4bddd4cca2_0_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Covid 19: The Great Expansion of Access</a:t>
            </a:r>
            <a:endParaRPr/>
          </a:p>
        </p:txBody>
      </p:sp>
      <p:sp>
        <p:nvSpPr>
          <p:cNvPr id="139" name="Google Shape;139;g34bddd4cca2_0_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77500" lnSpcReduction="20000"/>
          </a:bodyPr>
          <a:lstStyle/>
          <a:p>
            <a:pPr indent="-317182" lvl="0" marL="342900" rtl="0" algn="l">
              <a:spcBef>
                <a:spcPts val="640"/>
              </a:spcBef>
              <a:spcAft>
                <a:spcPts val="0"/>
              </a:spcAft>
              <a:buSzPct val="56250"/>
              <a:buChar char="•"/>
            </a:pPr>
            <a:r>
              <a:rPr b="1" lang="en-US"/>
              <a:t>Remote Work at Scale: </a:t>
            </a:r>
            <a:r>
              <a:rPr lang="en-US"/>
              <a:t>In 2020, enterprises moved to remote access overnight — opening ports, extending privileges, and scaling trust faster than oversight.</a:t>
            </a:r>
            <a:endParaRPr/>
          </a:p>
          <a:p>
            <a:pPr indent="-317182" lvl="0" marL="342900" rtl="0" algn="l">
              <a:spcBef>
                <a:spcPts val="640"/>
              </a:spcBef>
              <a:spcAft>
                <a:spcPts val="0"/>
              </a:spcAft>
              <a:buSzPct val="56250"/>
              <a:buChar char="•"/>
            </a:pPr>
            <a:r>
              <a:rPr b="1" lang="en-US"/>
              <a:t>Access Surged — and So Did Attacks:</a:t>
            </a:r>
            <a:endParaRPr b="1"/>
          </a:p>
          <a:p>
            <a:pPr indent="-260032" lvl="1" marL="742950" rtl="0" algn="l">
              <a:spcBef>
                <a:spcPts val="640"/>
              </a:spcBef>
              <a:spcAft>
                <a:spcPts val="0"/>
              </a:spcAft>
              <a:buSzPct val="64285"/>
              <a:buChar char="–"/>
            </a:pPr>
            <a:r>
              <a:rPr lang="en-US"/>
              <a:t>RDP attacks grew 768% in 2020, totaling 29 billion attempts (ReliaQuest)</a:t>
            </a:r>
            <a:endParaRPr/>
          </a:p>
          <a:p>
            <a:pPr indent="-260032" lvl="1" marL="742950" rtl="0" algn="l">
              <a:spcBef>
                <a:spcPts val="640"/>
              </a:spcBef>
              <a:spcAft>
                <a:spcPts val="0"/>
              </a:spcAft>
              <a:buSzPct val="64285"/>
              <a:buChar char="–"/>
            </a:pPr>
            <a:r>
              <a:rPr lang="en-US"/>
              <a:t>Ransomware attacks spiked 148% in March 2020 alone (VMware)</a:t>
            </a:r>
            <a:endParaRPr/>
          </a:p>
          <a:p>
            <a:pPr indent="-260032" lvl="1" marL="742950" rtl="0" algn="l">
              <a:spcBef>
                <a:spcPts val="640"/>
              </a:spcBef>
              <a:spcAft>
                <a:spcPts val="0"/>
              </a:spcAft>
              <a:buSzPct val="64285"/>
              <a:buChar char="–"/>
            </a:pPr>
            <a:r>
              <a:rPr lang="en-US"/>
              <a:t>Threat actors exploited urgency — not technical flaws — as their entry point</a:t>
            </a:r>
            <a:endParaRPr/>
          </a:p>
          <a:p>
            <a:pPr indent="-317182" lvl="0" marL="342900" rtl="0" algn="l">
              <a:spcBef>
                <a:spcPts val="640"/>
              </a:spcBef>
              <a:spcAft>
                <a:spcPts val="0"/>
              </a:spcAft>
              <a:buSzPct val="56250"/>
              <a:buChar char="•"/>
            </a:pPr>
            <a:r>
              <a:rPr b="1" lang="en-US"/>
              <a:t>Upstream Compromise, Downstream Impact:</a:t>
            </a:r>
            <a:endParaRPr b="1"/>
          </a:p>
          <a:p>
            <a:pPr indent="-260032" lvl="1" marL="742950" rtl="0" algn="l">
              <a:spcBef>
                <a:spcPts val="640"/>
              </a:spcBef>
              <a:spcAft>
                <a:spcPts val="0"/>
              </a:spcAft>
              <a:buSzPct val="64285"/>
              <a:buChar char="–"/>
            </a:pPr>
            <a:r>
              <a:rPr lang="en-US"/>
              <a:t>In the 2023 MOVEit breach, victims like Shell and the U.S. Dept. of Energy were compromised not directly, but via an exploited vendor platform. (TechCybersecurityNews, Dec 2023)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4bddd4cca2_0_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Covid 19: The Great Expansion of Access</a:t>
            </a:r>
            <a:endParaRPr/>
          </a:p>
        </p:txBody>
      </p:sp>
      <p:sp>
        <p:nvSpPr>
          <p:cNvPr id="145" name="Google Shape;145;g34bddd4cca2_0_4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SzPts val="1800"/>
              <a:buChar char="•"/>
            </a:pPr>
            <a:r>
              <a:rPr b="1" lang="en-US"/>
              <a:t>From Third Party to Threat Actor:</a:t>
            </a:r>
            <a:endParaRPr b="1"/>
          </a:p>
          <a:p>
            <a:pPr indent="-285750" lvl="1" marL="742950" rtl="0" algn="l">
              <a:spcBef>
                <a:spcPts val="640"/>
              </a:spcBef>
              <a:spcAft>
                <a:spcPts val="0"/>
              </a:spcAft>
              <a:buSzPts val="1800"/>
              <a:buChar char="–"/>
            </a:pPr>
            <a:r>
              <a:rPr lang="en-US"/>
              <a:t>Shared tools became shared exposure. Vendor ecosystems expanded faster than they could be secured.</a:t>
            </a:r>
            <a:endParaRPr/>
          </a:p>
          <a:p>
            <a:pPr indent="-342900" lvl="0" marL="342900" rtl="0" algn="l">
              <a:spcBef>
                <a:spcPts val="640"/>
              </a:spcBef>
              <a:spcAft>
                <a:spcPts val="0"/>
              </a:spcAft>
              <a:buSzPts val="1800"/>
              <a:buChar char="•"/>
            </a:pPr>
            <a:r>
              <a:rPr b="1" lang="en-US"/>
              <a:t>Today’s Landscape:</a:t>
            </a:r>
            <a:endParaRPr b="1"/>
          </a:p>
          <a:p>
            <a:pPr indent="-285750" lvl="1" marL="742950" rtl="0" algn="l">
              <a:spcBef>
                <a:spcPts val="640"/>
              </a:spcBef>
              <a:spcAft>
                <a:spcPts val="0"/>
              </a:spcAft>
              <a:buSzPts val="1800"/>
              <a:buChar char="–"/>
            </a:pPr>
            <a:r>
              <a:rPr lang="en-US"/>
              <a:t>By Q1 2025, ransomware reached record highs: 2,000+ victims, 70+ active groups (GuidePoint Security) — many exploiting remote services and credential access.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 name="Shape 149"/>
        <p:cNvGrpSpPr/>
        <p:nvPr/>
      </p:nvGrpSpPr>
      <p:grpSpPr>
        <a:xfrm>
          <a:off x="0" y="0"/>
          <a:ext cx="0" cy="0"/>
          <a:chOff x="0" y="0"/>
          <a:chExt cx="0" cy="0"/>
        </a:xfrm>
      </p:grpSpPr>
      <p:sp>
        <p:nvSpPr>
          <p:cNvPr id="150" name="Google Shape;150;g34bddd4cca2_0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(citations for prior two slides)</a:t>
            </a:r>
            <a:endParaRPr/>
          </a:p>
        </p:txBody>
      </p:sp>
      <p:sp>
        <p:nvSpPr>
          <p:cNvPr id="151" name="Google Shape;151;g34bddd4cca2_0_3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85000" lnSpcReduction="10000"/>
          </a:bodyPr>
          <a:lstStyle/>
          <a:p>
            <a:pPr indent="-325755" lvl="0" marL="342900" rtl="0" algn="l">
              <a:spcBef>
                <a:spcPts val="640"/>
              </a:spcBef>
              <a:spcAft>
                <a:spcPts val="0"/>
              </a:spcAft>
              <a:buSzPct val="56250"/>
              <a:buChar char="•"/>
            </a:pPr>
            <a:r>
              <a:rPr lang="en-US" u="sng">
                <a:solidFill>
                  <a:schemeClr val="hlink"/>
                </a:solidFill>
                <a:hlinkClick r:id="rId3"/>
              </a:rPr>
              <a:t>ReliaQuest</a:t>
            </a:r>
            <a:r>
              <a:rPr lang="en-US"/>
              <a:t> observed a 768% growth in RDP attacks throughout 2020, totaling 29 billion attempted attacks, as organizations expanded remote access capabilities</a:t>
            </a:r>
            <a:endParaRPr/>
          </a:p>
          <a:p>
            <a:pPr indent="-236855" lvl="0" marL="342900" rtl="0" algn="l">
              <a:spcBef>
                <a:spcPts val="640"/>
              </a:spcBef>
              <a:spcAft>
                <a:spcPts val="0"/>
              </a:spcAft>
              <a:buSzPct val="56250"/>
              <a:buChar char="•"/>
            </a:pPr>
            <a:r>
              <a:rPr lang="en-US" u="sng">
                <a:solidFill>
                  <a:schemeClr val="hlink"/>
                </a:solidFill>
                <a:hlinkClick r:id="rId4"/>
              </a:rPr>
              <a:t>VMware</a:t>
            </a:r>
            <a:r>
              <a:rPr lang="en-US"/>
              <a:t> noted a 148% increase in ransomware attacks in March 2020 compared to the previous month, attributing the surge to opportunistic exploitation during the pandemic .</a:t>
            </a:r>
            <a:endParaRPr/>
          </a:p>
          <a:p>
            <a:pPr indent="-236855" lvl="0" marL="342900" rtl="0" algn="l">
              <a:spcBef>
                <a:spcPts val="640"/>
              </a:spcBef>
              <a:spcAft>
                <a:spcPts val="0"/>
              </a:spcAft>
              <a:buSzPct val="56250"/>
              <a:buChar char="•"/>
            </a:pPr>
            <a:r>
              <a:rPr lang="en-US" u="sng">
                <a:solidFill>
                  <a:schemeClr val="hlink"/>
                </a:solidFill>
                <a:hlinkClick r:id="rId5"/>
              </a:rPr>
              <a:t>Guidepoint</a:t>
            </a:r>
            <a:r>
              <a:rPr lang="en-US"/>
              <a:t> Security reported that ransomware incidents reached a record high in the first quarter of 2025, with over 2,000 victims and 70 active threat groups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4bddd4cca2_0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Challenges in Third Party Risk Management</a:t>
            </a:r>
            <a:endParaRPr/>
          </a:p>
        </p:txBody>
      </p:sp>
      <p:sp>
        <p:nvSpPr>
          <p:cNvPr id="157" name="Google Shape;157;g34bddd4cca2_0_16"/>
          <p:cNvSpPr txBox="1"/>
          <p:nvPr>
            <p:ph idx="1" type="body"/>
          </p:nvPr>
        </p:nvSpPr>
        <p:spPr>
          <a:xfrm>
            <a:off x="457200" y="1417650"/>
            <a:ext cx="8229600" cy="5146800"/>
          </a:xfrm>
          <a:prstGeom prst="rect">
            <a:avLst/>
          </a:prstGeom>
          <a:noFill/>
          <a:ln>
            <a:noFill/>
          </a:ln>
        </p:spPr>
        <p:txBody>
          <a:bodyPr anchorCtr="0" anchor="t" bIns="45700" lIns="91425" spcFirstLastPara="1" rIns="91425" wrap="square" tIns="45700">
            <a:normAutofit fontScale="92500" lnSpcReduction="20000"/>
          </a:bodyPr>
          <a:lstStyle/>
          <a:p>
            <a:pPr indent="-245427" lvl="0" marL="342900" rtl="0" algn="l">
              <a:spcBef>
                <a:spcPts val="640"/>
              </a:spcBef>
              <a:spcAft>
                <a:spcPts val="0"/>
              </a:spcAft>
              <a:buSzPct val="56250"/>
              <a:buChar char="•"/>
            </a:pPr>
            <a:r>
              <a:rPr lang="en-US"/>
              <a:t>JP Morgan’s Patrick Opet, CISO - Open Letter to Third Parties: </a:t>
            </a:r>
            <a:r>
              <a:rPr i="1" lang="en-US"/>
              <a:t>“SaaS… is creating a substantial vulnerability that is weakening the global economic system.” </a:t>
            </a:r>
            <a:r>
              <a:rPr lang="en-US"/>
              <a:t>(2 May 2025)</a:t>
            </a:r>
            <a:endParaRPr/>
          </a:p>
          <a:p>
            <a:pPr indent="-245427" lvl="0" marL="342900" rtl="0" algn="l">
              <a:spcBef>
                <a:spcPts val="640"/>
              </a:spcBef>
              <a:spcAft>
                <a:spcPts val="0"/>
              </a:spcAft>
              <a:buSzPct val="56250"/>
              <a:buChar char="•"/>
            </a:pPr>
            <a:r>
              <a:rPr lang="en-US"/>
              <a:t>Moveit Example: </a:t>
            </a:r>
            <a:endParaRPr/>
          </a:p>
          <a:p>
            <a:pPr indent="-277177" lvl="1" marL="742950" rtl="0" algn="l">
              <a:spcBef>
                <a:spcPts val="640"/>
              </a:spcBef>
              <a:spcAft>
                <a:spcPts val="0"/>
              </a:spcAft>
              <a:buSzPct val="171428"/>
              <a:buChar char="–"/>
            </a:pPr>
            <a:r>
              <a:rPr lang="en-US"/>
              <a:t>“In the MOVEit breach, major organizations like Shell and the U.S. Department of Energy suffered data compromise not from direct intrusion, but because a shared vendor platform was exploited upstream” </a:t>
            </a:r>
            <a:r>
              <a:rPr lang="en-US" sz="1050" u="sng">
                <a:solidFill>
                  <a:schemeClr val="hlink"/>
                </a:solidFill>
                <a:latin typeface="Arial"/>
                <a:ea typeface="Arial"/>
                <a:cs typeface="Arial"/>
                <a:sym typeface="Arial"/>
                <a:hlinkClick r:id="rId3"/>
              </a:rPr>
              <a:t>TechCybersecurityNews, Dec 2023</a:t>
            </a:r>
            <a:endParaRPr sz="1050" u="sng">
              <a:solidFill>
                <a:schemeClr val="hlink"/>
              </a:solidFill>
              <a:latin typeface="Arial"/>
              <a:ea typeface="Arial"/>
              <a:cs typeface="Arial"/>
              <a:sym typeface="Arial"/>
            </a:endParaRPr>
          </a:p>
          <a:p>
            <a:pPr indent="-277177" lvl="1" marL="742950" rtl="0" algn="l">
              <a:spcBef>
                <a:spcPts val="640"/>
              </a:spcBef>
              <a:spcAft>
                <a:spcPts val="0"/>
              </a:spcAft>
              <a:buSzPct val="64285"/>
              <a:buChar char="–"/>
            </a:pPr>
            <a:r>
              <a:rPr lang="en-US"/>
              <a:t>The MOVEit cyberattack campaign significantly affected numerous organizations  Many entities experienced severe data breaches due to the exploitation of vulnerabilities in the MOVEit software of a third party.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What Access Really Looks Like: </a:t>
            </a:r>
            <a:endParaRPr/>
          </a:p>
        </p:txBody>
      </p:sp>
      <p:sp>
        <p:nvSpPr>
          <p:cNvPr id="163" name="Google Shape;163;p3"/>
          <p:cNvSpPr txBox="1"/>
          <p:nvPr>
            <p:ph idx="1" type="body"/>
          </p:nvPr>
        </p:nvSpPr>
        <p:spPr>
          <a:xfrm>
            <a:off x="0" y="3683625"/>
            <a:ext cx="9062100" cy="33273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640"/>
              </a:spcBef>
              <a:spcAft>
                <a:spcPts val="0"/>
              </a:spcAft>
              <a:buNone/>
            </a:pPr>
            <a:r>
              <a:rPr lang="en-US" sz="2400"/>
              <a:t>…and the rising cost of inaction:</a:t>
            </a:r>
            <a:endParaRPr sz="2400"/>
          </a:p>
          <a:p>
            <a:pPr indent="-335280" lvl="0" marL="457200" rtl="0" algn="l">
              <a:spcBef>
                <a:spcPts val="640"/>
              </a:spcBef>
              <a:spcAft>
                <a:spcPts val="0"/>
              </a:spcAft>
              <a:buSzPct val="100000"/>
              <a:buChar char="•"/>
            </a:pPr>
            <a:r>
              <a:rPr lang="en-US" sz="2400"/>
              <a:t>$1.1 Billion in Ransom Payments in 2023</a:t>
            </a:r>
            <a:endParaRPr sz="2400"/>
          </a:p>
          <a:p>
            <a:pPr indent="-335280" lvl="1" marL="914400" rtl="0" algn="l">
              <a:spcBef>
                <a:spcPts val="0"/>
              </a:spcBef>
              <a:spcAft>
                <a:spcPts val="0"/>
              </a:spcAft>
              <a:buSzPct val="100000"/>
              <a:buChar char="–"/>
            </a:pPr>
            <a:r>
              <a:rPr lang="en-US" sz="2400"/>
              <a:t>Businesses paid over $1.1 billion in ransom payments in 2023, marking the highest annual total to date. (</a:t>
            </a:r>
            <a:r>
              <a:rPr lang="en-US" sz="2400" u="sng">
                <a:solidFill>
                  <a:schemeClr val="hlink"/>
                </a:solidFill>
                <a:hlinkClick r:id="rId3"/>
              </a:rPr>
              <a:t>WIRED, 2024</a:t>
            </a:r>
            <a:r>
              <a:rPr lang="en-US" sz="2400"/>
              <a:t>) </a:t>
            </a:r>
            <a:endParaRPr sz="2400"/>
          </a:p>
          <a:p>
            <a:pPr indent="-335280" lvl="0" marL="457200" rtl="0" algn="l">
              <a:spcBef>
                <a:spcPts val="0"/>
              </a:spcBef>
              <a:spcAft>
                <a:spcPts val="0"/>
              </a:spcAft>
              <a:buSzPct val="100000"/>
              <a:buChar char="•"/>
            </a:pPr>
            <a:r>
              <a:rPr lang="en-US" sz="2400"/>
              <a:t>Average Recovery Cost of $2.73 Million in 2024</a:t>
            </a:r>
            <a:endParaRPr sz="2400"/>
          </a:p>
          <a:p>
            <a:pPr indent="-335280" lvl="1" marL="914400" rtl="0" algn="l">
              <a:spcBef>
                <a:spcPts val="0"/>
              </a:spcBef>
              <a:spcAft>
                <a:spcPts val="0"/>
              </a:spcAft>
              <a:buSzPct val="100000"/>
              <a:buChar char="–"/>
            </a:pPr>
            <a:r>
              <a:rPr lang="en-US" sz="2400"/>
              <a:t>The average cost for organizations to recover from a ransomware attack (excluding ransom payments) rose to $2.73 million in 2024, up from $1.82 million in 2023. </a:t>
            </a:r>
            <a:r>
              <a:rPr lang="en-US" sz="2400"/>
              <a:t>(</a:t>
            </a:r>
            <a:r>
              <a:rPr lang="en-US" sz="2400" u="sng">
                <a:solidFill>
                  <a:schemeClr val="hlink"/>
                </a:solidFill>
                <a:hlinkClick r:id="rId4"/>
              </a:rPr>
              <a:t>Cyberreason.com, 2024</a:t>
            </a:r>
            <a:r>
              <a:rPr lang="en-US" sz="2400"/>
              <a:t>)</a:t>
            </a:r>
            <a:r>
              <a:rPr lang="en-US" sz="2400"/>
              <a:t> ￼</a:t>
            </a:r>
            <a:endParaRPr sz="2400"/>
          </a:p>
          <a:p>
            <a:pPr indent="-335280" lvl="0" marL="457200" rtl="0" algn="l">
              <a:spcBef>
                <a:spcPts val="0"/>
              </a:spcBef>
              <a:spcAft>
                <a:spcPts val="0"/>
              </a:spcAft>
              <a:buSzPct val="100000"/>
              <a:buChar char="•"/>
            </a:pPr>
            <a:r>
              <a:rPr lang="en-US" sz="2400"/>
              <a:t>78% of Organizations Re-Breached After Paying Ransom</a:t>
            </a:r>
            <a:endParaRPr sz="2400"/>
          </a:p>
          <a:p>
            <a:pPr indent="-335280" lvl="1" marL="914400" rtl="0" algn="l">
              <a:spcBef>
                <a:spcPts val="0"/>
              </a:spcBef>
              <a:spcAft>
                <a:spcPts val="0"/>
              </a:spcAft>
              <a:buSzPct val="100000"/>
              <a:buChar char="–"/>
            </a:pPr>
            <a:r>
              <a:rPr lang="en-US" sz="2400"/>
              <a:t>Among organizations that paid a ransom, 78% experienced a subsequent breach, with 63% facing higher ransom demands the second time.  ￼</a:t>
            </a:r>
            <a:endParaRPr sz="2400"/>
          </a:p>
          <a:p>
            <a:pPr indent="-335280" lvl="0" marL="457200" rtl="0" algn="l">
              <a:spcBef>
                <a:spcPts val="0"/>
              </a:spcBef>
              <a:spcAft>
                <a:spcPts val="0"/>
              </a:spcAft>
              <a:buSzPct val="100000"/>
              <a:buChar char="•"/>
            </a:pPr>
            <a:r>
              <a:rPr lang="en-US" sz="2400"/>
              <a:t>$124.2 Billion Annual Cost to U.S. Businesses</a:t>
            </a:r>
            <a:endParaRPr sz="2400"/>
          </a:p>
          <a:p>
            <a:pPr indent="-335280" lvl="1" marL="914400" rtl="0" algn="l">
              <a:spcBef>
                <a:spcPts val="0"/>
              </a:spcBef>
              <a:spcAft>
                <a:spcPts val="0"/>
              </a:spcAft>
              <a:buSzPct val="100000"/>
              <a:buChar char="–"/>
            </a:pPr>
            <a:r>
              <a:rPr lang="en-US" sz="2400"/>
              <a:t>Ransomware exposure costs U.S. businesses an estimated $124.2 billion annually, encompassing ransom payments, downtime, recovery, and reputational damage.</a:t>
            </a:r>
            <a:endParaRPr sz="2400"/>
          </a:p>
          <a:p>
            <a:pPr indent="0" lvl="0" marL="0" rtl="0" algn="l">
              <a:spcBef>
                <a:spcPts val="640"/>
              </a:spcBef>
              <a:spcAft>
                <a:spcPts val="0"/>
              </a:spcAft>
              <a:buNone/>
            </a:pPr>
            <a:r>
              <a:t/>
            </a:r>
            <a:endParaRPr sz="2400"/>
          </a:p>
        </p:txBody>
      </p:sp>
      <p:pic>
        <p:nvPicPr>
          <p:cNvPr descr="Logo&#10;&#10;Description automatically generated" id="164" name="Google Shape;164;p3"/>
          <p:cNvPicPr preferRelativeResize="0"/>
          <p:nvPr/>
        </p:nvPicPr>
        <p:blipFill rotWithShape="1">
          <a:blip r:embed="rId5">
            <a:alphaModFix/>
          </a:blip>
          <a:srcRect b="0" l="0" r="0" t="0"/>
          <a:stretch/>
        </p:blipFill>
        <p:spPr>
          <a:xfrm>
            <a:off x="502942" y="1611262"/>
            <a:ext cx="801750" cy="759886"/>
          </a:xfrm>
          <a:prstGeom prst="rect">
            <a:avLst/>
          </a:prstGeom>
          <a:noFill/>
          <a:ln>
            <a:noFill/>
          </a:ln>
        </p:spPr>
      </p:pic>
      <p:pic>
        <p:nvPicPr>
          <p:cNvPr descr="Icon&#10;&#10;Description automatically generated" id="165" name="Google Shape;165;p3"/>
          <p:cNvPicPr preferRelativeResize="0"/>
          <p:nvPr/>
        </p:nvPicPr>
        <p:blipFill rotWithShape="1">
          <a:blip r:embed="rId6">
            <a:alphaModFix/>
          </a:blip>
          <a:srcRect b="0" l="0" r="0" t="0"/>
          <a:stretch/>
        </p:blipFill>
        <p:spPr>
          <a:xfrm>
            <a:off x="2132851" y="1619350"/>
            <a:ext cx="929224" cy="880707"/>
          </a:xfrm>
          <a:prstGeom prst="rect">
            <a:avLst/>
          </a:prstGeom>
          <a:noFill/>
          <a:ln>
            <a:noFill/>
          </a:ln>
        </p:spPr>
      </p:pic>
      <p:sp>
        <p:nvSpPr>
          <p:cNvPr id="166" name="Google Shape;166;p3"/>
          <p:cNvSpPr/>
          <p:nvPr/>
        </p:nvSpPr>
        <p:spPr>
          <a:xfrm>
            <a:off x="7276128" y="1487901"/>
            <a:ext cx="1410614" cy="1211280"/>
          </a:xfrm>
          <a:custGeom>
            <a:rect b="b" l="l" r="r" t="t"/>
            <a:pathLst>
              <a:path extrusionOk="0" h="3166745" w="3169919">
                <a:moveTo>
                  <a:pt x="1584718" y="0"/>
                </a:moveTo>
                <a:lnTo>
                  <a:pt x="1536268" y="725"/>
                </a:lnTo>
                <a:lnTo>
                  <a:pt x="1488181" y="2889"/>
                </a:lnTo>
                <a:lnTo>
                  <a:pt x="1440476" y="6469"/>
                </a:lnTo>
                <a:lnTo>
                  <a:pt x="1393173" y="11447"/>
                </a:lnTo>
                <a:lnTo>
                  <a:pt x="1346295" y="17799"/>
                </a:lnTo>
                <a:lnTo>
                  <a:pt x="1299862" y="25507"/>
                </a:lnTo>
                <a:lnTo>
                  <a:pt x="1253893" y="34549"/>
                </a:lnTo>
                <a:lnTo>
                  <a:pt x="1208411" y="44904"/>
                </a:lnTo>
                <a:lnTo>
                  <a:pt x="1163436" y="56553"/>
                </a:lnTo>
                <a:lnTo>
                  <a:pt x="1118988" y="69473"/>
                </a:lnTo>
                <a:lnTo>
                  <a:pt x="1075088" y="83645"/>
                </a:lnTo>
                <a:lnTo>
                  <a:pt x="1031757" y="99048"/>
                </a:lnTo>
                <a:lnTo>
                  <a:pt x="989015" y="115661"/>
                </a:lnTo>
                <a:lnTo>
                  <a:pt x="946884" y="133463"/>
                </a:lnTo>
                <a:lnTo>
                  <a:pt x="905385" y="152434"/>
                </a:lnTo>
                <a:lnTo>
                  <a:pt x="864536" y="172553"/>
                </a:lnTo>
                <a:lnTo>
                  <a:pt x="824361" y="193799"/>
                </a:lnTo>
                <a:lnTo>
                  <a:pt x="784878" y="216152"/>
                </a:lnTo>
                <a:lnTo>
                  <a:pt x="746110" y="239591"/>
                </a:lnTo>
                <a:lnTo>
                  <a:pt x="708076" y="264094"/>
                </a:lnTo>
                <a:lnTo>
                  <a:pt x="670798" y="289643"/>
                </a:lnTo>
                <a:lnTo>
                  <a:pt x="634296" y="316215"/>
                </a:lnTo>
                <a:lnTo>
                  <a:pt x="598590" y="343790"/>
                </a:lnTo>
                <a:lnTo>
                  <a:pt x="563702" y="372347"/>
                </a:lnTo>
                <a:lnTo>
                  <a:pt x="529653" y="401866"/>
                </a:lnTo>
                <a:lnTo>
                  <a:pt x="496462" y="432326"/>
                </a:lnTo>
                <a:lnTo>
                  <a:pt x="464151" y="463707"/>
                </a:lnTo>
                <a:lnTo>
                  <a:pt x="432741" y="495987"/>
                </a:lnTo>
                <a:lnTo>
                  <a:pt x="402252" y="529146"/>
                </a:lnTo>
                <a:lnTo>
                  <a:pt x="372704" y="563162"/>
                </a:lnTo>
                <a:lnTo>
                  <a:pt x="344119" y="598017"/>
                </a:lnTo>
                <a:lnTo>
                  <a:pt x="316518" y="633688"/>
                </a:lnTo>
                <a:lnTo>
                  <a:pt x="289920" y="670155"/>
                </a:lnTo>
                <a:lnTo>
                  <a:pt x="264348" y="707398"/>
                </a:lnTo>
                <a:lnTo>
                  <a:pt x="239820" y="745395"/>
                </a:lnTo>
                <a:lnTo>
                  <a:pt x="216359" y="784126"/>
                </a:lnTo>
                <a:lnTo>
                  <a:pt x="193985" y="823571"/>
                </a:lnTo>
                <a:lnTo>
                  <a:pt x="172718" y="863708"/>
                </a:lnTo>
                <a:lnTo>
                  <a:pt x="152580" y="904517"/>
                </a:lnTo>
                <a:lnTo>
                  <a:pt x="133591" y="945977"/>
                </a:lnTo>
                <a:lnTo>
                  <a:pt x="115772" y="988067"/>
                </a:lnTo>
                <a:lnTo>
                  <a:pt x="99143" y="1030768"/>
                </a:lnTo>
                <a:lnTo>
                  <a:pt x="83725" y="1074057"/>
                </a:lnTo>
                <a:lnTo>
                  <a:pt x="69540" y="1117915"/>
                </a:lnTo>
                <a:lnTo>
                  <a:pt x="56607" y="1162320"/>
                </a:lnTo>
                <a:lnTo>
                  <a:pt x="44947" y="1207252"/>
                </a:lnTo>
                <a:lnTo>
                  <a:pt x="34582" y="1252691"/>
                </a:lnTo>
                <a:lnTo>
                  <a:pt x="25531" y="1298615"/>
                </a:lnTo>
                <a:lnTo>
                  <a:pt x="17816" y="1345004"/>
                </a:lnTo>
                <a:lnTo>
                  <a:pt x="11457" y="1391837"/>
                </a:lnTo>
                <a:lnTo>
                  <a:pt x="6476" y="1439094"/>
                </a:lnTo>
                <a:lnTo>
                  <a:pt x="2892" y="1486753"/>
                </a:lnTo>
                <a:lnTo>
                  <a:pt x="726" y="1534795"/>
                </a:lnTo>
                <a:lnTo>
                  <a:pt x="0" y="1583197"/>
                </a:lnTo>
                <a:lnTo>
                  <a:pt x="726" y="1631600"/>
                </a:lnTo>
                <a:lnTo>
                  <a:pt x="2892" y="1679642"/>
                </a:lnTo>
                <a:lnTo>
                  <a:pt x="6476" y="1727301"/>
                </a:lnTo>
                <a:lnTo>
                  <a:pt x="11457" y="1774557"/>
                </a:lnTo>
                <a:lnTo>
                  <a:pt x="17816" y="1821391"/>
                </a:lnTo>
                <a:lnTo>
                  <a:pt x="25531" y="1867780"/>
                </a:lnTo>
                <a:lnTo>
                  <a:pt x="34582" y="1913704"/>
                </a:lnTo>
                <a:lnTo>
                  <a:pt x="44947" y="1959142"/>
                </a:lnTo>
                <a:lnTo>
                  <a:pt x="56607" y="2004075"/>
                </a:lnTo>
                <a:lnTo>
                  <a:pt x="69540" y="2048480"/>
                </a:lnTo>
                <a:lnTo>
                  <a:pt x="83725" y="2092338"/>
                </a:lnTo>
                <a:lnTo>
                  <a:pt x="99143" y="2135627"/>
                </a:lnTo>
                <a:lnTo>
                  <a:pt x="115772" y="2178327"/>
                </a:lnTo>
                <a:lnTo>
                  <a:pt x="133591" y="2220418"/>
                </a:lnTo>
                <a:lnTo>
                  <a:pt x="152580" y="2261878"/>
                </a:lnTo>
                <a:lnTo>
                  <a:pt x="172718" y="2302687"/>
                </a:lnTo>
                <a:lnTo>
                  <a:pt x="193985" y="2342824"/>
                </a:lnTo>
                <a:lnTo>
                  <a:pt x="216359" y="2382268"/>
                </a:lnTo>
                <a:lnTo>
                  <a:pt x="239820" y="2421000"/>
                </a:lnTo>
                <a:lnTo>
                  <a:pt x="264348" y="2458997"/>
                </a:lnTo>
                <a:lnTo>
                  <a:pt x="289920" y="2496239"/>
                </a:lnTo>
                <a:lnTo>
                  <a:pt x="316518" y="2532707"/>
                </a:lnTo>
                <a:lnTo>
                  <a:pt x="344119" y="2568378"/>
                </a:lnTo>
                <a:lnTo>
                  <a:pt x="372704" y="2603232"/>
                </a:lnTo>
                <a:lnTo>
                  <a:pt x="402252" y="2637249"/>
                </a:lnTo>
                <a:lnTo>
                  <a:pt x="432741" y="2670408"/>
                </a:lnTo>
                <a:lnTo>
                  <a:pt x="464151" y="2702688"/>
                </a:lnTo>
                <a:lnTo>
                  <a:pt x="496462" y="2734068"/>
                </a:lnTo>
                <a:lnTo>
                  <a:pt x="529653" y="2764528"/>
                </a:lnTo>
                <a:lnTo>
                  <a:pt x="563702" y="2794047"/>
                </a:lnTo>
                <a:lnTo>
                  <a:pt x="598590" y="2822605"/>
                </a:lnTo>
                <a:lnTo>
                  <a:pt x="634296" y="2850180"/>
                </a:lnTo>
                <a:lnTo>
                  <a:pt x="670798" y="2876752"/>
                </a:lnTo>
                <a:lnTo>
                  <a:pt x="708076" y="2902300"/>
                </a:lnTo>
                <a:lnTo>
                  <a:pt x="746110" y="2926804"/>
                </a:lnTo>
                <a:lnTo>
                  <a:pt x="784878" y="2950243"/>
                </a:lnTo>
                <a:lnTo>
                  <a:pt x="824361" y="2972595"/>
                </a:lnTo>
                <a:lnTo>
                  <a:pt x="864536" y="2993842"/>
                </a:lnTo>
                <a:lnTo>
                  <a:pt x="905385" y="3013960"/>
                </a:lnTo>
                <a:lnTo>
                  <a:pt x="946884" y="3032931"/>
                </a:lnTo>
                <a:lnTo>
                  <a:pt x="989015" y="3050734"/>
                </a:lnTo>
                <a:lnTo>
                  <a:pt x="1031757" y="3067347"/>
                </a:lnTo>
                <a:lnTo>
                  <a:pt x="1075088" y="3082749"/>
                </a:lnTo>
                <a:lnTo>
                  <a:pt x="1118988" y="3096921"/>
                </a:lnTo>
                <a:lnTo>
                  <a:pt x="1163436" y="3109842"/>
                </a:lnTo>
                <a:lnTo>
                  <a:pt x="1208411" y="3121490"/>
                </a:lnTo>
                <a:lnTo>
                  <a:pt x="1253893" y="3131846"/>
                </a:lnTo>
                <a:lnTo>
                  <a:pt x="1299862" y="3140888"/>
                </a:lnTo>
                <a:lnTo>
                  <a:pt x="1346295" y="3148596"/>
                </a:lnTo>
                <a:lnTo>
                  <a:pt x="1393173" y="3154948"/>
                </a:lnTo>
                <a:lnTo>
                  <a:pt x="1440476" y="3159925"/>
                </a:lnTo>
                <a:lnTo>
                  <a:pt x="1488181" y="3163506"/>
                </a:lnTo>
                <a:lnTo>
                  <a:pt x="1536268" y="3165669"/>
                </a:lnTo>
                <a:lnTo>
                  <a:pt x="1584718" y="3166395"/>
                </a:lnTo>
                <a:lnTo>
                  <a:pt x="1633167" y="3165669"/>
                </a:lnTo>
                <a:lnTo>
                  <a:pt x="1681255" y="3163506"/>
                </a:lnTo>
                <a:lnTo>
                  <a:pt x="1728960" y="3159925"/>
                </a:lnTo>
                <a:lnTo>
                  <a:pt x="1776262" y="3154948"/>
                </a:lnTo>
                <a:lnTo>
                  <a:pt x="1823140" y="3148596"/>
                </a:lnTo>
                <a:lnTo>
                  <a:pt x="1869574" y="3140888"/>
                </a:lnTo>
                <a:lnTo>
                  <a:pt x="1915542" y="3131846"/>
                </a:lnTo>
                <a:lnTo>
                  <a:pt x="1961024" y="3121490"/>
                </a:lnTo>
                <a:lnTo>
                  <a:pt x="2006000" y="3109842"/>
                </a:lnTo>
                <a:lnTo>
                  <a:pt x="2050448" y="3096921"/>
                </a:lnTo>
                <a:lnTo>
                  <a:pt x="2094348" y="3082749"/>
                </a:lnTo>
                <a:lnTo>
                  <a:pt x="2137679" y="3067347"/>
                </a:lnTo>
                <a:lnTo>
                  <a:pt x="2180420" y="3050734"/>
                </a:lnTo>
                <a:lnTo>
                  <a:pt x="2222551" y="3032931"/>
                </a:lnTo>
                <a:lnTo>
                  <a:pt x="2264051" y="3013960"/>
                </a:lnTo>
                <a:lnTo>
                  <a:pt x="2304899" y="2993842"/>
                </a:lnTo>
                <a:lnTo>
                  <a:pt x="2345075" y="2972595"/>
                </a:lnTo>
                <a:lnTo>
                  <a:pt x="2384557" y="2950243"/>
                </a:lnTo>
                <a:lnTo>
                  <a:pt x="2423325" y="2926804"/>
                </a:lnTo>
                <a:lnTo>
                  <a:pt x="2461359" y="2902300"/>
                </a:lnTo>
                <a:lnTo>
                  <a:pt x="2498638" y="2876752"/>
                </a:lnTo>
                <a:lnTo>
                  <a:pt x="2535140" y="2850180"/>
                </a:lnTo>
                <a:lnTo>
                  <a:pt x="2570845" y="2822605"/>
                </a:lnTo>
                <a:lnTo>
                  <a:pt x="2605733" y="2794047"/>
                </a:lnTo>
                <a:lnTo>
                  <a:pt x="2639783" y="2764528"/>
                </a:lnTo>
                <a:lnTo>
                  <a:pt x="2672973" y="2734068"/>
                </a:lnTo>
                <a:lnTo>
                  <a:pt x="2705284" y="2702688"/>
                </a:lnTo>
                <a:lnTo>
                  <a:pt x="2736695" y="2670408"/>
                </a:lnTo>
                <a:lnTo>
                  <a:pt x="2767184" y="2637249"/>
                </a:lnTo>
                <a:lnTo>
                  <a:pt x="2796731" y="2603232"/>
                </a:lnTo>
                <a:lnTo>
                  <a:pt x="2825316" y="2568378"/>
                </a:lnTo>
                <a:lnTo>
                  <a:pt x="2852918" y="2532707"/>
                </a:lnTo>
                <a:lnTo>
                  <a:pt x="2879515" y="2496239"/>
                </a:lnTo>
                <a:lnTo>
                  <a:pt x="2905088" y="2458997"/>
                </a:lnTo>
                <a:lnTo>
                  <a:pt x="2929615" y="2421000"/>
                </a:lnTo>
                <a:lnTo>
                  <a:pt x="2953076" y="2382268"/>
                </a:lnTo>
                <a:lnTo>
                  <a:pt x="2975450" y="2342824"/>
                </a:lnTo>
                <a:lnTo>
                  <a:pt x="2996717" y="2302687"/>
                </a:lnTo>
                <a:lnTo>
                  <a:pt x="3016855" y="2261878"/>
                </a:lnTo>
                <a:lnTo>
                  <a:pt x="3035844" y="2220418"/>
                </a:lnTo>
                <a:lnTo>
                  <a:pt x="3053664" y="2178327"/>
                </a:lnTo>
                <a:lnTo>
                  <a:pt x="3070292" y="2135627"/>
                </a:lnTo>
                <a:lnTo>
                  <a:pt x="3085710" y="2092338"/>
                </a:lnTo>
                <a:lnTo>
                  <a:pt x="3099896" y="2048480"/>
                </a:lnTo>
                <a:lnTo>
                  <a:pt x="3112829" y="2004075"/>
                </a:lnTo>
                <a:lnTo>
                  <a:pt x="3124488" y="1959142"/>
                </a:lnTo>
                <a:lnTo>
                  <a:pt x="3134854" y="1913704"/>
                </a:lnTo>
                <a:lnTo>
                  <a:pt x="3143904" y="1867780"/>
                </a:lnTo>
                <a:lnTo>
                  <a:pt x="3151619" y="1821391"/>
                </a:lnTo>
                <a:lnTo>
                  <a:pt x="3157978" y="1774557"/>
                </a:lnTo>
                <a:lnTo>
                  <a:pt x="3162960" y="1727301"/>
                </a:lnTo>
                <a:lnTo>
                  <a:pt x="3166544" y="1679642"/>
                </a:lnTo>
                <a:lnTo>
                  <a:pt x="3168709" y="1631600"/>
                </a:lnTo>
                <a:lnTo>
                  <a:pt x="3169436" y="1583197"/>
                </a:lnTo>
                <a:lnTo>
                  <a:pt x="3168709" y="1534795"/>
                </a:lnTo>
                <a:lnTo>
                  <a:pt x="3166544" y="1486753"/>
                </a:lnTo>
                <a:lnTo>
                  <a:pt x="3162960" y="1439094"/>
                </a:lnTo>
                <a:lnTo>
                  <a:pt x="3157978" y="1391837"/>
                </a:lnTo>
                <a:lnTo>
                  <a:pt x="3151619" y="1345004"/>
                </a:lnTo>
                <a:lnTo>
                  <a:pt x="3143904" y="1298615"/>
                </a:lnTo>
                <a:lnTo>
                  <a:pt x="3134854" y="1252691"/>
                </a:lnTo>
                <a:lnTo>
                  <a:pt x="3124488" y="1207252"/>
                </a:lnTo>
                <a:lnTo>
                  <a:pt x="3112829" y="1162320"/>
                </a:lnTo>
                <a:lnTo>
                  <a:pt x="3099896" y="1117915"/>
                </a:lnTo>
                <a:lnTo>
                  <a:pt x="3085710" y="1074057"/>
                </a:lnTo>
                <a:lnTo>
                  <a:pt x="3070292" y="1030768"/>
                </a:lnTo>
                <a:lnTo>
                  <a:pt x="3053664" y="988067"/>
                </a:lnTo>
                <a:lnTo>
                  <a:pt x="3035844" y="945977"/>
                </a:lnTo>
                <a:lnTo>
                  <a:pt x="3016855" y="904517"/>
                </a:lnTo>
                <a:lnTo>
                  <a:pt x="2996717" y="863708"/>
                </a:lnTo>
                <a:lnTo>
                  <a:pt x="2975450" y="823571"/>
                </a:lnTo>
                <a:lnTo>
                  <a:pt x="2953076" y="784126"/>
                </a:lnTo>
                <a:lnTo>
                  <a:pt x="2929615" y="745395"/>
                </a:lnTo>
                <a:lnTo>
                  <a:pt x="2905088" y="707398"/>
                </a:lnTo>
                <a:lnTo>
                  <a:pt x="2879515" y="670155"/>
                </a:lnTo>
                <a:lnTo>
                  <a:pt x="2852918" y="633688"/>
                </a:lnTo>
                <a:lnTo>
                  <a:pt x="2825316" y="598017"/>
                </a:lnTo>
                <a:lnTo>
                  <a:pt x="2796731" y="563162"/>
                </a:lnTo>
                <a:lnTo>
                  <a:pt x="2767184" y="529146"/>
                </a:lnTo>
                <a:lnTo>
                  <a:pt x="2736695" y="495987"/>
                </a:lnTo>
                <a:lnTo>
                  <a:pt x="2705284" y="463707"/>
                </a:lnTo>
                <a:lnTo>
                  <a:pt x="2672973" y="432326"/>
                </a:lnTo>
                <a:lnTo>
                  <a:pt x="2639783" y="401866"/>
                </a:lnTo>
                <a:lnTo>
                  <a:pt x="2605733" y="372347"/>
                </a:lnTo>
                <a:lnTo>
                  <a:pt x="2570845" y="343790"/>
                </a:lnTo>
                <a:lnTo>
                  <a:pt x="2535140" y="316215"/>
                </a:lnTo>
                <a:lnTo>
                  <a:pt x="2498638" y="289643"/>
                </a:lnTo>
                <a:lnTo>
                  <a:pt x="2461359" y="264094"/>
                </a:lnTo>
                <a:lnTo>
                  <a:pt x="2423325" y="239591"/>
                </a:lnTo>
                <a:lnTo>
                  <a:pt x="2384557" y="216152"/>
                </a:lnTo>
                <a:lnTo>
                  <a:pt x="2345075" y="193799"/>
                </a:lnTo>
                <a:lnTo>
                  <a:pt x="2304899" y="172553"/>
                </a:lnTo>
                <a:lnTo>
                  <a:pt x="2264051" y="152434"/>
                </a:lnTo>
                <a:lnTo>
                  <a:pt x="2222551" y="133463"/>
                </a:lnTo>
                <a:lnTo>
                  <a:pt x="2180420" y="115661"/>
                </a:lnTo>
                <a:lnTo>
                  <a:pt x="2137679" y="99048"/>
                </a:lnTo>
                <a:lnTo>
                  <a:pt x="2094348" y="83645"/>
                </a:lnTo>
                <a:lnTo>
                  <a:pt x="2050448" y="69473"/>
                </a:lnTo>
                <a:lnTo>
                  <a:pt x="2006000" y="56553"/>
                </a:lnTo>
                <a:lnTo>
                  <a:pt x="1961024" y="44904"/>
                </a:lnTo>
                <a:lnTo>
                  <a:pt x="1915542" y="34549"/>
                </a:lnTo>
                <a:lnTo>
                  <a:pt x="1869574" y="25507"/>
                </a:lnTo>
                <a:lnTo>
                  <a:pt x="1823140" y="17799"/>
                </a:lnTo>
                <a:lnTo>
                  <a:pt x="1776262" y="11447"/>
                </a:lnTo>
                <a:lnTo>
                  <a:pt x="1728960" y="6469"/>
                </a:lnTo>
                <a:lnTo>
                  <a:pt x="1681255" y="2889"/>
                </a:lnTo>
                <a:lnTo>
                  <a:pt x="1633167" y="725"/>
                </a:lnTo>
                <a:lnTo>
                  <a:pt x="1584718" y="0"/>
                </a:lnTo>
                <a:close/>
              </a:path>
            </a:pathLst>
          </a:custGeom>
          <a:solidFill>
            <a:srgbClr val="FCCEC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A picture containing text, device, vector graphics&#10;&#10;Description automatically generated" id="167" name="Google Shape;167;p3"/>
          <p:cNvPicPr preferRelativeResize="0"/>
          <p:nvPr/>
        </p:nvPicPr>
        <p:blipFill rotWithShape="1">
          <a:blip r:embed="rId7">
            <a:alphaModFix/>
          </a:blip>
          <a:srcRect b="0" l="0" r="0" t="0"/>
          <a:stretch/>
        </p:blipFill>
        <p:spPr>
          <a:xfrm>
            <a:off x="7550795" y="1646660"/>
            <a:ext cx="917494" cy="869586"/>
          </a:xfrm>
          <a:prstGeom prst="rect">
            <a:avLst/>
          </a:prstGeom>
          <a:noFill/>
          <a:ln>
            <a:noFill/>
          </a:ln>
        </p:spPr>
      </p:pic>
      <p:pic>
        <p:nvPicPr>
          <p:cNvPr descr="Icon&#10;&#10;Description automatically generated" id="168" name="Google Shape;168;p3"/>
          <p:cNvPicPr preferRelativeResize="0"/>
          <p:nvPr/>
        </p:nvPicPr>
        <p:blipFill rotWithShape="1">
          <a:blip r:embed="rId8">
            <a:alphaModFix/>
          </a:blip>
          <a:srcRect b="0" l="0" r="0" t="0"/>
          <a:stretch/>
        </p:blipFill>
        <p:spPr>
          <a:xfrm>
            <a:off x="5753861" y="1548698"/>
            <a:ext cx="929224" cy="880707"/>
          </a:xfrm>
          <a:prstGeom prst="rect">
            <a:avLst/>
          </a:prstGeom>
          <a:noFill/>
          <a:ln>
            <a:noFill/>
          </a:ln>
        </p:spPr>
      </p:pic>
      <p:pic>
        <p:nvPicPr>
          <p:cNvPr descr="Arrow&#10;&#10;Description automatically generated" id="169" name="Google Shape;169;p3"/>
          <p:cNvPicPr preferRelativeResize="0"/>
          <p:nvPr/>
        </p:nvPicPr>
        <p:blipFill rotWithShape="1">
          <a:blip r:embed="rId9">
            <a:alphaModFix/>
          </a:blip>
          <a:srcRect b="0" l="0" r="0" t="0"/>
          <a:stretch/>
        </p:blipFill>
        <p:spPr>
          <a:xfrm>
            <a:off x="3925217" y="1631308"/>
            <a:ext cx="973256" cy="922444"/>
          </a:xfrm>
          <a:prstGeom prst="rect">
            <a:avLst/>
          </a:prstGeom>
          <a:noFill/>
          <a:ln>
            <a:noFill/>
          </a:ln>
        </p:spPr>
      </p:pic>
      <p:sp>
        <p:nvSpPr>
          <p:cNvPr id="170" name="Google Shape;170;p3"/>
          <p:cNvSpPr txBox="1"/>
          <p:nvPr/>
        </p:nvSpPr>
        <p:spPr>
          <a:xfrm>
            <a:off x="2296545" y="2371154"/>
            <a:ext cx="1220400" cy="7278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Clr>
                <a:srgbClr val="000000"/>
              </a:buClr>
              <a:buSzPts val="2150"/>
              <a:buFont typeface="Arial"/>
              <a:buNone/>
            </a:pPr>
            <a:r>
              <a:rPr i="0" lang="en-US" sz="1550" u="none" cap="none" strike="noStrike">
                <a:solidFill>
                  <a:srgbClr val="000000"/>
                </a:solidFill>
                <a:latin typeface="Calibri"/>
                <a:ea typeface="Calibri"/>
                <a:cs typeface="Calibri"/>
                <a:sym typeface="Calibri"/>
              </a:rPr>
              <a:t>Initial Access  Brokers sell Access</a:t>
            </a:r>
            <a:endParaRPr i="0" sz="800" u="none" cap="none" strike="noStrike">
              <a:solidFill>
                <a:srgbClr val="000000"/>
              </a:solidFill>
              <a:latin typeface="Calibri"/>
              <a:ea typeface="Calibri"/>
              <a:cs typeface="Calibri"/>
              <a:sym typeface="Calibri"/>
            </a:endParaRPr>
          </a:p>
        </p:txBody>
      </p:sp>
      <p:sp>
        <p:nvSpPr>
          <p:cNvPr id="171" name="Google Shape;171;p3"/>
          <p:cNvSpPr txBox="1"/>
          <p:nvPr/>
        </p:nvSpPr>
        <p:spPr>
          <a:xfrm>
            <a:off x="4080813" y="2371154"/>
            <a:ext cx="1237200" cy="7278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Clr>
                <a:srgbClr val="000000"/>
              </a:buClr>
              <a:buSzPts val="2150"/>
              <a:buFont typeface="Arial"/>
              <a:buNone/>
            </a:pPr>
            <a:r>
              <a:rPr i="0" lang="en-US" sz="1550" u="none" cap="none" strike="noStrike">
                <a:solidFill>
                  <a:srgbClr val="000000"/>
                </a:solidFill>
                <a:latin typeface="Calibri"/>
                <a:ea typeface="Calibri"/>
                <a:cs typeface="Calibri"/>
                <a:sym typeface="Calibri"/>
              </a:rPr>
              <a:t>Ransomware  Affiliates buy Access</a:t>
            </a:r>
            <a:endParaRPr i="0" sz="800" u="none" cap="none" strike="noStrike">
              <a:solidFill>
                <a:srgbClr val="000000"/>
              </a:solidFill>
              <a:latin typeface="Calibri"/>
              <a:ea typeface="Calibri"/>
              <a:cs typeface="Calibri"/>
              <a:sym typeface="Calibri"/>
            </a:endParaRPr>
          </a:p>
        </p:txBody>
      </p:sp>
      <p:sp>
        <p:nvSpPr>
          <p:cNvPr id="172" name="Google Shape;172;p3"/>
          <p:cNvSpPr txBox="1"/>
          <p:nvPr/>
        </p:nvSpPr>
        <p:spPr>
          <a:xfrm>
            <a:off x="5724706" y="2371154"/>
            <a:ext cx="1748700" cy="9666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Clr>
                <a:srgbClr val="000000"/>
              </a:buClr>
              <a:buSzPts val="2150"/>
              <a:buFont typeface="Arial"/>
              <a:buNone/>
            </a:pPr>
            <a:r>
              <a:rPr i="0" lang="en-US" sz="1550" u="none" cap="none" strike="noStrike">
                <a:solidFill>
                  <a:srgbClr val="000000"/>
                </a:solidFill>
                <a:latin typeface="Calibri"/>
                <a:ea typeface="Calibri"/>
                <a:cs typeface="Calibri"/>
                <a:sym typeface="Calibri"/>
              </a:rPr>
              <a:t>Ransomware as a Service  Operators provide tools to  launch attacks</a:t>
            </a:r>
            <a:endParaRPr i="0" sz="800" u="none" cap="none" strike="noStrike">
              <a:solidFill>
                <a:srgbClr val="000000"/>
              </a:solidFill>
              <a:latin typeface="Calibri"/>
              <a:ea typeface="Calibri"/>
              <a:cs typeface="Calibri"/>
              <a:sym typeface="Calibri"/>
            </a:endParaRPr>
          </a:p>
        </p:txBody>
      </p:sp>
      <p:sp>
        <p:nvSpPr>
          <p:cNvPr id="173" name="Google Shape;173;p3"/>
          <p:cNvSpPr txBox="1"/>
          <p:nvPr/>
        </p:nvSpPr>
        <p:spPr>
          <a:xfrm>
            <a:off x="7700896" y="2392625"/>
            <a:ext cx="929100" cy="4932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150"/>
              <a:buFont typeface="Arial"/>
              <a:buNone/>
            </a:pPr>
            <a:r>
              <a:rPr i="0" lang="en-US" sz="1550" u="none" cap="none" strike="noStrike">
                <a:solidFill>
                  <a:srgbClr val="000000"/>
                </a:solidFill>
                <a:latin typeface="Calibri"/>
                <a:ea typeface="Calibri"/>
                <a:cs typeface="Calibri"/>
                <a:sym typeface="Calibri"/>
              </a:rPr>
              <a:t>Corporate Targets</a:t>
            </a:r>
            <a:endParaRPr i="0" sz="800" u="none" cap="none" strike="noStrike">
              <a:solidFill>
                <a:srgbClr val="000000"/>
              </a:solidFill>
              <a:latin typeface="Calibri"/>
              <a:ea typeface="Calibri"/>
              <a:cs typeface="Calibri"/>
              <a:sym typeface="Calibri"/>
            </a:endParaRPr>
          </a:p>
        </p:txBody>
      </p:sp>
      <p:sp>
        <p:nvSpPr>
          <p:cNvPr id="174" name="Google Shape;174;p3"/>
          <p:cNvSpPr txBox="1"/>
          <p:nvPr/>
        </p:nvSpPr>
        <p:spPr>
          <a:xfrm>
            <a:off x="457250" y="2371150"/>
            <a:ext cx="1572900" cy="1205100"/>
          </a:xfrm>
          <a:prstGeom prst="rect">
            <a:avLst/>
          </a:prstGeom>
          <a:noFill/>
          <a:ln>
            <a:noFill/>
          </a:ln>
        </p:spPr>
        <p:txBody>
          <a:bodyPr anchorCtr="0" anchor="t" bIns="0" lIns="0" spcFirstLastPara="1" rIns="0" wrap="square" tIns="12050">
            <a:spAutoFit/>
          </a:bodyPr>
          <a:lstStyle/>
          <a:p>
            <a:pPr indent="0" lvl="0" marL="0" marR="5080" rtl="0" algn="l">
              <a:lnSpc>
                <a:spcPct val="100000"/>
              </a:lnSpc>
              <a:spcBef>
                <a:spcPts val="0"/>
              </a:spcBef>
              <a:spcAft>
                <a:spcPts val="0"/>
              </a:spcAft>
              <a:buNone/>
            </a:pPr>
            <a:r>
              <a:rPr i="0" lang="en-US" sz="1550" u="none" cap="none" strike="noStrike">
                <a:solidFill>
                  <a:srgbClr val="000000"/>
                </a:solidFill>
                <a:latin typeface="Calibri"/>
                <a:ea typeface="Calibri"/>
                <a:cs typeface="Calibri"/>
                <a:sym typeface="Calibri"/>
              </a:rPr>
              <a:t>Stolen creds</a:t>
            </a:r>
            <a:endParaRPr i="0" sz="1550" u="none" cap="none" strike="noStrike">
              <a:solidFill>
                <a:srgbClr val="000000"/>
              </a:solidFill>
              <a:latin typeface="Calibri"/>
              <a:ea typeface="Calibri"/>
              <a:cs typeface="Calibri"/>
              <a:sym typeface="Calibri"/>
            </a:endParaRPr>
          </a:p>
          <a:p>
            <a:pPr indent="0" lvl="0" marL="0" marR="5080" rtl="0" algn="l">
              <a:lnSpc>
                <a:spcPct val="100000"/>
              </a:lnSpc>
              <a:spcBef>
                <a:spcPts val="0"/>
              </a:spcBef>
              <a:spcAft>
                <a:spcPts val="0"/>
              </a:spcAft>
              <a:buNone/>
            </a:pPr>
            <a:r>
              <a:rPr i="0" lang="en-US" sz="1550" u="none" cap="none" strike="noStrike">
                <a:solidFill>
                  <a:srgbClr val="000000"/>
                </a:solidFill>
                <a:latin typeface="Calibri"/>
                <a:ea typeface="Calibri"/>
                <a:cs typeface="Calibri"/>
                <a:sym typeface="Calibri"/>
              </a:rPr>
              <a:t>Mass Scan Exploiters</a:t>
            </a:r>
            <a:endParaRPr i="0" sz="800" u="none" cap="none" strike="noStrike">
              <a:solidFill>
                <a:srgbClr val="000000"/>
              </a:solidFill>
              <a:latin typeface="Calibri"/>
              <a:ea typeface="Calibri"/>
              <a:cs typeface="Calibri"/>
              <a:sym typeface="Calibri"/>
            </a:endParaRPr>
          </a:p>
          <a:p>
            <a:pPr indent="0" lvl="0" marL="0" marR="5080" rtl="0" algn="l">
              <a:lnSpc>
                <a:spcPct val="100000"/>
              </a:lnSpc>
              <a:spcBef>
                <a:spcPts val="0"/>
              </a:spcBef>
              <a:spcAft>
                <a:spcPts val="0"/>
              </a:spcAft>
              <a:buNone/>
            </a:pPr>
            <a:r>
              <a:rPr i="0" lang="en-US" sz="1550" u="none" cap="none" strike="noStrike">
                <a:solidFill>
                  <a:srgbClr val="000000"/>
                </a:solidFill>
                <a:latin typeface="Calibri"/>
                <a:ea typeface="Calibri"/>
                <a:cs typeface="Calibri"/>
                <a:sym typeface="Calibri"/>
              </a:rPr>
              <a:t>Targeted Spammers</a:t>
            </a:r>
            <a:endParaRPr i="0" sz="800" u="none" cap="none" strike="noStrike">
              <a:solidFill>
                <a:srgbClr val="000000"/>
              </a:solidFill>
              <a:latin typeface="Calibri"/>
              <a:ea typeface="Calibri"/>
              <a:cs typeface="Calibri"/>
              <a:sym typeface="Calibri"/>
            </a:endParaRPr>
          </a:p>
        </p:txBody>
      </p:sp>
      <p:grpSp>
        <p:nvGrpSpPr>
          <p:cNvPr id="175" name="Google Shape;175;p3"/>
          <p:cNvGrpSpPr/>
          <p:nvPr/>
        </p:nvGrpSpPr>
        <p:grpSpPr>
          <a:xfrm>
            <a:off x="1439536" y="2065716"/>
            <a:ext cx="550570" cy="45669"/>
            <a:chOff x="3091005" y="5792813"/>
            <a:chExt cx="1238349" cy="118745"/>
          </a:xfrm>
        </p:grpSpPr>
        <p:sp>
          <p:nvSpPr>
            <p:cNvPr id="176" name="Google Shape;176;p3"/>
            <p:cNvSpPr/>
            <p:nvPr/>
          </p:nvSpPr>
          <p:spPr>
            <a:xfrm>
              <a:off x="3091005" y="5852165"/>
              <a:ext cx="1238250" cy="0"/>
            </a:xfrm>
            <a:custGeom>
              <a:rect b="b" l="l" r="r" t="t"/>
              <a:pathLst>
                <a:path extrusionOk="0" h="120000" w="1238250">
                  <a:moveTo>
                    <a:pt x="0" y="0"/>
                  </a:moveTo>
                  <a:lnTo>
                    <a:pt x="1238048" y="0"/>
                  </a:lnTo>
                </a:path>
              </a:pathLst>
            </a:custGeom>
            <a:noFill/>
            <a:ln cap="flat" cmpd="sng" w="25125">
              <a:solidFill>
                <a:srgbClr val="F04024"/>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3"/>
            <p:cNvSpPr/>
            <p:nvPr/>
          </p:nvSpPr>
          <p:spPr>
            <a:xfrm>
              <a:off x="4265219" y="5792813"/>
              <a:ext cx="64135" cy="118745"/>
            </a:xfrm>
            <a:custGeom>
              <a:rect b="b" l="l" r="r" t="t"/>
              <a:pathLst>
                <a:path extrusionOk="0" h="118745" w="64135">
                  <a:moveTo>
                    <a:pt x="0" y="0"/>
                  </a:moveTo>
                  <a:lnTo>
                    <a:pt x="63843" y="59357"/>
                  </a:lnTo>
                  <a:lnTo>
                    <a:pt x="0" y="118702"/>
                  </a:lnTo>
                </a:path>
              </a:pathLst>
            </a:custGeom>
            <a:noFill/>
            <a:ln cap="flat" cmpd="sng" w="25125">
              <a:solidFill>
                <a:srgbClr val="F0402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8" name="Google Shape;178;p3"/>
          <p:cNvGrpSpPr/>
          <p:nvPr/>
        </p:nvGrpSpPr>
        <p:grpSpPr>
          <a:xfrm>
            <a:off x="4908707" y="2065716"/>
            <a:ext cx="606434" cy="45669"/>
            <a:chOff x="10893909" y="5792813"/>
            <a:chExt cx="1363999" cy="118745"/>
          </a:xfrm>
        </p:grpSpPr>
        <p:sp>
          <p:nvSpPr>
            <p:cNvPr id="179" name="Google Shape;179;p3"/>
            <p:cNvSpPr/>
            <p:nvPr/>
          </p:nvSpPr>
          <p:spPr>
            <a:xfrm>
              <a:off x="10893909" y="5852165"/>
              <a:ext cx="1363979" cy="0"/>
            </a:xfrm>
            <a:custGeom>
              <a:rect b="b" l="l" r="r" t="t"/>
              <a:pathLst>
                <a:path extrusionOk="0" h="120000" w="1363979">
                  <a:moveTo>
                    <a:pt x="0" y="0"/>
                  </a:moveTo>
                  <a:lnTo>
                    <a:pt x="1363698" y="0"/>
                  </a:lnTo>
                </a:path>
              </a:pathLst>
            </a:custGeom>
            <a:noFill/>
            <a:ln cap="flat" cmpd="sng" w="25125">
              <a:solidFill>
                <a:srgbClr val="F04024"/>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3"/>
            <p:cNvSpPr/>
            <p:nvPr/>
          </p:nvSpPr>
          <p:spPr>
            <a:xfrm>
              <a:off x="12193774" y="5792813"/>
              <a:ext cx="64134" cy="118745"/>
            </a:xfrm>
            <a:custGeom>
              <a:rect b="b" l="l" r="r" t="t"/>
              <a:pathLst>
                <a:path extrusionOk="0" h="118745" w="64134">
                  <a:moveTo>
                    <a:pt x="0" y="0"/>
                  </a:moveTo>
                  <a:lnTo>
                    <a:pt x="63843" y="59357"/>
                  </a:lnTo>
                  <a:lnTo>
                    <a:pt x="0" y="118702"/>
                  </a:lnTo>
                </a:path>
              </a:pathLst>
            </a:custGeom>
            <a:noFill/>
            <a:ln cap="flat" cmpd="sng" w="25125">
              <a:solidFill>
                <a:srgbClr val="F0402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81" name="Google Shape;181;p3"/>
          <p:cNvGrpSpPr/>
          <p:nvPr/>
        </p:nvGrpSpPr>
        <p:grpSpPr>
          <a:xfrm>
            <a:off x="6668432" y="2065716"/>
            <a:ext cx="874630" cy="45669"/>
            <a:chOff x="14851904" y="5792813"/>
            <a:chExt cx="1967230" cy="118745"/>
          </a:xfrm>
        </p:grpSpPr>
        <p:sp>
          <p:nvSpPr>
            <p:cNvPr id="182" name="Google Shape;182;p3"/>
            <p:cNvSpPr/>
            <p:nvPr/>
          </p:nvSpPr>
          <p:spPr>
            <a:xfrm>
              <a:off x="14851904" y="5852165"/>
              <a:ext cx="1967230" cy="0"/>
            </a:xfrm>
            <a:custGeom>
              <a:rect b="b" l="l" r="r" t="t"/>
              <a:pathLst>
                <a:path extrusionOk="0" h="120000" w="1967230">
                  <a:moveTo>
                    <a:pt x="0" y="0"/>
                  </a:moveTo>
                  <a:lnTo>
                    <a:pt x="1966821" y="0"/>
                  </a:lnTo>
                </a:path>
              </a:pathLst>
            </a:custGeom>
            <a:noFill/>
            <a:ln cap="flat" cmpd="sng" w="25125">
              <a:solidFill>
                <a:srgbClr val="F04024"/>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3"/>
            <p:cNvSpPr/>
            <p:nvPr/>
          </p:nvSpPr>
          <p:spPr>
            <a:xfrm>
              <a:off x="16754891" y="5792813"/>
              <a:ext cx="64134" cy="118745"/>
            </a:xfrm>
            <a:custGeom>
              <a:rect b="b" l="l" r="r" t="t"/>
              <a:pathLst>
                <a:path extrusionOk="0" h="118745" w="64134">
                  <a:moveTo>
                    <a:pt x="0" y="0"/>
                  </a:moveTo>
                  <a:lnTo>
                    <a:pt x="63843" y="59357"/>
                  </a:lnTo>
                  <a:lnTo>
                    <a:pt x="0" y="118702"/>
                  </a:lnTo>
                </a:path>
              </a:pathLst>
            </a:custGeom>
            <a:noFill/>
            <a:ln cap="flat" cmpd="sng" w="25125">
              <a:solidFill>
                <a:srgbClr val="F0402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84" name="Google Shape;184;p3"/>
          <p:cNvGrpSpPr/>
          <p:nvPr/>
        </p:nvGrpSpPr>
        <p:grpSpPr>
          <a:xfrm>
            <a:off x="3109877" y="2065716"/>
            <a:ext cx="718225" cy="45669"/>
            <a:chOff x="6847958" y="5792813"/>
            <a:chExt cx="1615440" cy="118745"/>
          </a:xfrm>
        </p:grpSpPr>
        <p:sp>
          <p:nvSpPr>
            <p:cNvPr id="185" name="Google Shape;185;p3"/>
            <p:cNvSpPr/>
            <p:nvPr/>
          </p:nvSpPr>
          <p:spPr>
            <a:xfrm>
              <a:off x="6847958" y="5852165"/>
              <a:ext cx="1615440" cy="0"/>
            </a:xfrm>
            <a:custGeom>
              <a:rect b="b" l="l" r="r" t="t"/>
              <a:pathLst>
                <a:path extrusionOk="0" h="120000" w="1615440">
                  <a:moveTo>
                    <a:pt x="0" y="0"/>
                  </a:moveTo>
                  <a:lnTo>
                    <a:pt x="1615000" y="0"/>
                  </a:lnTo>
                </a:path>
              </a:pathLst>
            </a:custGeom>
            <a:noFill/>
            <a:ln cap="flat" cmpd="sng" w="25125">
              <a:solidFill>
                <a:srgbClr val="F04024"/>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3"/>
            <p:cNvSpPr/>
            <p:nvPr/>
          </p:nvSpPr>
          <p:spPr>
            <a:xfrm>
              <a:off x="8399124" y="5792813"/>
              <a:ext cx="64134" cy="118745"/>
            </a:xfrm>
            <a:custGeom>
              <a:rect b="b" l="l" r="r" t="t"/>
              <a:pathLst>
                <a:path extrusionOk="0" h="118745" w="64134">
                  <a:moveTo>
                    <a:pt x="0" y="0"/>
                  </a:moveTo>
                  <a:lnTo>
                    <a:pt x="63843" y="59357"/>
                  </a:lnTo>
                  <a:lnTo>
                    <a:pt x="0" y="118702"/>
                  </a:lnTo>
                </a:path>
              </a:pathLst>
            </a:custGeom>
            <a:noFill/>
            <a:ln cap="flat" cmpd="sng" w="25125">
              <a:solidFill>
                <a:srgbClr val="F0402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57acf3ef38_0_2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Rising Cost of Inaction</a:t>
            </a:r>
            <a:endParaRPr/>
          </a:p>
        </p:txBody>
      </p:sp>
      <p:sp>
        <p:nvSpPr>
          <p:cNvPr id="192" name="Google Shape;192;g357acf3ef38_0_214"/>
          <p:cNvSpPr txBox="1"/>
          <p:nvPr>
            <p:ph idx="1" type="body"/>
          </p:nvPr>
        </p:nvSpPr>
        <p:spPr>
          <a:xfrm>
            <a:off x="219300" y="1705875"/>
            <a:ext cx="8705400" cy="45456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640"/>
              </a:spcBef>
              <a:spcAft>
                <a:spcPts val="0"/>
              </a:spcAft>
              <a:buNone/>
            </a:pPr>
            <a:r>
              <a:t/>
            </a:r>
            <a:endParaRPr sz="2400"/>
          </a:p>
          <a:p>
            <a:pPr indent="-358140" lvl="0" marL="457200" rtl="0" algn="l">
              <a:spcBef>
                <a:spcPts val="640"/>
              </a:spcBef>
              <a:spcAft>
                <a:spcPts val="0"/>
              </a:spcAft>
              <a:buSzPct val="100000"/>
              <a:buChar char="•"/>
            </a:pPr>
            <a:r>
              <a:rPr lang="en-US" sz="2400"/>
              <a:t>$1.1 Billion in Ransom Payments in 2023</a:t>
            </a:r>
            <a:endParaRPr sz="2400"/>
          </a:p>
          <a:p>
            <a:pPr indent="-358140" lvl="1" marL="914400" rtl="0" algn="l">
              <a:spcBef>
                <a:spcPts val="0"/>
              </a:spcBef>
              <a:spcAft>
                <a:spcPts val="0"/>
              </a:spcAft>
              <a:buSzPct val="100000"/>
              <a:buChar char="–"/>
            </a:pPr>
            <a:r>
              <a:rPr lang="en-US" sz="2400"/>
              <a:t>Businesses paid over $1.1 billion in ransom payments in 2023, marking the highest annual total to date. (</a:t>
            </a:r>
            <a:r>
              <a:rPr lang="en-US" sz="2400" u="sng">
                <a:solidFill>
                  <a:schemeClr val="hlink"/>
                </a:solidFill>
                <a:hlinkClick r:id="rId3"/>
              </a:rPr>
              <a:t>WIRED, 2024</a:t>
            </a:r>
            <a:r>
              <a:rPr lang="en-US" sz="2400"/>
              <a:t>) </a:t>
            </a:r>
            <a:endParaRPr sz="2400"/>
          </a:p>
          <a:p>
            <a:pPr indent="-358140" lvl="0" marL="457200" rtl="0" algn="l">
              <a:spcBef>
                <a:spcPts val="0"/>
              </a:spcBef>
              <a:spcAft>
                <a:spcPts val="0"/>
              </a:spcAft>
              <a:buSzPct val="100000"/>
              <a:buChar char="•"/>
            </a:pPr>
            <a:r>
              <a:rPr lang="en-US" sz="2400"/>
              <a:t>Average Recovery Cost of $2.73 Million in 2024</a:t>
            </a:r>
            <a:endParaRPr sz="2400"/>
          </a:p>
          <a:p>
            <a:pPr indent="-358140" lvl="1" marL="914400" rtl="0" algn="l">
              <a:spcBef>
                <a:spcPts val="0"/>
              </a:spcBef>
              <a:spcAft>
                <a:spcPts val="0"/>
              </a:spcAft>
              <a:buSzPct val="100000"/>
              <a:buChar char="–"/>
            </a:pPr>
            <a:r>
              <a:rPr lang="en-US" sz="2400"/>
              <a:t>The average cost for organizations to recover from a ransomware attack (excluding ransom payments) rose to $2.73 million in 2024, up from $1.82 million in 2023. (</a:t>
            </a:r>
            <a:r>
              <a:rPr lang="en-US" sz="2400" u="sng">
                <a:solidFill>
                  <a:schemeClr val="hlink"/>
                </a:solidFill>
                <a:hlinkClick r:id="rId4"/>
              </a:rPr>
              <a:t>Cyberreason.com, 2024</a:t>
            </a:r>
            <a:r>
              <a:rPr lang="en-US" sz="2400"/>
              <a:t>) ￼</a:t>
            </a:r>
            <a:endParaRPr sz="2400"/>
          </a:p>
          <a:p>
            <a:pPr indent="-358140" lvl="0" marL="457200" rtl="0" algn="l">
              <a:spcBef>
                <a:spcPts val="0"/>
              </a:spcBef>
              <a:spcAft>
                <a:spcPts val="0"/>
              </a:spcAft>
              <a:buSzPct val="100000"/>
              <a:buChar char="•"/>
            </a:pPr>
            <a:r>
              <a:rPr lang="en-US" sz="2400"/>
              <a:t>78% of Organizations Re-Breached After Paying Ransom</a:t>
            </a:r>
            <a:endParaRPr sz="2400"/>
          </a:p>
          <a:p>
            <a:pPr indent="-358140" lvl="1" marL="914400" rtl="0" algn="l">
              <a:spcBef>
                <a:spcPts val="0"/>
              </a:spcBef>
              <a:spcAft>
                <a:spcPts val="0"/>
              </a:spcAft>
              <a:buSzPct val="100000"/>
              <a:buChar char="–"/>
            </a:pPr>
            <a:r>
              <a:rPr lang="en-US" sz="2400"/>
              <a:t>Among organizations that paid a ransom, 78% experienced a subsequent breach, with 63% facing higher ransom demands the second time.  ￼</a:t>
            </a:r>
            <a:endParaRPr sz="2400"/>
          </a:p>
          <a:p>
            <a:pPr indent="-358140" lvl="0" marL="457200" rtl="0" algn="l">
              <a:spcBef>
                <a:spcPts val="0"/>
              </a:spcBef>
              <a:spcAft>
                <a:spcPts val="0"/>
              </a:spcAft>
              <a:buSzPct val="100000"/>
              <a:buChar char="•"/>
            </a:pPr>
            <a:r>
              <a:rPr lang="en-US" sz="2400"/>
              <a:t>$124.2 Billion Annual Cost to U.S. Businesses</a:t>
            </a:r>
            <a:endParaRPr sz="2400"/>
          </a:p>
          <a:p>
            <a:pPr indent="-358140" lvl="1" marL="914400" rtl="0" algn="l">
              <a:spcBef>
                <a:spcPts val="0"/>
              </a:spcBef>
              <a:spcAft>
                <a:spcPts val="0"/>
              </a:spcAft>
              <a:buSzPct val="100000"/>
              <a:buChar char="–"/>
            </a:pPr>
            <a:r>
              <a:rPr lang="en-US" sz="2400"/>
              <a:t>Ransomware exposure costs U.S. businesses an estimated $124.2 billion annually, encompassing ransom payments, downtime, recovery, and reputational damage.</a:t>
            </a:r>
            <a:endParaRPr sz="2400"/>
          </a:p>
          <a:p>
            <a:pPr indent="0" lvl="0" marL="0" rtl="0" algn="l">
              <a:spcBef>
                <a:spcPts val="640"/>
              </a:spcBef>
              <a:spcAft>
                <a:spcPts val="0"/>
              </a:spcAft>
              <a:buNone/>
            </a:pPr>
            <a:r>
              <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57acf3ef38_0_1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Anatomy of Third-Party Exposure</a:t>
            </a:r>
            <a:endParaRPr/>
          </a:p>
        </p:txBody>
      </p:sp>
      <p:sp>
        <p:nvSpPr>
          <p:cNvPr id="198" name="Google Shape;198;g357acf3ef38_0_16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640"/>
              </a:spcBef>
              <a:spcAft>
                <a:spcPts val="0"/>
              </a:spcAft>
              <a:buClr>
                <a:schemeClr val="dk1"/>
              </a:buClr>
              <a:buSzPts val="3200"/>
              <a:buChar char="•"/>
            </a:pPr>
            <a:r>
              <a:rPr lang="en-US"/>
              <a:t>Infostealer logs → Exposed credentials</a:t>
            </a:r>
            <a:endParaRPr/>
          </a:p>
          <a:p>
            <a:pPr indent="-374650" lvl="1" marL="742950" rtl="0" algn="l">
              <a:spcBef>
                <a:spcPts val="640"/>
              </a:spcBef>
              <a:spcAft>
                <a:spcPts val="0"/>
              </a:spcAft>
              <a:buClr>
                <a:schemeClr val="dk1"/>
              </a:buClr>
              <a:buSzPts val="3200"/>
              <a:buChar char="–"/>
            </a:pPr>
            <a:r>
              <a:rPr lang="en-US"/>
              <a:t>Logs from malware (RedLine, Raccoon, Vidar) that steal:</a:t>
            </a:r>
            <a:endParaRPr/>
          </a:p>
          <a:p>
            <a:pPr indent="-317500" lvl="2" marL="1143000" rtl="0" algn="l">
              <a:spcBef>
                <a:spcPts val="640"/>
              </a:spcBef>
              <a:spcAft>
                <a:spcPts val="0"/>
              </a:spcAft>
              <a:buClr>
                <a:schemeClr val="dk1"/>
              </a:buClr>
              <a:buSzPts val="3200"/>
              <a:buChar char="•"/>
            </a:pPr>
            <a:r>
              <a:rPr lang="en-US"/>
              <a:t>Browser-saved passwords</a:t>
            </a:r>
            <a:endParaRPr/>
          </a:p>
          <a:p>
            <a:pPr indent="-317500" lvl="2" marL="1143000" rtl="0" algn="l">
              <a:spcBef>
                <a:spcPts val="640"/>
              </a:spcBef>
              <a:spcAft>
                <a:spcPts val="0"/>
              </a:spcAft>
              <a:buClr>
                <a:schemeClr val="dk1"/>
              </a:buClr>
              <a:buSzPts val="3200"/>
              <a:buChar char="•"/>
            </a:pPr>
            <a:r>
              <a:rPr lang="en-US"/>
              <a:t>Session cookies</a:t>
            </a:r>
            <a:endParaRPr/>
          </a:p>
          <a:p>
            <a:pPr indent="-317500" lvl="2" marL="1143000" rtl="0" algn="l">
              <a:spcBef>
                <a:spcPts val="640"/>
              </a:spcBef>
              <a:spcAft>
                <a:spcPts val="0"/>
              </a:spcAft>
              <a:buClr>
                <a:schemeClr val="dk1"/>
              </a:buClr>
              <a:buSzPts val="3200"/>
              <a:buChar char="•"/>
            </a:pPr>
            <a:r>
              <a:rPr lang="en-US"/>
              <a:t>VPN/RMM credentials</a:t>
            </a:r>
            <a:endParaRPr/>
          </a:p>
          <a:p>
            <a:pPr indent="-317500" lvl="2" marL="1143000" rtl="0" algn="l">
              <a:spcBef>
                <a:spcPts val="640"/>
              </a:spcBef>
              <a:spcAft>
                <a:spcPts val="0"/>
              </a:spcAft>
              <a:buClr>
                <a:schemeClr val="dk1"/>
              </a:buClr>
              <a:buSzPts val="3200"/>
              <a:buChar char="•"/>
            </a:pPr>
            <a:r>
              <a:rPr lang="en-US"/>
              <a:t>Advertised on top tier forums, sold via established relationships in private chats: TOX, Jabber etc</a:t>
            </a:r>
            <a:endParaRPr/>
          </a:p>
          <a:p>
            <a:pPr indent="-317500" lvl="2" marL="1143000" rtl="0" algn="l">
              <a:spcBef>
                <a:spcPts val="640"/>
              </a:spcBef>
              <a:spcAft>
                <a:spcPts val="0"/>
              </a:spcAft>
              <a:buClr>
                <a:schemeClr val="dk1"/>
              </a:buClr>
              <a:buSzPts val="3200"/>
              <a:buChar char="•"/>
            </a:pPr>
            <a:r>
              <a:rPr lang="en-US"/>
              <a:t>Circulated in private Telegram groups, access marketplaces, and stealer log sites like “RussianMarket”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57acf3ef38_0_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Anatomy of Third-Party Exposure</a:t>
            </a:r>
            <a:endParaRPr/>
          </a:p>
        </p:txBody>
      </p:sp>
      <p:sp>
        <p:nvSpPr>
          <p:cNvPr id="204" name="Google Shape;204;g357acf3ef38_0_14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342900" rtl="0" algn="l">
              <a:spcBef>
                <a:spcPts val="640"/>
              </a:spcBef>
              <a:spcAft>
                <a:spcPts val="0"/>
              </a:spcAft>
              <a:buSzPts val="3200"/>
              <a:buChar char="•"/>
            </a:pPr>
            <a:r>
              <a:rPr lang="en-US"/>
              <a:t>Weak segmentation → Pivot path	</a:t>
            </a:r>
            <a:endParaRPr/>
          </a:p>
          <a:p>
            <a:pPr indent="-374650" lvl="1" marL="742950" rtl="0" algn="l">
              <a:spcBef>
                <a:spcPts val="640"/>
              </a:spcBef>
              <a:spcAft>
                <a:spcPts val="0"/>
              </a:spcAft>
              <a:buSzPts val="3200"/>
              <a:buChar char="–"/>
            </a:pPr>
            <a:r>
              <a:rPr lang="en-US"/>
              <a:t>Segmenting internal networks or vendor access zones to prevent lateral movement</a:t>
            </a:r>
            <a:endParaRPr/>
          </a:p>
          <a:p>
            <a:pPr indent="-374650" lvl="1" marL="742950" rtl="0" algn="l">
              <a:spcBef>
                <a:spcPts val="640"/>
              </a:spcBef>
              <a:spcAft>
                <a:spcPts val="0"/>
              </a:spcAft>
              <a:buSzPts val="3200"/>
              <a:buChar char="–"/>
            </a:pPr>
            <a:r>
              <a:rPr lang="en-US"/>
              <a:t>Example: If your HVAC vendor has access to your billing system, you’ve got a segmentation issue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57acf3ef38_0_1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Anatomy of Third-Party Exposure</a:t>
            </a:r>
            <a:endParaRPr/>
          </a:p>
        </p:txBody>
      </p:sp>
      <p:sp>
        <p:nvSpPr>
          <p:cNvPr id="210" name="Google Shape;210;g357acf3ef38_0_14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300"/>
              <a:t>Overlapping identities → Lateral movement</a:t>
            </a:r>
            <a:endParaRPr b="1" sz="2300"/>
          </a:p>
          <a:p>
            <a:pPr indent="-374650" lvl="0" marL="457200" rtl="0" algn="l">
              <a:lnSpc>
                <a:spcPct val="115000"/>
              </a:lnSpc>
              <a:spcBef>
                <a:spcPts val="1200"/>
              </a:spcBef>
              <a:spcAft>
                <a:spcPts val="0"/>
              </a:spcAft>
              <a:buSzPts val="2300"/>
              <a:buFont typeface="Calibri"/>
              <a:buChar char="●"/>
            </a:pPr>
            <a:r>
              <a:rPr lang="en-US" sz="2300"/>
              <a:t>A vendor using the same password across two client environments</a:t>
            </a:r>
            <a:br>
              <a:rPr lang="en-US" sz="2300"/>
            </a:br>
            <a:endParaRPr sz="2300"/>
          </a:p>
          <a:p>
            <a:pPr indent="-374650" lvl="0" marL="457200" rtl="0" algn="l">
              <a:lnSpc>
                <a:spcPct val="115000"/>
              </a:lnSpc>
              <a:spcBef>
                <a:spcPts val="0"/>
              </a:spcBef>
              <a:spcAft>
                <a:spcPts val="0"/>
              </a:spcAft>
              <a:buSzPts val="2300"/>
              <a:buFont typeface="Calibri"/>
              <a:buChar char="●"/>
            </a:pPr>
            <a:r>
              <a:rPr lang="en-US" sz="2300"/>
              <a:t>An IT admin using personal email as a backup for corp accounts</a:t>
            </a:r>
            <a:br>
              <a:rPr lang="en-US" sz="2300"/>
            </a:br>
            <a:endParaRPr sz="2300"/>
          </a:p>
          <a:p>
            <a:pPr indent="-374650" lvl="0" marL="457200" rtl="0" algn="l">
              <a:lnSpc>
                <a:spcPct val="115000"/>
              </a:lnSpc>
              <a:spcBef>
                <a:spcPts val="0"/>
              </a:spcBef>
              <a:spcAft>
                <a:spcPts val="0"/>
              </a:spcAft>
              <a:buSzPts val="2300"/>
              <a:buFont typeface="Calibri"/>
              <a:buChar char="●"/>
            </a:pPr>
            <a:r>
              <a:rPr lang="en-US" sz="2300"/>
              <a:t>Single SSO login shared between vendors and internal users = risk across tenants</a:t>
            </a:r>
            <a:endParaRPr sz="4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57acf3ef38_0_1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Anatomy of Third-Party Exposure</a:t>
            </a:r>
            <a:endParaRPr/>
          </a:p>
        </p:txBody>
      </p:sp>
      <p:sp>
        <p:nvSpPr>
          <p:cNvPr id="216" name="Google Shape;216;g357acf3ef38_0_15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640"/>
              </a:spcBef>
              <a:spcAft>
                <a:spcPts val="0"/>
              </a:spcAft>
              <a:buNone/>
            </a:pPr>
            <a:r>
              <a:rPr lang="en-US"/>
              <a:t>Unnoticed reuse</a:t>
            </a:r>
            <a:endParaRPr/>
          </a:p>
          <a:p>
            <a:pPr indent="-342900" lvl="0" marL="342900" rtl="0" algn="l">
              <a:spcBef>
                <a:spcPts val="640"/>
              </a:spcBef>
              <a:spcAft>
                <a:spcPts val="0"/>
              </a:spcAft>
              <a:buSzPts val="1800"/>
              <a:buChar char="•"/>
            </a:pPr>
            <a:r>
              <a:rPr lang="en-US"/>
              <a:t>Credential stolen months ago via infostealer</a:t>
            </a:r>
            <a:endParaRPr/>
          </a:p>
          <a:p>
            <a:pPr indent="-342900" lvl="0" marL="342900" rtl="0" algn="l">
              <a:spcBef>
                <a:spcPts val="0"/>
              </a:spcBef>
              <a:spcAft>
                <a:spcPts val="0"/>
              </a:spcAft>
              <a:buSzPts val="1800"/>
              <a:buChar char="•"/>
            </a:pPr>
            <a:r>
              <a:rPr lang="en-US"/>
              <a:t>Password never rotated</a:t>
            </a:r>
            <a:endParaRPr/>
          </a:p>
          <a:p>
            <a:pPr indent="-342900" lvl="0" marL="342900" rtl="0" algn="l">
              <a:spcBef>
                <a:spcPts val="0"/>
              </a:spcBef>
              <a:spcAft>
                <a:spcPts val="0"/>
              </a:spcAft>
              <a:buSzPts val="1800"/>
              <a:buChar char="•"/>
            </a:pPr>
            <a:r>
              <a:rPr lang="en-US"/>
              <a:t>New IAB picks it up, sells it again = repeat compromise</a:t>
            </a:r>
            <a:endParaRPr/>
          </a:p>
          <a:p>
            <a:pPr indent="-342900" lvl="0" marL="342900" rtl="0" algn="l">
              <a:spcBef>
                <a:spcPts val="0"/>
              </a:spcBef>
              <a:spcAft>
                <a:spcPts val="0"/>
              </a:spcAft>
              <a:buSzPts val="1800"/>
              <a:buChar char="•"/>
            </a:pPr>
            <a:r>
              <a:rPr lang="en-US"/>
              <a:t>Often reused across multiple SaaS platforms (e.g., O365, VPN, Salesforce)</a:t>
            </a:r>
            <a:endParaRPr/>
          </a:p>
          <a:p>
            <a:pPr indent="0" lvl="0" marL="0" rtl="0" algn="l">
              <a:spcBef>
                <a:spcPts val="64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The DWIQ Approach: </a:t>
            </a:r>
            <a:r>
              <a:rPr lang="en-US"/>
              <a:t>Focus on the root cause - Initial Access Broker ecosystem</a:t>
            </a:r>
            <a:endParaRPr/>
          </a:p>
        </p:txBody>
      </p:sp>
      <p:sp>
        <p:nvSpPr>
          <p:cNvPr id="222" name="Google Shape;2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276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We identify not just the breach, but the brokered access path before it becomes ransomware.</a:t>
            </a:r>
            <a:endParaRPr/>
          </a:p>
          <a:p>
            <a:pPr indent="-32766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We trace credential lineage back to stealer logs, forums, and sale patterns.</a:t>
            </a:r>
            <a:endParaRPr/>
          </a:p>
          <a:p>
            <a:pPr indent="-32766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We notify not for noise — but when posture can be changed</a:t>
            </a:r>
            <a:r>
              <a:rPr lang="en-US"/>
              <a:t> and can mitigate - actionability is the gold standard of real intelligence</a:t>
            </a:r>
            <a:endParaRPr/>
          </a:p>
          <a:p>
            <a:pPr indent="-245427" lvl="0" marL="342900" rtl="0" algn="l">
              <a:spcBef>
                <a:spcPts val="640"/>
              </a:spcBef>
              <a:spcAft>
                <a:spcPts val="0"/>
              </a:spcAft>
              <a:buSzPct val="56250"/>
              <a:buChar char="•"/>
            </a:pPr>
            <a:r>
              <a:rPr lang="en-US"/>
              <a:t>we must ask ourselves, “is this intelligence changing our security posture?” “is it leading us to take action?”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4b13b09b7a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Offensive</a:t>
            </a:r>
            <a:r>
              <a:rPr lang="en-US"/>
              <a:t> Intelligence Operations and Collection</a:t>
            </a:r>
            <a:endParaRPr/>
          </a:p>
        </p:txBody>
      </p:sp>
      <p:sp>
        <p:nvSpPr>
          <p:cNvPr id="228" name="Google Shape;228;g34b13b09b7a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640"/>
              </a:spcBef>
              <a:spcAft>
                <a:spcPts val="0"/>
              </a:spcAft>
              <a:buClr>
                <a:schemeClr val="dk1"/>
              </a:buClr>
              <a:buSzPts val="3200"/>
              <a:buChar char="•"/>
            </a:pPr>
            <a:r>
              <a:rPr lang="en-US"/>
              <a:t>Intelligence</a:t>
            </a:r>
            <a:r>
              <a:rPr lang="en-US"/>
              <a:t> cycle: </a:t>
            </a:r>
            <a:endParaRPr/>
          </a:p>
          <a:p>
            <a:pPr indent="0" lvl="0" marL="0" rtl="0" algn="l">
              <a:spcBef>
                <a:spcPts val="640"/>
              </a:spcBef>
              <a:spcAft>
                <a:spcPts val="0"/>
              </a:spcAft>
              <a:buNone/>
            </a:pPr>
            <a:r>
              <a:t/>
            </a:r>
            <a:endParaRPr/>
          </a:p>
        </p:txBody>
      </p:sp>
      <p:sp>
        <p:nvSpPr>
          <p:cNvPr id="229" name="Google Shape;229;g34b13b09b7a_0_0"/>
          <p:cNvSpPr/>
          <p:nvPr/>
        </p:nvSpPr>
        <p:spPr>
          <a:xfrm>
            <a:off x="3686275" y="2170825"/>
            <a:ext cx="1828800" cy="9144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1. Planning</a:t>
            </a:r>
            <a:endParaRPr>
              <a:solidFill>
                <a:schemeClr val="dk1"/>
              </a:solidFill>
            </a:endParaRPr>
          </a:p>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&amp; Direction</a:t>
            </a:r>
            <a:endParaRPr>
              <a:solidFill>
                <a:schemeClr val="dk1"/>
              </a:solidFill>
            </a:endParaRPr>
          </a:p>
        </p:txBody>
      </p:sp>
      <p:sp>
        <p:nvSpPr>
          <p:cNvPr id="230" name="Google Shape;230;g34b13b09b7a_0_0"/>
          <p:cNvSpPr/>
          <p:nvPr/>
        </p:nvSpPr>
        <p:spPr>
          <a:xfrm>
            <a:off x="6146137" y="3267765"/>
            <a:ext cx="1828800" cy="9144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2. Data</a:t>
            </a:r>
            <a:endParaRPr>
              <a:solidFill>
                <a:schemeClr val="dk1"/>
              </a:solidFill>
            </a:endParaRPr>
          </a:p>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Collection</a:t>
            </a:r>
            <a:endParaRPr>
              <a:solidFill>
                <a:schemeClr val="dk1"/>
              </a:solidFill>
            </a:endParaRPr>
          </a:p>
        </p:txBody>
      </p:sp>
      <p:sp>
        <p:nvSpPr>
          <p:cNvPr id="231" name="Google Shape;231;g34b13b09b7a_0_0"/>
          <p:cNvSpPr/>
          <p:nvPr/>
        </p:nvSpPr>
        <p:spPr>
          <a:xfrm>
            <a:off x="5911487" y="5492802"/>
            <a:ext cx="1828800" cy="9144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3. Processing</a:t>
            </a:r>
            <a:endParaRPr>
              <a:solidFill>
                <a:schemeClr val="dk1"/>
              </a:solidFill>
            </a:endParaRPr>
          </a:p>
        </p:txBody>
      </p:sp>
      <p:sp>
        <p:nvSpPr>
          <p:cNvPr id="232" name="Google Shape;232;g34b13b09b7a_0_0"/>
          <p:cNvSpPr/>
          <p:nvPr/>
        </p:nvSpPr>
        <p:spPr>
          <a:xfrm>
            <a:off x="1961912" y="5492810"/>
            <a:ext cx="1828800" cy="9144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4. Analysis</a:t>
            </a:r>
            <a:endParaRPr>
              <a:solidFill>
                <a:schemeClr val="dk1"/>
              </a:solidFill>
            </a:endParaRPr>
          </a:p>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&amp; Production</a:t>
            </a:r>
            <a:endParaRPr>
              <a:solidFill>
                <a:schemeClr val="dk1"/>
              </a:solidFill>
            </a:endParaRPr>
          </a:p>
        </p:txBody>
      </p:sp>
      <p:sp>
        <p:nvSpPr>
          <p:cNvPr id="233" name="Google Shape;233;g34b13b09b7a_0_0"/>
          <p:cNvSpPr/>
          <p:nvPr/>
        </p:nvSpPr>
        <p:spPr>
          <a:xfrm>
            <a:off x="1169087" y="3233321"/>
            <a:ext cx="1828800" cy="914400"/>
          </a:xfrm>
          <a:prstGeom prst="roundRect">
            <a:avLst>
              <a:gd fmla="val 16667" name="adj"/>
            </a:avLst>
          </a:prstGeom>
          <a:solidFill>
            <a:srgbClr val="FFFFFF"/>
          </a:solidFill>
          <a:ln cap="flat" cmpd="sng" w="9525">
            <a:solidFill>
              <a:srgbClr val="00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5. Dissemination</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57acf3ef38_0_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Offensive Intelligence Operations and Collection</a:t>
            </a:r>
            <a:endParaRPr/>
          </a:p>
        </p:txBody>
      </p:sp>
      <p:sp>
        <p:nvSpPr>
          <p:cNvPr id="239" name="Google Shape;239;g357acf3ef38_0_17"/>
          <p:cNvSpPr txBox="1"/>
          <p:nvPr>
            <p:ph idx="1" type="body"/>
          </p:nvPr>
        </p:nvSpPr>
        <p:spPr>
          <a:xfrm>
            <a:off x="457200" y="1600200"/>
            <a:ext cx="8229600" cy="477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US" sz="1700"/>
              <a:t>What it takes to run disciplined, effective intelligence operations in a misattributable underground ecosystem:</a:t>
            </a:r>
            <a:endParaRPr b="1" sz="1700"/>
          </a:p>
          <a:p>
            <a:pPr indent="-336550" lvl="0" marL="457200" rtl="0" algn="l">
              <a:lnSpc>
                <a:spcPct val="100000"/>
              </a:lnSpc>
              <a:spcBef>
                <a:spcPts val="1200"/>
              </a:spcBef>
              <a:spcAft>
                <a:spcPts val="0"/>
              </a:spcAft>
              <a:buSzPts val="1700"/>
              <a:buChar char="●"/>
            </a:pPr>
            <a:r>
              <a:rPr b="1" lang="en-US" sz="1700"/>
              <a:t>Undercover personas: </a:t>
            </a:r>
            <a:r>
              <a:rPr lang="en-US" sz="1700"/>
              <a:t>Built with backstory, behavioral consistency, and operational purpose</a:t>
            </a:r>
            <a:br>
              <a:rPr lang="en-US" sz="1700"/>
            </a:br>
            <a:endParaRPr sz="1700"/>
          </a:p>
          <a:p>
            <a:pPr indent="-336550" lvl="0" marL="457200" rtl="0" algn="l">
              <a:lnSpc>
                <a:spcPct val="100000"/>
              </a:lnSpc>
              <a:spcBef>
                <a:spcPts val="0"/>
              </a:spcBef>
              <a:spcAft>
                <a:spcPts val="0"/>
              </a:spcAft>
              <a:buSzPts val="1700"/>
              <a:buFont typeface="Calibri"/>
              <a:buChar char="●"/>
            </a:pPr>
            <a:r>
              <a:rPr b="1" lang="en-US" sz="1700"/>
              <a:t>Reputation seasoning: </a:t>
            </a:r>
            <a:r>
              <a:rPr lang="en-US" sz="1700"/>
              <a:t>Time + presence → credibility in hard-to-access forums, gated channels, or encrypted markets</a:t>
            </a:r>
            <a:br>
              <a:rPr lang="en-US" sz="1700"/>
            </a:br>
            <a:endParaRPr sz="1700"/>
          </a:p>
          <a:p>
            <a:pPr indent="-336550" lvl="0" marL="457200" rtl="0" algn="l">
              <a:lnSpc>
                <a:spcPct val="100000"/>
              </a:lnSpc>
              <a:spcBef>
                <a:spcPts val="0"/>
              </a:spcBef>
              <a:spcAft>
                <a:spcPts val="0"/>
              </a:spcAft>
              <a:buSzPts val="1700"/>
              <a:buFont typeface="Calibri"/>
              <a:buChar char="●"/>
            </a:pPr>
            <a:r>
              <a:rPr b="1" lang="en-US" sz="1700"/>
              <a:t>Technical expertise for misattribution</a:t>
            </a:r>
            <a:br>
              <a:rPr b="1" lang="en-US" sz="1700"/>
            </a:br>
            <a:endParaRPr b="1" sz="1700"/>
          </a:p>
          <a:p>
            <a:pPr indent="-336550" lvl="1" marL="914400" rtl="0" algn="l">
              <a:lnSpc>
                <a:spcPct val="100000"/>
              </a:lnSpc>
              <a:spcBef>
                <a:spcPts val="0"/>
              </a:spcBef>
              <a:spcAft>
                <a:spcPts val="0"/>
              </a:spcAft>
              <a:buSzPts val="1700"/>
              <a:buFont typeface="Calibri"/>
              <a:buChar char="○"/>
            </a:pPr>
            <a:r>
              <a:rPr lang="en-US" sz="1700"/>
              <a:t>Crypto hygiene, laundering simulation, burner wallet movement</a:t>
            </a:r>
            <a:br>
              <a:rPr lang="en-US" sz="1700"/>
            </a:br>
            <a:endParaRPr sz="1700"/>
          </a:p>
          <a:p>
            <a:pPr indent="-336550" lvl="1" marL="914400" rtl="0" algn="l">
              <a:lnSpc>
                <a:spcPct val="100000"/>
              </a:lnSpc>
              <a:spcBef>
                <a:spcPts val="0"/>
              </a:spcBef>
              <a:spcAft>
                <a:spcPts val="0"/>
              </a:spcAft>
              <a:buSzPts val="1700"/>
              <a:buFont typeface="Calibri"/>
              <a:buChar char="○"/>
            </a:pPr>
            <a:r>
              <a:rPr lang="en-US" sz="1700"/>
              <a:t>Operational infrastructure: clean VMs, proxies, unmanaged cloud infrastructure</a:t>
            </a:r>
            <a:br>
              <a:rPr lang="en-US" sz="1700"/>
            </a:br>
            <a:endParaRPr sz="1700"/>
          </a:p>
          <a:p>
            <a:pPr indent="-336550" lvl="0" marL="457200" rtl="0" algn="l">
              <a:lnSpc>
                <a:spcPct val="100000"/>
              </a:lnSpc>
              <a:spcBef>
                <a:spcPts val="0"/>
              </a:spcBef>
              <a:spcAft>
                <a:spcPts val="0"/>
              </a:spcAft>
              <a:buSzPts val="1700"/>
              <a:buFont typeface="Calibri"/>
              <a:buChar char="●"/>
            </a:pPr>
            <a:r>
              <a:rPr b="1" lang="en-US" sz="1700"/>
              <a:t>Cultural fluency: </a:t>
            </a:r>
            <a:r>
              <a:rPr lang="en-US" sz="1700"/>
              <a:t>Underground etiquette, language, timing, nuance</a:t>
            </a:r>
            <a:br>
              <a:rPr lang="en-US" sz="1700"/>
            </a:br>
            <a:endParaRPr sz="1700"/>
          </a:p>
          <a:p>
            <a:pPr indent="-336550" lvl="0" marL="457200" rtl="0" algn="l">
              <a:lnSpc>
                <a:spcPct val="100000"/>
              </a:lnSpc>
              <a:spcBef>
                <a:spcPts val="0"/>
              </a:spcBef>
              <a:spcAft>
                <a:spcPts val="0"/>
              </a:spcAft>
              <a:buSzPts val="1700"/>
              <a:buFont typeface="Calibri"/>
              <a:buChar char="●"/>
            </a:pPr>
            <a:r>
              <a:rPr b="1" lang="en-US" sz="1700"/>
              <a:t>“Street expertise”: </a:t>
            </a:r>
            <a:r>
              <a:rPr lang="en-US" sz="1700"/>
              <a:t>Ability to read deception, navigate actor intent, defend cover challenges, negotiate like a criminal </a:t>
            </a:r>
            <a:br>
              <a:rPr lang="en-US" sz="1700"/>
            </a:br>
            <a:endParaRPr sz="1700"/>
          </a:p>
          <a:p>
            <a:pPr indent="0" lvl="0" marL="0" rtl="0" algn="l">
              <a:lnSpc>
                <a:spcPct val="100000"/>
              </a:lnSpc>
              <a:spcBef>
                <a:spcPts val="1200"/>
              </a:spcBef>
              <a:spcAft>
                <a:spcPts val="0"/>
              </a:spcAft>
              <a:buNone/>
            </a:pPr>
            <a:r>
              <a:t/>
            </a:r>
            <a:endParaRPr sz="3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Impact of Practicing Intelligence</a:t>
            </a:r>
            <a:endParaRPr/>
          </a:p>
        </p:txBody>
      </p:sp>
      <p:sp>
        <p:nvSpPr>
          <p:cNvPr id="245" name="Google Shape;245;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To those managing supply chain security — we offer more than detection. We offer discernment.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Less noise. More clarity.</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Less reaction. More posture insight.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 Less marketing. More </a:t>
            </a:r>
            <a:r>
              <a:rPr lang="en-US"/>
              <a:t>actionability</a:t>
            </a:r>
            <a:r>
              <a:rPr lang="en-US" sz="3200">
                <a:solidFill>
                  <a:schemeClr val="dk1"/>
                </a:solidFill>
                <a:latin typeface="Calibri"/>
                <a:ea typeface="Calibri"/>
                <a:cs typeface="Calibri"/>
                <a:sym typeface="Calibri"/>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57acf3ef38_0_111"/>
          <p:cNvSpPr txBox="1"/>
          <p:nvPr>
            <p:ph type="title"/>
          </p:nvPr>
        </p:nvSpPr>
        <p:spPr>
          <a:xfrm>
            <a:off x="457200" y="274654"/>
            <a:ext cx="8229600" cy="1477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2590"/>
              <a:buFont typeface="Calibri"/>
              <a:buNone/>
            </a:pPr>
            <a:r>
              <a:rPr lang="en-US"/>
              <a:t>What Offensive Intelligence Makes Possible: </a:t>
            </a:r>
            <a:r>
              <a:rPr i="1" lang="en-US" sz="4288"/>
              <a:t>Outcomes from disciplined, source-facing intelligence operations</a:t>
            </a:r>
            <a:endParaRPr i="1" sz="4288"/>
          </a:p>
        </p:txBody>
      </p:sp>
      <p:sp>
        <p:nvSpPr>
          <p:cNvPr id="251" name="Google Shape;251;g357acf3ef38_0_111"/>
          <p:cNvSpPr txBox="1"/>
          <p:nvPr>
            <p:ph idx="1" type="body"/>
          </p:nvPr>
        </p:nvSpPr>
        <p:spPr>
          <a:xfrm>
            <a:off x="457200" y="1981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US" sz="2500"/>
              <a:t>DWIQ Intelligence Outcomes (All Clients)</a:t>
            </a:r>
            <a:endParaRPr b="1" sz="2500"/>
          </a:p>
          <a:p>
            <a:pPr indent="-349250" lvl="0" marL="457200" rtl="0" algn="l">
              <a:lnSpc>
                <a:spcPct val="115000"/>
              </a:lnSpc>
              <a:spcBef>
                <a:spcPts val="1200"/>
              </a:spcBef>
              <a:spcAft>
                <a:spcPts val="0"/>
              </a:spcAft>
              <a:buSzPts val="1900"/>
              <a:buChar char="●"/>
            </a:pPr>
            <a:r>
              <a:rPr b="1" lang="en-US" sz="1900"/>
              <a:t>72 access broker interceptions this month</a:t>
            </a:r>
            <a:r>
              <a:rPr lang="en-US" sz="1900"/>
              <a:t> — threats stopped before resale</a:t>
            </a:r>
            <a:br>
              <a:rPr lang="en-US" sz="1900"/>
            </a:br>
            <a:endParaRPr sz="1900"/>
          </a:p>
          <a:p>
            <a:pPr indent="-349250" lvl="0" marL="457200" rtl="0" algn="l">
              <a:lnSpc>
                <a:spcPct val="115000"/>
              </a:lnSpc>
              <a:spcBef>
                <a:spcPts val="0"/>
              </a:spcBef>
              <a:spcAft>
                <a:spcPts val="0"/>
              </a:spcAft>
              <a:buSzPts val="1900"/>
              <a:buChar char="●"/>
            </a:pPr>
            <a:r>
              <a:rPr b="1" lang="en-US" sz="1900"/>
              <a:t>1,627 all-time access broker interceptions</a:t>
            </a:r>
            <a:r>
              <a:rPr lang="en-US" sz="1900"/>
              <a:t> — credentials acquired before ransomware groups</a:t>
            </a:r>
            <a:br>
              <a:rPr lang="en-US" sz="1900"/>
            </a:br>
            <a:endParaRPr sz="1900"/>
          </a:p>
          <a:p>
            <a:pPr indent="-349250" lvl="0" marL="457200" rtl="0" algn="l">
              <a:lnSpc>
                <a:spcPct val="115000"/>
              </a:lnSpc>
              <a:spcBef>
                <a:spcPts val="0"/>
              </a:spcBef>
              <a:spcAft>
                <a:spcPts val="0"/>
              </a:spcAft>
              <a:buSzPts val="1900"/>
              <a:buChar char="●"/>
            </a:pPr>
            <a:r>
              <a:rPr b="1" lang="en-US" sz="1900"/>
              <a:t>80 FBI notifications this month</a:t>
            </a:r>
            <a:r>
              <a:rPr lang="en-US" sz="1900"/>
              <a:t> — national-level alerts delivered in real time</a:t>
            </a:r>
            <a:br>
              <a:rPr lang="en-US" sz="1900"/>
            </a:br>
            <a:endParaRPr sz="1900"/>
          </a:p>
          <a:p>
            <a:pPr indent="-349250" lvl="0" marL="457200" rtl="0" algn="l">
              <a:lnSpc>
                <a:spcPct val="115000"/>
              </a:lnSpc>
              <a:spcBef>
                <a:spcPts val="0"/>
              </a:spcBef>
              <a:spcAft>
                <a:spcPts val="0"/>
              </a:spcAft>
              <a:buSzPts val="1900"/>
              <a:buChar char="●"/>
            </a:pPr>
            <a:r>
              <a:rPr b="1" lang="en-US" sz="1900"/>
              <a:t>2,183 all-time FBI notifications</a:t>
            </a:r>
            <a:r>
              <a:rPr lang="en-US" sz="1900"/>
              <a:t> — helping law enforcement intervene early</a:t>
            </a:r>
            <a:br>
              <a:rPr lang="en-US" sz="1900"/>
            </a:br>
            <a:endParaRPr sz="1900"/>
          </a:p>
          <a:p>
            <a:pPr indent="-349250" lvl="0" marL="457200" rtl="0" algn="l">
              <a:lnSpc>
                <a:spcPct val="115000"/>
              </a:lnSpc>
              <a:spcBef>
                <a:spcPts val="0"/>
              </a:spcBef>
              <a:spcAft>
                <a:spcPts val="0"/>
              </a:spcAft>
              <a:buSzPts val="1900"/>
              <a:buChar char="●"/>
            </a:pPr>
            <a:r>
              <a:rPr b="1" lang="en-US" sz="1900"/>
              <a:t>482 all-time threat actors engaged</a:t>
            </a:r>
            <a:r>
              <a:rPr lang="en-US" sz="1900"/>
              <a:t> — real adversaries tracked, disrupted, and denied</a:t>
            </a:r>
            <a:br>
              <a:rPr lang="en-US" sz="1900">
                <a:latin typeface="Arial"/>
                <a:ea typeface="Arial"/>
                <a:cs typeface="Arial"/>
                <a:sym typeface="Arial"/>
              </a:rPr>
            </a:br>
            <a:endParaRPr sz="3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Tradecraft Over Alerts</a:t>
            </a:r>
            <a:endParaRPr/>
          </a:p>
        </p:txBody>
      </p:sp>
      <p:sp>
        <p:nvSpPr>
          <p:cNvPr id="257" name="Google Shape;25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DWIQ take the practice of intelligence </a:t>
            </a:r>
            <a:r>
              <a:rPr lang="en-US"/>
              <a:t>in our mission. The sole purpose of our alerts and what we publish…?</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Third-party risk intelligence isn’t a product. It’s a pattern of presence and discernment.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Where others issue tickets, we offer insight that shifts posture.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