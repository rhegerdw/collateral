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71" r:id="rId40"/>
    <p:sldId id="272" r:id="rId41"/>
    <p:sldId id="267" r:id="rId18"/>
    <p:sldId id="268" r:id="rId19"/>
    <p:sldId id="269" r:id="rId20"/>
    <p:sldId id="270" r:id="rId21"/>
  </p:sldIdLst>
  <p:sldSz cy="5143500" cx="9144000"/>
  <p:notesSz cx="5143500" cy="9144000"/>
  <p:embeddedFontLst>
    <p:embeddedFont>
      <p:font typeface="Poppins"/>
      <p:regular r:id="rId22"/>
      <p:bold r:id="rId23"/>
      <p:italic r:id="rId24"/>
      <p:boldItalic r:id="rId25"/>
    </p:embeddedFont>
    <p:embeddedFont>
      <p:font typeface="Urbanist Medium"/>
      <p:regular r:id="rId26"/>
      <p:bold r:id="rId27"/>
      <p:italic r:id="rId28"/>
      <p:boldItalic r:id="rId29"/>
    </p:embeddedFont>
    <p:embeddedFont>
      <p:font typeface="Urbanist"/>
      <p:regular r:id="rId30"/>
      <p:bold r:id="rId31"/>
      <p:italic r:id="rId32"/>
      <p:boldItalic r:id="rId33"/>
    </p:embeddedFont>
    <p:embeddedFont>
      <p:font typeface="Poppins SemiBold"/>
      <p:regular r:id="rId34"/>
      <p:bold r:id="rId35"/>
      <p:italic r:id="rId36"/>
      <p:boldItalic r:id="rId37"/>
    </p:embeddedFont>
    <p:embeddedFont>
      <p:font typeface="Arial Black"/>
      <p:regular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hw4D4zT9evS9x1OGIrvCReF4/7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61F8F6-6232-4D0D-AD0A-DFC891C72FA0}">
  <a:tblStyle styleId="{9861F8F6-6232-4D0D-AD0A-DFC891C72FA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Poppins-regular.fntdata"/><Relationship Id="rId23" Type="http://schemas.openxmlformats.org/officeDocument/2006/relationships/font" Target="fonts/Poppins-bold.fntdata"/><Relationship Id="rId24" Type="http://schemas.openxmlformats.org/officeDocument/2006/relationships/font" Target="fonts/Poppins-italic.fntdata"/><Relationship Id="rId25" Type="http://schemas.openxmlformats.org/officeDocument/2006/relationships/font" Target="fonts/Poppins-boldItalic.fntdata"/><Relationship Id="rId26" Type="http://schemas.openxmlformats.org/officeDocument/2006/relationships/font" Target="fonts/UrbanistMedium-regular.fntdata"/><Relationship Id="rId27" Type="http://schemas.openxmlformats.org/officeDocument/2006/relationships/font" Target="fonts/UrbanistMedium-bold.fntdata"/><Relationship Id="rId28" Type="http://schemas.openxmlformats.org/officeDocument/2006/relationships/font" Target="fonts/UrbanistMedium-italic.fntdata"/><Relationship Id="rId29" Type="http://schemas.openxmlformats.org/officeDocument/2006/relationships/font" Target="fonts/UrbanistMedium-boldItalic.fntdata"/><Relationship Id="rId30" Type="http://schemas.openxmlformats.org/officeDocument/2006/relationships/font" Target="fonts/Urbanist-regular.fntdata"/><Relationship Id="rId31" Type="http://schemas.openxmlformats.org/officeDocument/2006/relationships/font" Target="fonts/Urbanist-bold.fntdata"/><Relationship Id="rId32" Type="http://schemas.openxmlformats.org/officeDocument/2006/relationships/font" Target="fonts/Urbanist-italic.fntdata"/><Relationship Id="rId33" Type="http://schemas.openxmlformats.org/officeDocument/2006/relationships/font" Target="fonts/Urbanist-boldItalic.fntdata"/><Relationship Id="rId34" Type="http://schemas.openxmlformats.org/officeDocument/2006/relationships/font" Target="fonts/PoppinsSemiBold-regular.fntdata"/><Relationship Id="rId35" Type="http://schemas.openxmlformats.org/officeDocument/2006/relationships/font" Target="fonts/PoppinsSemiBold-bold.fntdata"/><Relationship Id="rId36" Type="http://schemas.openxmlformats.org/officeDocument/2006/relationships/font" Target="fonts/PoppinsSemiBold-italic.fntdata"/><Relationship Id="rId37" Type="http://schemas.openxmlformats.org/officeDocument/2006/relationships/font" Target="fonts/PoppinsSemiBold-boldItalic.fntdata"/><Relationship Id="rId38" Type="http://schemas.openxmlformats.org/officeDocument/2006/relationships/font" Target="fonts/ArialBlack-regular.fntdata"/><Relationship Id="rId39" Type="http://customschemas.google.com/relationships/presentationmetadata" Target="metadata"/><Relationship Id="rId40" Type="http://schemas.openxmlformats.org/officeDocument/2006/relationships/slide" Target="slides/slide16.xml"/><Relationship Id="rId41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" name="Google Shape;63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1" name="Google Shape;63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2" name="Google Shape;6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5" name="Google Shape;6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4" name="Google Shape;6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5" name="Google Shape;68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dd022f08b5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6" name="Google Shape;696;g3dd022f08b5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7" name="Google Shape;697;g3dd022f08b5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7" name="Google Shape;7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8" name="Google Shape;71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cfb7ec7a87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9" name="Google Shape;729;g3cfb7ec7a87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0" name="Google Shape;730;g3cfb7ec7a87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cfb7ec7a87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8" name="Google Shape;758;g3cfb7ec7a87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9" name="Google Shape;759;g3cfb7ec7a87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cfb7ec7a87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5" name="Google Shape;775;g3cfb7ec7a87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6" name="Google Shape;776;g3cfb7ec7a87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cfb7ec7a87_0_1401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4" name="Google Shape;784;g3cfb7ec7a87_0_1401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8" name="Google Shape;81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9" name="Google Shape;81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2" name="Google Shape;84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3" name="Google Shape;84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1" name="Google Shape;86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2" name="Google Shape;86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0" name="Google Shape;89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1" name="Google Shape;89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4" name="Google Shape;91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5" name="Google Shape;91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oadmap">
  <p:cSld name="BLANK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cfb7ec7a87_0_1476"/>
          <p:cNvSpPr txBox="1"/>
          <p:nvPr>
            <p:ph idx="1" type="subTitle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7" name="Google Shape;17;g3cfb7ec7a87_0_1476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8" name="Google Shape;18;g3cfb7ec7a87_0_1476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9" name="Google Shape;19;g3cfb7ec7a87_0_1476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0" name="Google Shape;20;g3cfb7ec7a87_0_1476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1" name="Google Shape;21;g3cfb7ec7a87_0_1476"/>
          <p:cNvSpPr txBox="1"/>
          <p:nvPr>
            <p:ph idx="6" type="body"/>
          </p:nvPr>
        </p:nvSpPr>
        <p:spPr>
          <a:xfrm>
            <a:off x="271250" y="3263085"/>
            <a:ext cx="15087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" name="Google Shape;22;g3cfb7ec7a87_0_1476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" name="Google Shape;23;g3cfb7ec7a87_0_1476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4" name="Google Shape;24;g3cfb7ec7a87_0_1476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5" name="Google Shape;25;g3cfb7ec7a87_0_1476"/>
          <p:cNvSpPr txBox="1"/>
          <p:nvPr>
            <p:ph idx="13" type="body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" name="Google Shape;26;g3cfb7ec7a87_0_1476"/>
          <p:cNvSpPr txBox="1"/>
          <p:nvPr>
            <p:ph idx="14" type="subTitle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" name="Google Shape;27;g3cfb7ec7a87_0_1476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" name="Google Shape;28;g3cfb7ec7a87_0_1476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9" name="Google Shape;29;g3cfb7ec7a87_0_1476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" name="Google Shape;30;g3cfb7ec7a87_0_1476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1" name="Google Shape;31;g3cfb7ec7a87_0_147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g3cfb7ec7a87_0_1476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" name="Google Shape;33;g3cfb7ec7a87_0_1476"/>
          <p:cNvSpPr txBox="1"/>
          <p:nvPr>
            <p:ph idx="20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" name="Google Shape;34;g3cfb7ec7a87_0_1476"/>
          <p:cNvSpPr txBox="1"/>
          <p:nvPr>
            <p:ph idx="21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" name="Google Shape;35;g3cfb7ec7a87_0_147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36" name="Google Shape;36;g3cfb7ec7a87_0_147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cfb7ec7a87_0_1439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9pPr>
          </a:lstStyle>
          <a:p/>
        </p:txBody>
      </p:sp>
      <p:sp>
        <p:nvSpPr>
          <p:cNvPr id="39" name="Google Shape;39;g3cfb7ec7a87_0_1439"/>
          <p:cNvSpPr/>
          <p:nvPr/>
        </p:nvSpPr>
        <p:spPr>
          <a:xfrm flipH="1">
            <a:off x="1350050" y="2493850"/>
            <a:ext cx="2836800" cy="2649600"/>
          </a:xfrm>
          <a:prstGeom prst="pie">
            <a:avLst>
              <a:gd fmla="val 21585343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g3cfb7ec7a87_0_1439"/>
          <p:cNvSpPr/>
          <p:nvPr/>
        </p:nvSpPr>
        <p:spPr>
          <a:xfrm flipH="1" rot="5400000">
            <a:off x="58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1" name="Google Shape;41;g3cfb7ec7a87_0_1439"/>
          <p:cNvSpPr/>
          <p:nvPr/>
        </p:nvSpPr>
        <p:spPr>
          <a:xfrm>
            <a:off x="0" y="0"/>
            <a:ext cx="2768400" cy="269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" name="Google Shape;42;g3cfb7ec7a87_0_1439"/>
          <p:cNvSpPr/>
          <p:nvPr/>
        </p:nvSpPr>
        <p:spPr>
          <a:xfrm>
            <a:off x="-100" y="2699025"/>
            <a:ext cx="1653900" cy="11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" name="Google Shape;43;g3cfb7ec7a87_0_1439"/>
          <p:cNvSpPr/>
          <p:nvPr/>
        </p:nvSpPr>
        <p:spPr>
          <a:xfrm>
            <a:off x="1653900" y="2701600"/>
            <a:ext cx="1114500" cy="11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" name="Google Shape;44;g3cfb7ec7a87_0_1439"/>
          <p:cNvSpPr txBox="1"/>
          <p:nvPr>
            <p:ph idx="1" type="subTitle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5" name="Google Shape;45;g3cfb7ec7a87_0_143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6" name="Google Shape;46;g3cfb7ec7a87_0_14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cfb7ec7a87_0_144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9" name="Google Shape;49;g3cfb7ec7a87_0_144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0" name="Google Shape;50;g3cfb7ec7a87_0_144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1" name="Google Shape;51;g3cfb7ec7a87_0_1449"/>
          <p:cNvSpPr/>
          <p:nvPr/>
        </p:nvSpPr>
        <p:spPr>
          <a:xfrm flipH="1">
            <a:off x="284701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2" name="Google Shape;52;g3cfb7ec7a87_0_1449"/>
          <p:cNvSpPr/>
          <p:nvPr/>
        </p:nvSpPr>
        <p:spPr>
          <a:xfrm>
            <a:off x="927633" y="474750"/>
            <a:ext cx="14634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3" name="Google Shape;53;g3cfb7ec7a87_0_1449"/>
          <p:cNvSpPr/>
          <p:nvPr/>
        </p:nvSpPr>
        <p:spPr>
          <a:xfrm flipH="1">
            <a:off x="1322410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" name="Google Shape;54;g3cfb7ec7a87_0_1449"/>
          <p:cNvSpPr/>
          <p:nvPr/>
        </p:nvSpPr>
        <p:spPr>
          <a:xfrm>
            <a:off x="2309186" y="474990"/>
            <a:ext cx="13992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" name="Google Shape;55;g3cfb7ec7a87_0_1449"/>
          <p:cNvSpPr/>
          <p:nvPr/>
        </p:nvSpPr>
        <p:spPr>
          <a:xfrm flipH="1">
            <a:off x="2685553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" name="Google Shape;56;g3cfb7ec7a87_0_1449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57" name="Google Shape;57;g3cfb7ec7a87_0_144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58" name="Google Shape;58;g3cfb7ec7a87_0_14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fb7ec7a87_0_1461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g3cfb7ec7a87_0_1461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2" name="Google Shape;62;g3cfb7ec7a87_0_1461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3" name="Google Shape;63;g3cfb7ec7a87_0_1461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4" name="Google Shape;64;g3cfb7ec7a87_0_146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65" name="Google Shape;65;g3cfb7ec7a87_0_14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2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cfb7ec7a87_0_1468"/>
          <p:cNvSpPr txBox="1"/>
          <p:nvPr>
            <p:ph idx="1" type="subTitle"/>
          </p:nvPr>
        </p:nvSpPr>
        <p:spPr>
          <a:xfrm>
            <a:off x="286975" y="1143000"/>
            <a:ext cx="4429800" cy="5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8" name="Google Shape;68;g3cfb7ec7a87_0_1468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9" name="Google Shape;69;g3cfb7ec7a87_0_1468"/>
          <p:cNvSpPr txBox="1"/>
          <p:nvPr>
            <p:ph idx="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0" name="Google Shape;70;g3cfb7ec7a87_0_1468"/>
          <p:cNvSpPr txBox="1"/>
          <p:nvPr>
            <p:ph idx="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1" name="Google Shape;71;g3cfb7ec7a87_0_1468"/>
          <p:cNvSpPr txBox="1"/>
          <p:nvPr>
            <p:ph idx="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2" name="Google Shape;72;g3cfb7ec7a87_0_146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73" name="Google Shape;73;g3cfb7ec7a87_0_14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hape">
  <p:cSld name="BLANK_1_1_1_1_1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fb7ec7a87_0_1498"/>
          <p:cNvSpPr/>
          <p:nvPr/>
        </p:nvSpPr>
        <p:spPr>
          <a:xfrm>
            <a:off x="0" y="3859125"/>
            <a:ext cx="20043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g3cfb7ec7a87_0_1498"/>
          <p:cNvSpPr/>
          <p:nvPr/>
        </p:nvSpPr>
        <p:spPr>
          <a:xfrm flipH="1" rot="10800000">
            <a:off x="6571675" y="3851200"/>
            <a:ext cx="12708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7" name="Google Shape;77;g3cfb7ec7a87_0_1498"/>
          <p:cNvSpPr/>
          <p:nvPr/>
        </p:nvSpPr>
        <p:spPr>
          <a:xfrm flipH="1" rot="10800000">
            <a:off x="7217867" y="3851200"/>
            <a:ext cx="12825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8" name="Google Shape;78;g3cfb7ec7a87_0_1498"/>
          <p:cNvSpPr/>
          <p:nvPr/>
        </p:nvSpPr>
        <p:spPr>
          <a:xfrm rot="5400000">
            <a:off x="3193350" y="-1811400"/>
            <a:ext cx="2757600" cy="8574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" name="Google Shape;79;g3cfb7ec7a87_0_1498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80" name="Google Shape;80;g3cfb7ec7a87_0_149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1" name="Google Shape;81;g3cfb7ec7a87_0_149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2" name="Google Shape;82;g3cfb7ec7a87_0_149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3" name="Google Shape;83;g3cfb7ec7a87_0_149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84" name="Google Shape;84;g3cfb7ec7a87_0_149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fb7ec7a87_0_1509"/>
          <p:cNvSpPr txBox="1"/>
          <p:nvPr>
            <p:ph idx="1" type="subTitle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7" name="Google Shape;87;g3cfb7ec7a87_0_1509"/>
          <p:cNvSpPr/>
          <p:nvPr/>
        </p:nvSpPr>
        <p:spPr>
          <a:xfrm flipH="1" rot="5400000">
            <a:off x="6571675" y="2571675"/>
            <a:ext cx="5143500" cy="5143500"/>
          </a:xfrm>
          <a:prstGeom prst="pie">
            <a:avLst>
              <a:gd fmla="val 21589913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8" name="Google Shape;88;g3cfb7ec7a87_0_1509"/>
          <p:cNvSpPr/>
          <p:nvPr/>
        </p:nvSpPr>
        <p:spPr>
          <a:xfrm flipH="1" rot="5400000">
            <a:off x="6571675" y="-8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9" name="Google Shape;89;g3cfb7ec7a87_0_1509"/>
          <p:cNvSpPr txBox="1"/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9pPr>
          </a:lstStyle>
          <a:p/>
        </p:txBody>
      </p:sp>
      <p:sp>
        <p:nvSpPr>
          <p:cNvPr id="90" name="Google Shape;90;g3cfb7ec7a87_0_150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91" name="Google Shape;91;g3cfb7ec7a87_0_150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2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fb7ec7a87_0_1516"/>
          <p:cNvSpPr txBox="1"/>
          <p:nvPr>
            <p:ph idx="1" type="body"/>
          </p:nvPr>
        </p:nvSpPr>
        <p:spPr>
          <a:xfrm>
            <a:off x="379650" y="3500000"/>
            <a:ext cx="13893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94" name="Google Shape;94;g3cfb7ec7a87_0_1516"/>
          <p:cNvSpPr txBox="1"/>
          <p:nvPr>
            <p:ph idx="2" type="body"/>
          </p:nvPr>
        </p:nvSpPr>
        <p:spPr>
          <a:xfrm>
            <a:off x="2255275" y="3500000"/>
            <a:ext cx="13893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95" name="Google Shape;95;g3cfb7ec7a87_0_1516"/>
          <p:cNvSpPr txBox="1"/>
          <p:nvPr>
            <p:ph idx="3" type="body"/>
          </p:nvPr>
        </p:nvSpPr>
        <p:spPr>
          <a:xfrm>
            <a:off x="4130900" y="3500000"/>
            <a:ext cx="13893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96" name="Google Shape;96;g3cfb7ec7a87_0_1516"/>
          <p:cNvSpPr txBox="1"/>
          <p:nvPr>
            <p:ph idx="4" type="body"/>
          </p:nvPr>
        </p:nvSpPr>
        <p:spPr>
          <a:xfrm>
            <a:off x="6006525" y="3500000"/>
            <a:ext cx="13893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97" name="Google Shape;97;g3cfb7ec7a87_0_1516"/>
          <p:cNvSpPr txBox="1"/>
          <p:nvPr>
            <p:ph type="title"/>
          </p:nvPr>
        </p:nvSpPr>
        <p:spPr>
          <a:xfrm>
            <a:off x="308784" y="1188147"/>
            <a:ext cx="7206000" cy="6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8" name="Google Shape;98;g3cfb7ec7a87_0_1516"/>
          <p:cNvSpPr txBox="1"/>
          <p:nvPr>
            <p:ph idx="5" type="subTitle"/>
          </p:nvPr>
        </p:nvSpPr>
        <p:spPr>
          <a:xfrm>
            <a:off x="308784" y="1922075"/>
            <a:ext cx="72060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9" name="Google Shape;99;g3cfb7ec7a87_0_1516"/>
          <p:cNvSpPr txBox="1"/>
          <p:nvPr>
            <p:ph idx="6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0" name="Google Shape;100;g3cfb7ec7a87_0_1516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1" name="Google Shape;101;g3cfb7ec7a87_0_1516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2" name="Google Shape;102;g3cfb7ec7a87_0_151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03" name="Google Shape;103;g3cfb7ec7a87_0_15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">
  <p:cSld name="BLANK_1_1_1_1_1_1_1_1_1_1_1_2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fb7ec7a87_0_152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6" name="Google Shape;106;g3cfb7ec7a87_0_152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7" name="Google Shape;107;g3cfb7ec7a87_0_1528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8" name="Google Shape;108;g3cfb7ec7a87_0_1528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9" name="Google Shape;109;g3cfb7ec7a87_0_1528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0" name="Google Shape;110;g3cfb7ec7a87_0_1528"/>
          <p:cNvSpPr/>
          <p:nvPr>
            <p:ph idx="4" type="pic"/>
          </p:nvPr>
        </p:nvSpPr>
        <p:spPr>
          <a:xfrm>
            <a:off x="6364300" y="0"/>
            <a:ext cx="2779500" cy="38136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11" name="Google Shape;111;g3cfb7ec7a87_0_1528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4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9pPr>
          </a:lstStyle>
          <a:p/>
        </p:txBody>
      </p:sp>
      <p:sp>
        <p:nvSpPr>
          <p:cNvPr id="112" name="Google Shape;112;g3cfb7ec7a87_0_1528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13" name="Google Shape;113;g3cfb7ec7a87_0_152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14" name="Google Shape;114;g3cfb7ec7a87_0_15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2">
  <p:cSld name="BLANK_1_1_1_1_1_1_1_1_1_1_1_2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fb7ec7a87_0_1539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" name="Google Shape;117;g3cfb7ec7a87_0_1539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" name="Google Shape;118;g3cfb7ec7a87_0_1539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9" name="Google Shape;119;g3cfb7ec7a87_0_1539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0" name="Google Shape;120;g3cfb7ec7a87_0_1539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21" name="Google Shape;121;g3cfb7ec7a87_0_1539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22" name="Google Shape;122;g3cfb7ec7a87_0_1539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3" name="Google Shape;123;g3cfb7ec7a87_0_1539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24" name="Google Shape;124;g3cfb7ec7a87_0_1539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25" name="Google Shape;125;g3cfb7ec7a87_0_1539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6" name="Google Shape;126;g3cfb7ec7a87_0_153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27" name="Google Shape;127;g3cfb7ec7a87_0_15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3">
  <p:cSld name="BLANK_1_1_1_1_1_1_1_1_1_1_1_2_1_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fb7ec7a87_0_155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0" name="Google Shape;130;g3cfb7ec7a87_0_1552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grpSp>
        <p:nvGrpSpPr>
          <p:cNvPr id="131" name="Google Shape;131;g3cfb7ec7a87_0_1552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32" name="Google Shape;132;g3cfb7ec7a87_0_1552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33" name="Google Shape;133;g3cfb7ec7a87_0_1552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34" name="Google Shape;134;g3cfb7ec7a87_0_1552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35" name="Google Shape;135;g3cfb7ec7a87_0_1552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6" name="Google Shape;136;g3cfb7ec7a87_0_1552"/>
          <p:cNvSpPr/>
          <p:nvPr>
            <p:ph idx="4" type="pic"/>
          </p:nvPr>
        </p:nvSpPr>
        <p:spPr>
          <a:xfrm rot="10800000">
            <a:off x="6324525" y="0"/>
            <a:ext cx="2819400" cy="3715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37" name="Google Shape;137;g3cfb7ec7a87_0_1552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38" name="Google Shape;138;g3cfb7ec7a87_0_1552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9" name="Google Shape;139;g3cfb7ec7a87_0_155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40" name="Google Shape;140;g3cfb7ec7a87_0_15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4">
  <p:cSld name="BLANK_1_1_1_1_1_1_1_1_1_1_1_2_1_1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fb7ec7a87_0_1565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3" name="Google Shape;143;g3cfb7ec7a87_0_1565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4" name="Google Shape;144;g3cfb7ec7a87_0_1565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5" name="Google Shape;145;g3cfb7ec7a87_0_1565"/>
          <p:cNvSpPr/>
          <p:nvPr>
            <p:ph idx="2" type="pic"/>
          </p:nvPr>
        </p:nvSpPr>
        <p:spPr>
          <a:xfrm>
            <a:off x="6355775" y="1418625"/>
            <a:ext cx="2788200" cy="37251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46" name="Google Shape;146;g3cfb7ec7a87_0_1565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9pPr>
          </a:lstStyle>
          <a:p/>
        </p:txBody>
      </p:sp>
      <p:sp>
        <p:nvSpPr>
          <p:cNvPr id="147" name="Google Shape;147;g3cfb7ec7a87_0_1565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8" name="Google Shape;148;g3cfb7ec7a87_0_1565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9" name="Google Shape;149;g3cfb7ec7a87_0_1565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50" name="Google Shape;150;g3cfb7ec7a87_0_1565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1" name="Google Shape;151;g3cfb7ec7a87_0_156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52" name="Google Shape;152;g3cfb7ec7a87_0_15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5">
  <p:cSld name="CUSTOM_7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fb7ec7a87_0_1577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5" name="Google Shape;155;g3cfb7ec7a87_0_1577"/>
          <p:cNvSpPr/>
          <p:nvPr/>
        </p:nvSpPr>
        <p:spPr>
          <a:xfrm flipH="1" rot="10800000">
            <a:off x="7069375" y="3760875"/>
            <a:ext cx="13596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6" name="Google Shape;156;g3cfb7ec7a87_0_1577"/>
          <p:cNvSpPr/>
          <p:nvPr/>
        </p:nvSpPr>
        <p:spPr>
          <a:xfrm flipH="1" rot="10800000">
            <a:off x="7760700" y="3760875"/>
            <a:ext cx="13722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7" name="Google Shape;157;g3cfb7ec7a87_0_1577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8" name="Google Shape;158;g3cfb7ec7a87_0_1577"/>
          <p:cNvSpPr/>
          <p:nvPr>
            <p:ph idx="2" type="pic"/>
          </p:nvPr>
        </p:nvSpPr>
        <p:spPr>
          <a:xfrm rot="10800000">
            <a:off x="6364225" y="0"/>
            <a:ext cx="2784600" cy="3775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59" name="Google Shape;159;g3cfb7ec7a87_0_1577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9pPr>
          </a:lstStyle>
          <a:p/>
        </p:txBody>
      </p:sp>
      <p:sp>
        <p:nvSpPr>
          <p:cNvPr id="160" name="Google Shape;160;g3cfb7ec7a87_0_1577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61" name="Google Shape;161;g3cfb7ec7a87_0_1577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2" name="Google Shape;162;g3cfb7ec7a87_0_1577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3" name="Google Shape;163;g3cfb7ec7a87_0_157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64" name="Google Shape;164;g3cfb7ec7a87_0_157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6">
  <p:cSld name="CUSTOM_8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fb7ec7a87_0_158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7" name="Google Shape;167;g3cfb7ec7a87_0_158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8" name="Google Shape;168;g3cfb7ec7a87_0_1589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9" name="Google Shape;169;g3cfb7ec7a87_0_1589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0" name="Google Shape;170;g3cfb7ec7a87_0_1589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1" name="Google Shape;171;g3cfb7ec7a87_0_1589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4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9pPr>
          </a:lstStyle>
          <a:p/>
        </p:txBody>
      </p:sp>
      <p:sp>
        <p:nvSpPr>
          <p:cNvPr id="172" name="Google Shape;172;g3cfb7ec7a87_0_1589"/>
          <p:cNvSpPr txBox="1"/>
          <p:nvPr>
            <p:ph idx="4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73" name="Google Shape;173;g3cfb7ec7a87_0_1589"/>
          <p:cNvSpPr/>
          <p:nvPr/>
        </p:nvSpPr>
        <p:spPr>
          <a:xfrm>
            <a:off x="6375075" y="10125"/>
            <a:ext cx="2757600" cy="37944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4" name="Google Shape;174;g3cfb7ec7a87_0_1589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5" name="Google Shape;175;g3cfb7ec7a87_0_158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76" name="Google Shape;176;g3cfb7ec7a87_0_158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7">
  <p:cSld name="CUSTOM_8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fb7ec7a87_0_1601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9" name="Google Shape;179;g3cfb7ec7a87_0_1601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0" name="Google Shape;180;g3cfb7ec7a87_0_1601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1" name="Google Shape;181;g3cfb7ec7a87_0_1601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2" name="Google Shape;182;g3cfb7ec7a87_0_1601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3" name="Google Shape;183;g3cfb7ec7a87_0_1601"/>
          <p:cNvSpPr txBox="1"/>
          <p:nvPr>
            <p:ph idx="2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4" name="Google Shape;184;g3cfb7ec7a87_0_1601"/>
          <p:cNvSpPr txBox="1"/>
          <p:nvPr>
            <p:ph idx="3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5" name="Google Shape;185;g3cfb7ec7a87_0_1601"/>
          <p:cNvSpPr txBox="1"/>
          <p:nvPr>
            <p:ph idx="4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6" name="Google Shape;186;g3cfb7ec7a87_0_1601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7" name="Google Shape;187;g3cfb7ec7a87_0_1601"/>
          <p:cNvSpPr/>
          <p:nvPr/>
        </p:nvSpPr>
        <p:spPr>
          <a:xfrm>
            <a:off x="6345359" y="1240774"/>
            <a:ext cx="2801400" cy="24798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8" name="Google Shape;188;g3cfb7ec7a87_0_160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89" name="Google Shape;189;g3cfb7ec7a87_0_160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8">
  <p:cSld name="CUSTOM_8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fb7ec7a87_0_1614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2" name="Google Shape;192;g3cfb7ec7a87_0_1614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3" name="Google Shape;193;g3cfb7ec7a87_0_1614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94" name="Google Shape;194;g3cfb7ec7a87_0_1614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95" name="Google Shape;195;g3cfb7ec7a87_0_1614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96" name="Google Shape;196;g3cfb7ec7a87_0_1614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97" name="Google Shape;197;g3cfb7ec7a87_0_1614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98" name="Google Shape;198;g3cfb7ec7a87_0_1614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9" name="Google Shape;199;g3cfb7ec7a87_0_161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00" name="Google Shape;200;g3cfb7ec7a87_0_1614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1" name="Google Shape;201;g3cfb7ec7a87_0_161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202" name="Google Shape;202;g3cfb7ec7a87_0_16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9">
  <p:cSld name="CUSTOM_8_1_1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fb7ec7a87_0_162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5" name="Google Shape;205;g3cfb7ec7a87_0_162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6" name="Google Shape;206;g3cfb7ec7a87_0_162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7" name="Google Shape;207;g3cfb7ec7a87_0_1627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8" name="Google Shape;208;g3cfb7ec7a87_0_1627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9" name="Google Shape;209;g3cfb7ec7a87_0_1627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10" name="Google Shape;210;g3cfb7ec7a87_0_1627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9pPr>
          </a:lstStyle>
          <a:p/>
        </p:txBody>
      </p:sp>
      <p:sp>
        <p:nvSpPr>
          <p:cNvPr id="211" name="Google Shape;211;g3cfb7ec7a87_0_1627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2" name="Google Shape;212;g3cfb7ec7a87_0_1627"/>
          <p:cNvSpPr/>
          <p:nvPr/>
        </p:nvSpPr>
        <p:spPr>
          <a:xfrm>
            <a:off x="6366275" y="1427825"/>
            <a:ext cx="2768100" cy="3705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3" name="Google Shape;213;g3cfb7ec7a87_0_162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214" name="Google Shape;214;g3cfb7ec7a87_0_16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0">
  <p:cSld name="CUSTOM_8_1_1_1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fb7ec7a87_0_163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7" name="Google Shape;217;g3cfb7ec7a87_0_163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8" name="Google Shape;218;g3cfb7ec7a87_0_163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9" name="Google Shape;219;g3cfb7ec7a87_0_1639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0" name="Google Shape;220;g3cfb7ec7a87_0_1639"/>
          <p:cNvSpPr/>
          <p:nvPr/>
        </p:nvSpPr>
        <p:spPr>
          <a:xfrm flipH="1" rot="10800000">
            <a:off x="7069375" y="3773775"/>
            <a:ext cx="13596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g3cfb7ec7a87_0_1639"/>
          <p:cNvSpPr/>
          <p:nvPr/>
        </p:nvSpPr>
        <p:spPr>
          <a:xfrm flipH="1" rot="10800000">
            <a:off x="7760700" y="3773775"/>
            <a:ext cx="13722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2" name="Google Shape;222;g3cfb7ec7a87_0_1639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3" name="Google Shape;223;g3cfb7ec7a87_0_1639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9pPr>
          </a:lstStyle>
          <a:p/>
        </p:txBody>
      </p:sp>
      <p:sp>
        <p:nvSpPr>
          <p:cNvPr id="224" name="Google Shape;224;g3cfb7ec7a87_0_1639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5" name="Google Shape;225;g3cfb7ec7a87_0_1639"/>
          <p:cNvSpPr/>
          <p:nvPr/>
        </p:nvSpPr>
        <p:spPr>
          <a:xfrm rot="10800000">
            <a:off x="6377600" y="8800"/>
            <a:ext cx="2758800" cy="37542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6" name="Google Shape;226;g3cfb7ec7a87_0_163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227" name="Google Shape;227;g3cfb7ec7a87_0_16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cfb7ec7a87_0_1652"/>
          <p:cNvSpPr txBox="1"/>
          <p:nvPr>
            <p:ph idx="1" type="subTitle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0" name="Google Shape;230;g3cfb7ec7a87_0_1652"/>
          <p:cNvSpPr/>
          <p:nvPr/>
        </p:nvSpPr>
        <p:spPr>
          <a:xfrm flipH="1">
            <a:off x="1350000" y="2442900"/>
            <a:ext cx="2849100" cy="2700600"/>
          </a:xfrm>
          <a:prstGeom prst="pie">
            <a:avLst>
              <a:gd fmla="val 21586474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1" name="Google Shape;231;g3cfb7ec7a87_0_1652"/>
          <p:cNvSpPr/>
          <p:nvPr/>
        </p:nvSpPr>
        <p:spPr>
          <a:xfrm flipH="1" rot="5400000">
            <a:off x="-6000" y="3795800"/>
            <a:ext cx="2712600" cy="2700600"/>
          </a:xfrm>
          <a:prstGeom prst="pie">
            <a:avLst>
              <a:gd fmla="val 25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2" name="Google Shape;232;g3cfb7ec7a87_0_1652"/>
          <p:cNvSpPr/>
          <p:nvPr/>
        </p:nvSpPr>
        <p:spPr>
          <a:xfrm flipH="1" rot="5400000">
            <a:off x="-125" y="2402250"/>
            <a:ext cx="2775600" cy="27756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3" name="Google Shape;233;g3cfb7ec7a87_0_1652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4" name="Google Shape;234;g3cfb7ec7a87_0_1652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5" name="Google Shape;235;g3cfb7ec7a87_0_1652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6" name="Google Shape;236;g3cfb7ec7a87_0_1652"/>
          <p:cNvSpPr txBox="1"/>
          <p:nvPr>
            <p:ph idx="5" type="subTitle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7" name="Google Shape;237;g3cfb7ec7a87_0_1652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8" name="Google Shape;238;g3cfb7ec7a87_0_1652"/>
          <p:cNvSpPr txBox="1"/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9pPr>
          </a:lstStyle>
          <a:p/>
        </p:txBody>
      </p:sp>
      <p:sp>
        <p:nvSpPr>
          <p:cNvPr id="239" name="Google Shape;239;g3cfb7ec7a87_0_1652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0" name="Google Shape;240;g3cfb7ec7a87_0_1652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1" name="Google Shape;241;g3cfb7ec7a87_0_1652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2" name="Google Shape;242;g3cfb7ec7a87_0_165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243" name="Google Shape;243;g3cfb7ec7a87_0_16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1_2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cfb7ec7a87_0_1668"/>
          <p:cNvSpPr/>
          <p:nvPr/>
        </p:nvSpPr>
        <p:spPr>
          <a:xfrm rot="-5400000">
            <a:off x="-2575150" y="-150"/>
            <a:ext cx="5143800" cy="5143500"/>
          </a:xfrm>
          <a:prstGeom prst="pie">
            <a:avLst>
              <a:gd fmla="val 3746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6" name="Google Shape;246;g3cfb7ec7a87_0_1668"/>
          <p:cNvSpPr/>
          <p:nvPr/>
        </p:nvSpPr>
        <p:spPr>
          <a:xfrm rot="5400000">
            <a:off x="-3261" y="1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7" name="Google Shape;247;g3cfb7ec7a87_0_1668"/>
          <p:cNvSpPr txBox="1"/>
          <p:nvPr>
            <p:ph idx="1" type="subTitle"/>
          </p:nvPr>
        </p:nvSpPr>
        <p:spPr>
          <a:xfrm>
            <a:off x="3236625" y="1936752"/>
            <a:ext cx="23313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8" name="Google Shape;248;g3cfb7ec7a87_0_1668"/>
          <p:cNvSpPr txBox="1"/>
          <p:nvPr>
            <p:ph idx="2" type="subTitle"/>
          </p:nvPr>
        </p:nvSpPr>
        <p:spPr>
          <a:xfrm>
            <a:off x="3236625" y="2920654"/>
            <a:ext cx="23313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9" name="Google Shape;249;g3cfb7ec7a87_0_1668"/>
          <p:cNvSpPr txBox="1"/>
          <p:nvPr>
            <p:ph idx="3" type="subTitle"/>
          </p:nvPr>
        </p:nvSpPr>
        <p:spPr>
          <a:xfrm>
            <a:off x="3236625" y="3912436"/>
            <a:ext cx="23313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0" name="Google Shape;250;g3cfb7ec7a87_0_1668"/>
          <p:cNvSpPr txBox="1"/>
          <p:nvPr>
            <p:ph idx="4" type="subTitle"/>
          </p:nvPr>
        </p:nvSpPr>
        <p:spPr>
          <a:xfrm>
            <a:off x="6183150" y="1936752"/>
            <a:ext cx="23313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1" name="Google Shape;251;g3cfb7ec7a87_0_1668"/>
          <p:cNvSpPr txBox="1"/>
          <p:nvPr>
            <p:ph idx="5" type="subTitle"/>
          </p:nvPr>
        </p:nvSpPr>
        <p:spPr>
          <a:xfrm>
            <a:off x="6183150" y="2920654"/>
            <a:ext cx="23313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2" name="Google Shape;252;g3cfb7ec7a87_0_1668"/>
          <p:cNvSpPr txBox="1"/>
          <p:nvPr>
            <p:ph idx="6" type="subTitle"/>
          </p:nvPr>
        </p:nvSpPr>
        <p:spPr>
          <a:xfrm>
            <a:off x="6183150" y="3912436"/>
            <a:ext cx="23313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3" name="Google Shape;253;g3cfb7ec7a87_0_1668"/>
          <p:cNvSpPr txBox="1"/>
          <p:nvPr>
            <p:ph type="title"/>
          </p:nvPr>
        </p:nvSpPr>
        <p:spPr>
          <a:xfrm>
            <a:off x="3235425" y="474750"/>
            <a:ext cx="2860800" cy="1315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9pPr>
          </a:lstStyle>
          <a:p/>
        </p:txBody>
      </p:sp>
      <p:sp>
        <p:nvSpPr>
          <p:cNvPr id="254" name="Google Shape;254;g3cfb7ec7a87_0_1668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55" name="Google Shape;255;g3cfb7ec7a87_0_1668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6" name="Google Shape;256;g3cfb7ec7a87_0_166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257" name="Google Shape;257;g3cfb7ec7a87_0_16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1_1_1_1_2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cfb7ec7a87_0_1682"/>
          <p:cNvSpPr txBox="1"/>
          <p:nvPr>
            <p:ph idx="1" type="subTitle"/>
          </p:nvPr>
        </p:nvSpPr>
        <p:spPr>
          <a:xfrm>
            <a:off x="5537976" y="1421821"/>
            <a:ext cx="34536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0" name="Google Shape;260;g3cfb7ec7a87_0_1682"/>
          <p:cNvSpPr txBox="1"/>
          <p:nvPr>
            <p:ph idx="2" type="subTitle"/>
          </p:nvPr>
        </p:nvSpPr>
        <p:spPr>
          <a:xfrm>
            <a:off x="5537976" y="1658233"/>
            <a:ext cx="34536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61" name="Google Shape;261;g3cfb7ec7a87_0_1682"/>
          <p:cNvSpPr txBox="1"/>
          <p:nvPr>
            <p:ph idx="3" type="subTitle"/>
          </p:nvPr>
        </p:nvSpPr>
        <p:spPr>
          <a:xfrm>
            <a:off x="5537976" y="2185603"/>
            <a:ext cx="34536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2" name="Google Shape;262;g3cfb7ec7a87_0_1682"/>
          <p:cNvSpPr txBox="1"/>
          <p:nvPr>
            <p:ph idx="4" type="subTitle"/>
          </p:nvPr>
        </p:nvSpPr>
        <p:spPr>
          <a:xfrm>
            <a:off x="5537976" y="2421696"/>
            <a:ext cx="34536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63" name="Google Shape;263;g3cfb7ec7a87_0_1682"/>
          <p:cNvSpPr txBox="1"/>
          <p:nvPr>
            <p:ph idx="5" type="subTitle"/>
          </p:nvPr>
        </p:nvSpPr>
        <p:spPr>
          <a:xfrm>
            <a:off x="5537976" y="2954416"/>
            <a:ext cx="34536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4" name="Google Shape;264;g3cfb7ec7a87_0_1682"/>
          <p:cNvSpPr txBox="1"/>
          <p:nvPr>
            <p:ph idx="6" type="subTitle"/>
          </p:nvPr>
        </p:nvSpPr>
        <p:spPr>
          <a:xfrm>
            <a:off x="5537976" y="3190509"/>
            <a:ext cx="34536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65" name="Google Shape;265;g3cfb7ec7a87_0_1682"/>
          <p:cNvSpPr txBox="1"/>
          <p:nvPr>
            <p:ph idx="7" type="subTitle"/>
          </p:nvPr>
        </p:nvSpPr>
        <p:spPr>
          <a:xfrm>
            <a:off x="5537976" y="3717879"/>
            <a:ext cx="34536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6" name="Google Shape;266;g3cfb7ec7a87_0_1682"/>
          <p:cNvSpPr txBox="1"/>
          <p:nvPr>
            <p:ph idx="8" type="subTitle"/>
          </p:nvPr>
        </p:nvSpPr>
        <p:spPr>
          <a:xfrm>
            <a:off x="5537976" y="3953971"/>
            <a:ext cx="34536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67" name="Google Shape;267;g3cfb7ec7a87_0_1682"/>
          <p:cNvSpPr/>
          <p:nvPr/>
        </p:nvSpPr>
        <p:spPr>
          <a:xfrm rot="-5400000">
            <a:off x="-1276000" y="1266039"/>
            <a:ext cx="2537400" cy="25374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8" name="Google Shape;268;g3cfb7ec7a87_0_1682"/>
          <p:cNvSpPr/>
          <p:nvPr/>
        </p:nvSpPr>
        <p:spPr>
          <a:xfrm rot="-5400000">
            <a:off x="-5951" y="2536242"/>
            <a:ext cx="1267200" cy="12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9" name="Google Shape;269;g3cfb7ec7a87_0_1682"/>
          <p:cNvSpPr/>
          <p:nvPr/>
        </p:nvSpPr>
        <p:spPr>
          <a:xfrm>
            <a:off x="3244" y="3803442"/>
            <a:ext cx="1340100" cy="134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0" name="Google Shape;270;g3cfb7ec7a87_0_1682"/>
          <p:cNvSpPr txBox="1"/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1" name="Google Shape;271;g3cfb7ec7a87_0_1682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72" name="Google Shape;272;g3cfb7ec7a87_0_1682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73" name="Google Shape;273;g3cfb7ec7a87_0_1682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4" name="Google Shape;274;g3cfb7ec7a87_0_168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275" name="Google Shape;275;g3cfb7ec7a87_0_168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_4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cfb7ec7a87_0_1700"/>
          <p:cNvSpPr/>
          <p:nvPr>
            <p:ph idx="2" type="pic"/>
          </p:nvPr>
        </p:nvSpPr>
        <p:spPr>
          <a:xfrm>
            <a:off x="4162550" y="81605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78" name="Google Shape;278;g3cfb7ec7a87_0_1700"/>
          <p:cNvSpPr/>
          <p:nvPr>
            <p:ph idx="3" type="pic"/>
          </p:nvPr>
        </p:nvSpPr>
        <p:spPr>
          <a:xfrm>
            <a:off x="5788675" y="81605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79" name="Google Shape;279;g3cfb7ec7a87_0_1700"/>
          <p:cNvSpPr/>
          <p:nvPr>
            <p:ph idx="4" type="pic"/>
          </p:nvPr>
        </p:nvSpPr>
        <p:spPr>
          <a:xfrm>
            <a:off x="7414800" y="81605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80" name="Google Shape;280;g3cfb7ec7a87_0_1700"/>
          <p:cNvSpPr/>
          <p:nvPr>
            <p:ph idx="5" type="pic"/>
          </p:nvPr>
        </p:nvSpPr>
        <p:spPr>
          <a:xfrm>
            <a:off x="2536475" y="289740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81" name="Google Shape;281;g3cfb7ec7a87_0_1700"/>
          <p:cNvSpPr/>
          <p:nvPr>
            <p:ph idx="6" type="pic"/>
          </p:nvPr>
        </p:nvSpPr>
        <p:spPr>
          <a:xfrm>
            <a:off x="4162600" y="289740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82" name="Google Shape;282;g3cfb7ec7a87_0_1700"/>
          <p:cNvSpPr/>
          <p:nvPr>
            <p:ph idx="7" type="pic"/>
          </p:nvPr>
        </p:nvSpPr>
        <p:spPr>
          <a:xfrm>
            <a:off x="5788725" y="289740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83" name="Google Shape;283;g3cfb7ec7a87_0_1700"/>
          <p:cNvSpPr txBox="1"/>
          <p:nvPr>
            <p:ph idx="1" type="subTitle"/>
          </p:nvPr>
        </p:nvSpPr>
        <p:spPr>
          <a:xfrm>
            <a:off x="4162750" y="2178820"/>
            <a:ext cx="1444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4" name="Google Shape;284;g3cfb7ec7a87_0_1700"/>
          <p:cNvSpPr txBox="1"/>
          <p:nvPr>
            <p:ph idx="8" type="subTitle"/>
          </p:nvPr>
        </p:nvSpPr>
        <p:spPr>
          <a:xfrm>
            <a:off x="4162750" y="2509808"/>
            <a:ext cx="14445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5" name="Google Shape;285;g3cfb7ec7a87_0_1700"/>
          <p:cNvSpPr txBox="1"/>
          <p:nvPr>
            <p:ph idx="9" type="subTitle"/>
          </p:nvPr>
        </p:nvSpPr>
        <p:spPr>
          <a:xfrm>
            <a:off x="2536625" y="4249429"/>
            <a:ext cx="1444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6" name="Google Shape;286;g3cfb7ec7a87_0_1700"/>
          <p:cNvSpPr txBox="1"/>
          <p:nvPr>
            <p:ph idx="13" type="subTitle"/>
          </p:nvPr>
        </p:nvSpPr>
        <p:spPr>
          <a:xfrm>
            <a:off x="2536625" y="4581011"/>
            <a:ext cx="14445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7" name="Google Shape;287;g3cfb7ec7a87_0_1700"/>
          <p:cNvSpPr txBox="1"/>
          <p:nvPr>
            <p:ph idx="14" type="subTitle"/>
          </p:nvPr>
        </p:nvSpPr>
        <p:spPr>
          <a:xfrm>
            <a:off x="5788775" y="2178820"/>
            <a:ext cx="1444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8" name="Google Shape;288;g3cfb7ec7a87_0_1700"/>
          <p:cNvSpPr txBox="1"/>
          <p:nvPr>
            <p:ph idx="15" type="subTitle"/>
          </p:nvPr>
        </p:nvSpPr>
        <p:spPr>
          <a:xfrm>
            <a:off x="5788775" y="2509808"/>
            <a:ext cx="14445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9" name="Google Shape;289;g3cfb7ec7a87_0_1700"/>
          <p:cNvSpPr txBox="1"/>
          <p:nvPr>
            <p:ph idx="16" type="subTitle"/>
          </p:nvPr>
        </p:nvSpPr>
        <p:spPr>
          <a:xfrm>
            <a:off x="7414800" y="2178820"/>
            <a:ext cx="1444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90" name="Google Shape;290;g3cfb7ec7a87_0_1700"/>
          <p:cNvSpPr txBox="1"/>
          <p:nvPr>
            <p:ph idx="17" type="subTitle"/>
          </p:nvPr>
        </p:nvSpPr>
        <p:spPr>
          <a:xfrm>
            <a:off x="7414800" y="2509808"/>
            <a:ext cx="14445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1" name="Google Shape;291;g3cfb7ec7a87_0_1700"/>
          <p:cNvSpPr txBox="1"/>
          <p:nvPr>
            <p:ph idx="18" type="subTitle"/>
          </p:nvPr>
        </p:nvSpPr>
        <p:spPr>
          <a:xfrm>
            <a:off x="4162675" y="4249429"/>
            <a:ext cx="1444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92" name="Google Shape;292;g3cfb7ec7a87_0_1700"/>
          <p:cNvSpPr txBox="1"/>
          <p:nvPr>
            <p:ph idx="19" type="subTitle"/>
          </p:nvPr>
        </p:nvSpPr>
        <p:spPr>
          <a:xfrm>
            <a:off x="4162675" y="4581011"/>
            <a:ext cx="14445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3" name="Google Shape;293;g3cfb7ec7a87_0_1700"/>
          <p:cNvSpPr txBox="1"/>
          <p:nvPr>
            <p:ph idx="20" type="subTitle"/>
          </p:nvPr>
        </p:nvSpPr>
        <p:spPr>
          <a:xfrm>
            <a:off x="5788725" y="4249429"/>
            <a:ext cx="1444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94" name="Google Shape;294;g3cfb7ec7a87_0_1700"/>
          <p:cNvSpPr txBox="1"/>
          <p:nvPr>
            <p:ph idx="21" type="subTitle"/>
          </p:nvPr>
        </p:nvSpPr>
        <p:spPr>
          <a:xfrm>
            <a:off x="5788725" y="4581011"/>
            <a:ext cx="14445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5" name="Google Shape;295;g3cfb7ec7a87_0_1700"/>
          <p:cNvSpPr txBox="1"/>
          <p:nvPr>
            <p:ph type="title"/>
          </p:nvPr>
        </p:nvSpPr>
        <p:spPr>
          <a:xfrm>
            <a:off x="284700" y="573428"/>
            <a:ext cx="3877800" cy="19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9pPr>
          </a:lstStyle>
          <a:p/>
        </p:txBody>
      </p:sp>
      <p:sp>
        <p:nvSpPr>
          <p:cNvPr id="296" name="Google Shape;296;g3cfb7ec7a87_0_1700"/>
          <p:cNvSpPr txBox="1"/>
          <p:nvPr>
            <p:ph idx="2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7" name="Google Shape;297;g3cfb7ec7a87_0_1700"/>
          <p:cNvSpPr txBox="1"/>
          <p:nvPr>
            <p:ph idx="2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8" name="Google Shape;298;g3cfb7ec7a87_0_1700"/>
          <p:cNvSpPr txBox="1"/>
          <p:nvPr>
            <p:ph idx="2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9" name="Google Shape;299;g3cfb7ec7a87_0_170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300" name="Google Shape;300;g3cfb7ec7a87_0_170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4_1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cfb7ec7a87_0_1725"/>
          <p:cNvSpPr/>
          <p:nvPr>
            <p:ph idx="2" type="pic"/>
          </p:nvPr>
        </p:nvSpPr>
        <p:spPr>
          <a:xfrm>
            <a:off x="2847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03" name="Google Shape;303;g3cfb7ec7a87_0_1725"/>
          <p:cNvSpPr/>
          <p:nvPr>
            <p:ph idx="3" type="pic"/>
          </p:nvPr>
        </p:nvSpPr>
        <p:spPr>
          <a:xfrm>
            <a:off x="21636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04" name="Google Shape;304;g3cfb7ec7a87_0_1725"/>
          <p:cNvSpPr/>
          <p:nvPr>
            <p:ph idx="4" type="pic"/>
          </p:nvPr>
        </p:nvSpPr>
        <p:spPr>
          <a:xfrm>
            <a:off x="40870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05" name="Google Shape;305;g3cfb7ec7a87_0_1725"/>
          <p:cNvSpPr/>
          <p:nvPr>
            <p:ph idx="5" type="pic"/>
          </p:nvPr>
        </p:nvSpPr>
        <p:spPr>
          <a:xfrm>
            <a:off x="59604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06" name="Google Shape;306;g3cfb7ec7a87_0_1725"/>
          <p:cNvSpPr txBox="1"/>
          <p:nvPr>
            <p:ph idx="1" type="subTitle"/>
          </p:nvPr>
        </p:nvSpPr>
        <p:spPr>
          <a:xfrm>
            <a:off x="283475" y="3165225"/>
            <a:ext cx="15147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7" name="Google Shape;307;g3cfb7ec7a87_0_1725"/>
          <p:cNvSpPr txBox="1"/>
          <p:nvPr>
            <p:ph idx="6" type="subTitle"/>
          </p:nvPr>
        </p:nvSpPr>
        <p:spPr>
          <a:xfrm>
            <a:off x="2162975" y="3165225"/>
            <a:ext cx="15147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8" name="Google Shape;308;g3cfb7ec7a87_0_1725"/>
          <p:cNvSpPr txBox="1"/>
          <p:nvPr>
            <p:ph idx="7" type="subTitle"/>
          </p:nvPr>
        </p:nvSpPr>
        <p:spPr>
          <a:xfrm>
            <a:off x="4086325" y="3165225"/>
            <a:ext cx="15147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9" name="Google Shape;309;g3cfb7ec7a87_0_1725"/>
          <p:cNvSpPr txBox="1"/>
          <p:nvPr>
            <p:ph idx="8" type="subTitle"/>
          </p:nvPr>
        </p:nvSpPr>
        <p:spPr>
          <a:xfrm>
            <a:off x="5960425" y="3165225"/>
            <a:ext cx="15147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0" name="Google Shape;310;g3cfb7ec7a87_0_1725"/>
          <p:cNvSpPr txBox="1"/>
          <p:nvPr>
            <p:ph idx="9" type="body"/>
          </p:nvPr>
        </p:nvSpPr>
        <p:spPr>
          <a:xfrm>
            <a:off x="285350" y="3443925"/>
            <a:ext cx="1514700" cy="14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1" name="Google Shape;311;g3cfb7ec7a87_0_1725"/>
          <p:cNvSpPr txBox="1"/>
          <p:nvPr>
            <p:ph idx="13" type="body"/>
          </p:nvPr>
        </p:nvSpPr>
        <p:spPr>
          <a:xfrm>
            <a:off x="2162975" y="3443925"/>
            <a:ext cx="1514700" cy="14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2" name="Google Shape;312;g3cfb7ec7a87_0_1725"/>
          <p:cNvSpPr txBox="1"/>
          <p:nvPr>
            <p:ph idx="14" type="body"/>
          </p:nvPr>
        </p:nvSpPr>
        <p:spPr>
          <a:xfrm>
            <a:off x="4087000" y="3443925"/>
            <a:ext cx="1514700" cy="14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3" name="Google Shape;313;g3cfb7ec7a87_0_1725"/>
          <p:cNvSpPr txBox="1"/>
          <p:nvPr>
            <p:ph idx="15" type="body"/>
          </p:nvPr>
        </p:nvSpPr>
        <p:spPr>
          <a:xfrm>
            <a:off x="5960425" y="3443925"/>
            <a:ext cx="1514700" cy="14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4" name="Google Shape;314;g3cfb7ec7a87_0_1725"/>
          <p:cNvSpPr txBox="1"/>
          <p:nvPr>
            <p:ph idx="16" type="subTitle"/>
          </p:nvPr>
        </p:nvSpPr>
        <p:spPr>
          <a:xfrm>
            <a:off x="283475" y="2950825"/>
            <a:ext cx="15147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15" name="Google Shape;315;g3cfb7ec7a87_0_1725"/>
          <p:cNvSpPr txBox="1"/>
          <p:nvPr>
            <p:ph idx="17" type="subTitle"/>
          </p:nvPr>
        </p:nvSpPr>
        <p:spPr>
          <a:xfrm>
            <a:off x="2162975" y="2950825"/>
            <a:ext cx="15147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16" name="Google Shape;316;g3cfb7ec7a87_0_1725"/>
          <p:cNvSpPr txBox="1"/>
          <p:nvPr>
            <p:ph idx="18" type="subTitle"/>
          </p:nvPr>
        </p:nvSpPr>
        <p:spPr>
          <a:xfrm>
            <a:off x="4086325" y="2950825"/>
            <a:ext cx="15147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17" name="Google Shape;317;g3cfb7ec7a87_0_1725"/>
          <p:cNvSpPr txBox="1"/>
          <p:nvPr>
            <p:ph idx="19" type="subTitle"/>
          </p:nvPr>
        </p:nvSpPr>
        <p:spPr>
          <a:xfrm>
            <a:off x="5960425" y="2950825"/>
            <a:ext cx="15147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18" name="Google Shape;318;g3cfb7ec7a87_0_1725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19" name="Google Shape;319;g3cfb7ec7a87_0_1725"/>
          <p:cNvSpPr txBox="1"/>
          <p:nvPr>
            <p:ph idx="20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0" name="Google Shape;320;g3cfb7ec7a87_0_1725"/>
          <p:cNvSpPr txBox="1"/>
          <p:nvPr>
            <p:ph idx="21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1" name="Google Shape;321;g3cfb7ec7a87_0_1725"/>
          <p:cNvSpPr txBox="1"/>
          <p:nvPr>
            <p:ph idx="22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2" name="Google Shape;322;g3cfb7ec7a87_0_172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323" name="Google Shape;323;g3cfb7ec7a87_0_17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">
  <p:cSld name="CUSTOM_5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cfb7ec7a87_0_1748"/>
          <p:cNvSpPr/>
          <p:nvPr>
            <p:ph idx="2" type="pic"/>
          </p:nvPr>
        </p:nvSpPr>
        <p:spPr>
          <a:xfrm>
            <a:off x="4698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26" name="Google Shape;326;g3cfb7ec7a87_0_1748"/>
          <p:cNvSpPr/>
          <p:nvPr>
            <p:ph idx="3" type="pic"/>
          </p:nvPr>
        </p:nvSpPr>
        <p:spPr>
          <a:xfrm>
            <a:off x="8884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27" name="Google Shape;327;g3cfb7ec7a87_0_1748"/>
          <p:cNvSpPr/>
          <p:nvPr>
            <p:ph idx="4" type="pic"/>
          </p:nvPr>
        </p:nvSpPr>
        <p:spPr>
          <a:xfrm>
            <a:off x="130702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28" name="Google Shape;328;g3cfb7ec7a87_0_1748"/>
          <p:cNvSpPr/>
          <p:nvPr>
            <p:ph idx="5" type="pic"/>
          </p:nvPr>
        </p:nvSpPr>
        <p:spPr>
          <a:xfrm>
            <a:off x="4698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29" name="Google Shape;329;g3cfb7ec7a87_0_1748"/>
          <p:cNvSpPr/>
          <p:nvPr>
            <p:ph idx="6" type="pic"/>
          </p:nvPr>
        </p:nvSpPr>
        <p:spPr>
          <a:xfrm>
            <a:off x="8884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0" name="Google Shape;330;g3cfb7ec7a87_0_1748"/>
          <p:cNvSpPr/>
          <p:nvPr>
            <p:ph idx="7" type="pic"/>
          </p:nvPr>
        </p:nvSpPr>
        <p:spPr>
          <a:xfrm>
            <a:off x="130702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1" name="Google Shape;331;g3cfb7ec7a87_0_1748"/>
          <p:cNvSpPr/>
          <p:nvPr>
            <p:ph idx="8" type="pic"/>
          </p:nvPr>
        </p:nvSpPr>
        <p:spPr>
          <a:xfrm>
            <a:off x="333070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2" name="Google Shape;332;g3cfb7ec7a87_0_1748"/>
          <p:cNvSpPr/>
          <p:nvPr>
            <p:ph idx="9" type="pic"/>
          </p:nvPr>
        </p:nvSpPr>
        <p:spPr>
          <a:xfrm>
            <a:off x="37492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3" name="Google Shape;333;g3cfb7ec7a87_0_1748"/>
          <p:cNvSpPr/>
          <p:nvPr>
            <p:ph idx="13" type="pic"/>
          </p:nvPr>
        </p:nvSpPr>
        <p:spPr>
          <a:xfrm>
            <a:off x="41678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4" name="Google Shape;334;g3cfb7ec7a87_0_1748"/>
          <p:cNvSpPr/>
          <p:nvPr>
            <p:ph idx="14" type="pic"/>
          </p:nvPr>
        </p:nvSpPr>
        <p:spPr>
          <a:xfrm>
            <a:off x="333070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5" name="Google Shape;335;g3cfb7ec7a87_0_1748"/>
          <p:cNvSpPr/>
          <p:nvPr>
            <p:ph idx="15" type="pic"/>
          </p:nvPr>
        </p:nvSpPr>
        <p:spPr>
          <a:xfrm>
            <a:off x="37492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6" name="Google Shape;336;g3cfb7ec7a87_0_1748"/>
          <p:cNvSpPr/>
          <p:nvPr>
            <p:ph idx="16" type="pic"/>
          </p:nvPr>
        </p:nvSpPr>
        <p:spPr>
          <a:xfrm>
            <a:off x="41678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7" name="Google Shape;337;g3cfb7ec7a87_0_1748"/>
          <p:cNvSpPr/>
          <p:nvPr>
            <p:ph idx="17" type="pic"/>
          </p:nvPr>
        </p:nvSpPr>
        <p:spPr>
          <a:xfrm>
            <a:off x="4698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8" name="Google Shape;338;g3cfb7ec7a87_0_1748"/>
          <p:cNvSpPr/>
          <p:nvPr>
            <p:ph idx="18" type="pic"/>
          </p:nvPr>
        </p:nvSpPr>
        <p:spPr>
          <a:xfrm>
            <a:off x="8884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9" name="Google Shape;339;g3cfb7ec7a87_0_1748"/>
          <p:cNvSpPr/>
          <p:nvPr>
            <p:ph idx="19" type="pic"/>
          </p:nvPr>
        </p:nvSpPr>
        <p:spPr>
          <a:xfrm>
            <a:off x="130702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0" name="Google Shape;340;g3cfb7ec7a87_0_1748"/>
          <p:cNvSpPr/>
          <p:nvPr>
            <p:ph idx="20" type="pic"/>
          </p:nvPr>
        </p:nvSpPr>
        <p:spPr>
          <a:xfrm>
            <a:off x="4698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1" name="Google Shape;341;g3cfb7ec7a87_0_1748"/>
          <p:cNvSpPr/>
          <p:nvPr>
            <p:ph idx="21" type="pic"/>
          </p:nvPr>
        </p:nvSpPr>
        <p:spPr>
          <a:xfrm>
            <a:off x="8884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2" name="Google Shape;342;g3cfb7ec7a87_0_1748"/>
          <p:cNvSpPr/>
          <p:nvPr>
            <p:ph idx="22" type="pic"/>
          </p:nvPr>
        </p:nvSpPr>
        <p:spPr>
          <a:xfrm>
            <a:off x="130702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3" name="Google Shape;343;g3cfb7ec7a87_0_1748"/>
          <p:cNvSpPr/>
          <p:nvPr>
            <p:ph idx="23" type="pic"/>
          </p:nvPr>
        </p:nvSpPr>
        <p:spPr>
          <a:xfrm>
            <a:off x="333070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4" name="Google Shape;344;g3cfb7ec7a87_0_1748"/>
          <p:cNvSpPr/>
          <p:nvPr>
            <p:ph idx="24" type="pic"/>
          </p:nvPr>
        </p:nvSpPr>
        <p:spPr>
          <a:xfrm>
            <a:off x="37492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5" name="Google Shape;345;g3cfb7ec7a87_0_1748"/>
          <p:cNvSpPr/>
          <p:nvPr>
            <p:ph idx="25" type="pic"/>
          </p:nvPr>
        </p:nvSpPr>
        <p:spPr>
          <a:xfrm>
            <a:off x="41678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6" name="Google Shape;346;g3cfb7ec7a87_0_1748"/>
          <p:cNvSpPr/>
          <p:nvPr>
            <p:ph idx="26" type="pic"/>
          </p:nvPr>
        </p:nvSpPr>
        <p:spPr>
          <a:xfrm>
            <a:off x="333070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7" name="Google Shape;347;g3cfb7ec7a87_0_1748"/>
          <p:cNvSpPr/>
          <p:nvPr>
            <p:ph idx="27" type="pic"/>
          </p:nvPr>
        </p:nvSpPr>
        <p:spPr>
          <a:xfrm>
            <a:off x="37492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8" name="Google Shape;348;g3cfb7ec7a87_0_1748"/>
          <p:cNvSpPr/>
          <p:nvPr>
            <p:ph idx="28" type="pic"/>
          </p:nvPr>
        </p:nvSpPr>
        <p:spPr>
          <a:xfrm>
            <a:off x="41678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9" name="Google Shape;349;g3cfb7ec7a87_0_1748"/>
          <p:cNvSpPr txBox="1"/>
          <p:nvPr>
            <p:ph type="title"/>
          </p:nvPr>
        </p:nvSpPr>
        <p:spPr>
          <a:xfrm>
            <a:off x="469875" y="1570725"/>
            <a:ext cx="22290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0" name="Google Shape;350;g3cfb7ec7a87_0_1748"/>
          <p:cNvSpPr txBox="1"/>
          <p:nvPr>
            <p:ph idx="29" type="title"/>
          </p:nvPr>
        </p:nvSpPr>
        <p:spPr>
          <a:xfrm>
            <a:off x="469875" y="3406431"/>
            <a:ext cx="22290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1" name="Google Shape;351;g3cfb7ec7a87_0_1748"/>
          <p:cNvSpPr txBox="1"/>
          <p:nvPr>
            <p:ph idx="30" type="title"/>
          </p:nvPr>
        </p:nvSpPr>
        <p:spPr>
          <a:xfrm>
            <a:off x="3330700" y="3406431"/>
            <a:ext cx="22290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2" name="Google Shape;352;g3cfb7ec7a87_0_1748"/>
          <p:cNvSpPr txBox="1"/>
          <p:nvPr>
            <p:ph idx="31" type="title"/>
          </p:nvPr>
        </p:nvSpPr>
        <p:spPr>
          <a:xfrm>
            <a:off x="3330700" y="1570725"/>
            <a:ext cx="22290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3" name="Google Shape;353;g3cfb7ec7a87_0_1748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54" name="Google Shape;354;g3cfb7ec7a87_0_174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5" name="Google Shape;355;g3cfb7ec7a87_0_1748"/>
          <p:cNvSpPr txBox="1"/>
          <p:nvPr>
            <p:ph idx="3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g3cfb7ec7a87_0_1748"/>
          <p:cNvSpPr txBox="1"/>
          <p:nvPr>
            <p:ph idx="3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7" name="Google Shape;357;g3cfb7ec7a87_0_174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358" name="Google Shape;358;g3cfb7ec7a87_0_17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1">
  <p:cSld name="CUSTOM_6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g3cfb7ec7a87_0_1783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61" name="Google Shape;361;g3cfb7ec7a87_0_1783"/>
          <p:cNvSpPr/>
          <p:nvPr>
            <p:ph idx="2" type="pic"/>
          </p:nvPr>
        </p:nvSpPr>
        <p:spPr>
          <a:xfrm>
            <a:off x="170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2" name="Google Shape;362;g3cfb7ec7a87_0_1783"/>
          <p:cNvSpPr txBox="1"/>
          <p:nvPr>
            <p:ph idx="1" type="subTitle"/>
          </p:nvPr>
        </p:nvSpPr>
        <p:spPr>
          <a:xfrm>
            <a:off x="425050" y="1713878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3" name="Google Shape;363;g3cfb7ec7a87_0_1783"/>
          <p:cNvSpPr txBox="1"/>
          <p:nvPr>
            <p:ph idx="3" type="subTitle"/>
          </p:nvPr>
        </p:nvSpPr>
        <p:spPr>
          <a:xfrm>
            <a:off x="425050" y="2028155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64" name="Google Shape;364;g3cfb7ec7a87_0_1783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06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65" name="Google Shape;365;g3cfb7ec7a87_0_1783"/>
          <p:cNvSpPr/>
          <p:nvPr>
            <p:ph idx="4" type="pic"/>
          </p:nvPr>
        </p:nvSpPr>
        <p:spPr>
          <a:xfrm>
            <a:off x="4206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6" name="Google Shape;366;g3cfb7ec7a87_0_1783"/>
          <p:cNvSpPr txBox="1"/>
          <p:nvPr>
            <p:ph idx="5" type="subTitle"/>
          </p:nvPr>
        </p:nvSpPr>
        <p:spPr>
          <a:xfrm>
            <a:off x="2930050" y="1713878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7" name="Google Shape;367;g3cfb7ec7a87_0_1783"/>
          <p:cNvSpPr txBox="1"/>
          <p:nvPr>
            <p:ph idx="6" type="subTitle"/>
          </p:nvPr>
        </p:nvSpPr>
        <p:spPr>
          <a:xfrm>
            <a:off x="2930050" y="2028155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68" name="Google Shape;368;g3cfb7ec7a87_0_1783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69" name="Google Shape;369;g3cfb7ec7a87_0_1783"/>
          <p:cNvSpPr/>
          <p:nvPr>
            <p:ph idx="7" type="pic"/>
          </p:nvPr>
        </p:nvSpPr>
        <p:spPr>
          <a:xfrm>
            <a:off x="671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0" name="Google Shape;370;g3cfb7ec7a87_0_1783"/>
          <p:cNvSpPr txBox="1"/>
          <p:nvPr>
            <p:ph idx="8" type="subTitle"/>
          </p:nvPr>
        </p:nvSpPr>
        <p:spPr>
          <a:xfrm>
            <a:off x="5435050" y="1713878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1" name="Google Shape;371;g3cfb7ec7a87_0_1783"/>
          <p:cNvSpPr txBox="1"/>
          <p:nvPr>
            <p:ph idx="9" type="subTitle"/>
          </p:nvPr>
        </p:nvSpPr>
        <p:spPr>
          <a:xfrm>
            <a:off x="5435050" y="2028155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72" name="Google Shape;372;g3cfb7ec7a87_0_1783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73" name="Google Shape;373;g3cfb7ec7a87_0_1783"/>
          <p:cNvSpPr/>
          <p:nvPr>
            <p:ph idx="13" type="pic"/>
          </p:nvPr>
        </p:nvSpPr>
        <p:spPr>
          <a:xfrm>
            <a:off x="170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4" name="Google Shape;374;g3cfb7ec7a87_0_1783"/>
          <p:cNvSpPr txBox="1"/>
          <p:nvPr>
            <p:ph idx="14" type="subTitle"/>
          </p:nvPr>
        </p:nvSpPr>
        <p:spPr>
          <a:xfrm>
            <a:off x="425050" y="2821778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5" name="Google Shape;375;g3cfb7ec7a87_0_1783"/>
          <p:cNvSpPr txBox="1"/>
          <p:nvPr>
            <p:ph idx="15" type="subTitle"/>
          </p:nvPr>
        </p:nvSpPr>
        <p:spPr>
          <a:xfrm>
            <a:off x="425050" y="3136055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76" name="Google Shape;376;g3cfb7ec7a87_0_1783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06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77" name="Google Shape;377;g3cfb7ec7a87_0_1783"/>
          <p:cNvSpPr/>
          <p:nvPr>
            <p:ph idx="16" type="pic"/>
          </p:nvPr>
        </p:nvSpPr>
        <p:spPr>
          <a:xfrm>
            <a:off x="4206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8" name="Google Shape;378;g3cfb7ec7a87_0_1783"/>
          <p:cNvSpPr txBox="1"/>
          <p:nvPr>
            <p:ph idx="17" type="subTitle"/>
          </p:nvPr>
        </p:nvSpPr>
        <p:spPr>
          <a:xfrm>
            <a:off x="2930050" y="2821778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9" name="Google Shape;379;g3cfb7ec7a87_0_1783"/>
          <p:cNvSpPr txBox="1"/>
          <p:nvPr>
            <p:ph idx="18" type="subTitle"/>
          </p:nvPr>
        </p:nvSpPr>
        <p:spPr>
          <a:xfrm>
            <a:off x="2930050" y="3136055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80" name="Google Shape;380;g3cfb7ec7a87_0_1783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81" name="Google Shape;381;g3cfb7ec7a87_0_1783"/>
          <p:cNvSpPr/>
          <p:nvPr>
            <p:ph idx="19" type="pic"/>
          </p:nvPr>
        </p:nvSpPr>
        <p:spPr>
          <a:xfrm>
            <a:off x="671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2" name="Google Shape;382;g3cfb7ec7a87_0_1783"/>
          <p:cNvSpPr txBox="1"/>
          <p:nvPr>
            <p:ph idx="20" type="subTitle"/>
          </p:nvPr>
        </p:nvSpPr>
        <p:spPr>
          <a:xfrm>
            <a:off x="5435050" y="2821778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3" name="Google Shape;383;g3cfb7ec7a87_0_1783"/>
          <p:cNvSpPr txBox="1"/>
          <p:nvPr>
            <p:ph idx="21" type="subTitle"/>
          </p:nvPr>
        </p:nvSpPr>
        <p:spPr>
          <a:xfrm>
            <a:off x="5435050" y="3136055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84" name="Google Shape;384;g3cfb7ec7a87_0_1783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85" name="Google Shape;385;g3cfb7ec7a87_0_1783"/>
          <p:cNvSpPr/>
          <p:nvPr>
            <p:ph idx="22" type="pic"/>
          </p:nvPr>
        </p:nvSpPr>
        <p:spPr>
          <a:xfrm>
            <a:off x="1701300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6" name="Google Shape;386;g3cfb7ec7a87_0_1783"/>
          <p:cNvSpPr txBox="1"/>
          <p:nvPr>
            <p:ph idx="23" type="subTitle"/>
          </p:nvPr>
        </p:nvSpPr>
        <p:spPr>
          <a:xfrm>
            <a:off x="425050" y="3929678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7" name="Google Shape;387;g3cfb7ec7a87_0_1783"/>
          <p:cNvSpPr txBox="1"/>
          <p:nvPr>
            <p:ph idx="24" type="subTitle"/>
          </p:nvPr>
        </p:nvSpPr>
        <p:spPr>
          <a:xfrm>
            <a:off x="425050" y="4243955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88" name="Google Shape;388;g3cfb7ec7a87_0_1783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14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89" name="Google Shape;389;g3cfb7ec7a87_0_1783"/>
          <p:cNvSpPr/>
          <p:nvPr>
            <p:ph idx="25" type="pic"/>
          </p:nvPr>
        </p:nvSpPr>
        <p:spPr>
          <a:xfrm>
            <a:off x="4214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0" name="Google Shape;390;g3cfb7ec7a87_0_1783"/>
          <p:cNvSpPr txBox="1"/>
          <p:nvPr>
            <p:ph idx="26" type="subTitle"/>
          </p:nvPr>
        </p:nvSpPr>
        <p:spPr>
          <a:xfrm>
            <a:off x="2937794" y="3929678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1" name="Google Shape;391;g3cfb7ec7a87_0_1783"/>
          <p:cNvSpPr txBox="1"/>
          <p:nvPr>
            <p:ph idx="27" type="subTitle"/>
          </p:nvPr>
        </p:nvSpPr>
        <p:spPr>
          <a:xfrm>
            <a:off x="2937794" y="4243955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92" name="Google Shape;392;g3cfb7ec7a87_0_1783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9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3" name="Google Shape;393;g3cfb7ec7a87_0_1783"/>
          <p:cNvSpPr/>
          <p:nvPr>
            <p:ph idx="28" type="pic"/>
          </p:nvPr>
        </p:nvSpPr>
        <p:spPr>
          <a:xfrm>
            <a:off x="6719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4" name="Google Shape;394;g3cfb7ec7a87_0_1783"/>
          <p:cNvSpPr txBox="1"/>
          <p:nvPr>
            <p:ph idx="29" type="subTitle"/>
          </p:nvPr>
        </p:nvSpPr>
        <p:spPr>
          <a:xfrm>
            <a:off x="5442794" y="3929678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5" name="Google Shape;395;g3cfb7ec7a87_0_1783"/>
          <p:cNvSpPr txBox="1"/>
          <p:nvPr>
            <p:ph idx="30" type="subTitle"/>
          </p:nvPr>
        </p:nvSpPr>
        <p:spPr>
          <a:xfrm>
            <a:off x="5442794" y="4243955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6" name="Google Shape;396;g3cfb7ec7a87_0_1783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7" name="Google Shape;397;g3cfb7ec7a87_0_1783"/>
          <p:cNvSpPr txBox="1"/>
          <p:nvPr>
            <p:ph idx="3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8" name="Google Shape;398;g3cfb7ec7a87_0_1783"/>
          <p:cNvSpPr txBox="1"/>
          <p:nvPr>
            <p:ph idx="3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9" name="Google Shape;399;g3cfb7ec7a87_0_1783"/>
          <p:cNvSpPr txBox="1"/>
          <p:nvPr>
            <p:ph idx="3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0" name="Google Shape;400;g3cfb7ec7a87_0_178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01" name="Google Shape;401;g3cfb7ec7a87_0_178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2">
  <p:cSld name="CUSTOM_6_1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cfb7ec7a87_0_1826"/>
          <p:cNvSpPr txBox="1"/>
          <p:nvPr>
            <p:ph idx="1" type="subTitle"/>
          </p:nvPr>
        </p:nvSpPr>
        <p:spPr>
          <a:xfrm>
            <a:off x="284700" y="1013951"/>
            <a:ext cx="25089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4" name="Google Shape;404;g3cfb7ec7a87_0_1826"/>
          <p:cNvSpPr txBox="1"/>
          <p:nvPr>
            <p:ph idx="2" type="subTitle"/>
          </p:nvPr>
        </p:nvSpPr>
        <p:spPr>
          <a:xfrm>
            <a:off x="3375375" y="1013951"/>
            <a:ext cx="25089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5" name="Google Shape;405;g3cfb7ec7a87_0_1826"/>
          <p:cNvSpPr txBox="1"/>
          <p:nvPr>
            <p:ph idx="3" type="subTitle"/>
          </p:nvPr>
        </p:nvSpPr>
        <p:spPr>
          <a:xfrm>
            <a:off x="6350375" y="1013951"/>
            <a:ext cx="25089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6" name="Google Shape;406;g3cfb7ec7a87_0_1826"/>
          <p:cNvSpPr/>
          <p:nvPr>
            <p:ph idx="4" type="pic"/>
          </p:nvPr>
        </p:nvSpPr>
        <p:spPr>
          <a:xfrm>
            <a:off x="1811447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7" name="Google Shape;407;g3cfb7ec7a87_0_1826"/>
          <p:cNvSpPr txBox="1"/>
          <p:nvPr>
            <p:ph idx="5" type="subTitle"/>
          </p:nvPr>
        </p:nvSpPr>
        <p:spPr>
          <a:xfrm>
            <a:off x="535197" y="1759801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8" name="Google Shape;408;g3cfb7ec7a87_0_1826"/>
          <p:cNvSpPr txBox="1"/>
          <p:nvPr>
            <p:ph idx="6" type="subTitle"/>
          </p:nvPr>
        </p:nvSpPr>
        <p:spPr>
          <a:xfrm>
            <a:off x="535197" y="2074078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09" name="Google Shape;409;g3cfb7ec7a87_0_1826"/>
          <p:cNvSpPr/>
          <p:nvPr>
            <p:ph idx="7" type="pic"/>
          </p:nvPr>
        </p:nvSpPr>
        <p:spPr>
          <a:xfrm>
            <a:off x="1811447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10" name="Google Shape;410;g3cfb7ec7a87_0_1826"/>
          <p:cNvSpPr txBox="1"/>
          <p:nvPr>
            <p:ph idx="8" type="subTitle"/>
          </p:nvPr>
        </p:nvSpPr>
        <p:spPr>
          <a:xfrm>
            <a:off x="535197" y="2782001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1" name="Google Shape;411;g3cfb7ec7a87_0_1826"/>
          <p:cNvSpPr txBox="1"/>
          <p:nvPr>
            <p:ph idx="9" type="subTitle"/>
          </p:nvPr>
        </p:nvSpPr>
        <p:spPr>
          <a:xfrm>
            <a:off x="535197" y="3096278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2" name="Google Shape;412;g3cfb7ec7a87_0_1826"/>
          <p:cNvSpPr/>
          <p:nvPr>
            <p:ph idx="13" type="pic"/>
          </p:nvPr>
        </p:nvSpPr>
        <p:spPr>
          <a:xfrm>
            <a:off x="1811447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13" name="Google Shape;413;g3cfb7ec7a87_0_1826"/>
          <p:cNvSpPr txBox="1"/>
          <p:nvPr>
            <p:ph idx="14" type="subTitle"/>
          </p:nvPr>
        </p:nvSpPr>
        <p:spPr>
          <a:xfrm>
            <a:off x="535197" y="3804201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4" name="Google Shape;414;g3cfb7ec7a87_0_1826"/>
          <p:cNvSpPr txBox="1"/>
          <p:nvPr>
            <p:ph idx="15" type="subTitle"/>
          </p:nvPr>
        </p:nvSpPr>
        <p:spPr>
          <a:xfrm>
            <a:off x="535197" y="4118478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5" name="Google Shape;415;g3cfb7ec7a87_0_1826"/>
          <p:cNvSpPr/>
          <p:nvPr>
            <p:ph idx="16" type="pic"/>
          </p:nvPr>
        </p:nvSpPr>
        <p:spPr>
          <a:xfrm>
            <a:off x="4913135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16" name="Google Shape;416;g3cfb7ec7a87_0_1826"/>
          <p:cNvSpPr txBox="1"/>
          <p:nvPr>
            <p:ph idx="17" type="subTitle"/>
          </p:nvPr>
        </p:nvSpPr>
        <p:spPr>
          <a:xfrm>
            <a:off x="3636885" y="1759801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7" name="Google Shape;417;g3cfb7ec7a87_0_1826"/>
          <p:cNvSpPr txBox="1"/>
          <p:nvPr>
            <p:ph idx="18" type="subTitle"/>
          </p:nvPr>
        </p:nvSpPr>
        <p:spPr>
          <a:xfrm>
            <a:off x="3636885" y="2074078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8" name="Google Shape;418;g3cfb7ec7a87_0_1826"/>
          <p:cNvSpPr/>
          <p:nvPr>
            <p:ph idx="19" type="pic"/>
          </p:nvPr>
        </p:nvSpPr>
        <p:spPr>
          <a:xfrm>
            <a:off x="4913135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19" name="Google Shape;419;g3cfb7ec7a87_0_1826"/>
          <p:cNvSpPr txBox="1"/>
          <p:nvPr>
            <p:ph idx="20" type="subTitle"/>
          </p:nvPr>
        </p:nvSpPr>
        <p:spPr>
          <a:xfrm>
            <a:off x="3636885" y="2782001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0" name="Google Shape;420;g3cfb7ec7a87_0_1826"/>
          <p:cNvSpPr txBox="1"/>
          <p:nvPr>
            <p:ph idx="21" type="subTitle"/>
          </p:nvPr>
        </p:nvSpPr>
        <p:spPr>
          <a:xfrm>
            <a:off x="3636885" y="3096278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1" name="Google Shape;421;g3cfb7ec7a87_0_1826"/>
          <p:cNvSpPr/>
          <p:nvPr>
            <p:ph idx="22" type="pic"/>
          </p:nvPr>
        </p:nvSpPr>
        <p:spPr>
          <a:xfrm>
            <a:off x="4913135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2" name="Google Shape;422;g3cfb7ec7a87_0_1826"/>
          <p:cNvSpPr txBox="1"/>
          <p:nvPr>
            <p:ph idx="23" type="subTitle"/>
          </p:nvPr>
        </p:nvSpPr>
        <p:spPr>
          <a:xfrm>
            <a:off x="3636885" y="3804201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3" name="Google Shape;423;g3cfb7ec7a87_0_1826"/>
          <p:cNvSpPr txBox="1"/>
          <p:nvPr>
            <p:ph idx="24" type="subTitle"/>
          </p:nvPr>
        </p:nvSpPr>
        <p:spPr>
          <a:xfrm>
            <a:off x="3636885" y="4118478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4" name="Google Shape;424;g3cfb7ec7a87_0_1826"/>
          <p:cNvSpPr/>
          <p:nvPr>
            <p:ph idx="25" type="pic"/>
          </p:nvPr>
        </p:nvSpPr>
        <p:spPr>
          <a:xfrm>
            <a:off x="7877122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5" name="Google Shape;425;g3cfb7ec7a87_0_1826"/>
          <p:cNvSpPr txBox="1"/>
          <p:nvPr>
            <p:ph idx="26" type="subTitle"/>
          </p:nvPr>
        </p:nvSpPr>
        <p:spPr>
          <a:xfrm>
            <a:off x="6600872" y="1759801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6" name="Google Shape;426;g3cfb7ec7a87_0_1826"/>
          <p:cNvSpPr txBox="1"/>
          <p:nvPr>
            <p:ph idx="27" type="subTitle"/>
          </p:nvPr>
        </p:nvSpPr>
        <p:spPr>
          <a:xfrm>
            <a:off x="6600872" y="2074078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7" name="Google Shape;427;g3cfb7ec7a87_0_1826"/>
          <p:cNvSpPr/>
          <p:nvPr>
            <p:ph idx="28" type="pic"/>
          </p:nvPr>
        </p:nvSpPr>
        <p:spPr>
          <a:xfrm>
            <a:off x="7877122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8" name="Google Shape;428;g3cfb7ec7a87_0_1826"/>
          <p:cNvSpPr txBox="1"/>
          <p:nvPr>
            <p:ph idx="29" type="subTitle"/>
          </p:nvPr>
        </p:nvSpPr>
        <p:spPr>
          <a:xfrm>
            <a:off x="6600872" y="2782001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9" name="Google Shape;429;g3cfb7ec7a87_0_1826"/>
          <p:cNvSpPr txBox="1"/>
          <p:nvPr>
            <p:ph idx="30" type="subTitle"/>
          </p:nvPr>
        </p:nvSpPr>
        <p:spPr>
          <a:xfrm>
            <a:off x="6600872" y="3096278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0" name="Google Shape;430;g3cfb7ec7a87_0_1826"/>
          <p:cNvSpPr/>
          <p:nvPr>
            <p:ph idx="31" type="pic"/>
          </p:nvPr>
        </p:nvSpPr>
        <p:spPr>
          <a:xfrm>
            <a:off x="7877122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1" name="Google Shape;431;g3cfb7ec7a87_0_1826"/>
          <p:cNvSpPr txBox="1"/>
          <p:nvPr>
            <p:ph idx="32" type="subTitle"/>
          </p:nvPr>
        </p:nvSpPr>
        <p:spPr>
          <a:xfrm>
            <a:off x="6600872" y="3804201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2" name="Google Shape;432;g3cfb7ec7a87_0_1826"/>
          <p:cNvSpPr txBox="1"/>
          <p:nvPr>
            <p:ph idx="33" type="subTitle"/>
          </p:nvPr>
        </p:nvSpPr>
        <p:spPr>
          <a:xfrm>
            <a:off x="6600872" y="4118478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3" name="Google Shape;433;g3cfb7ec7a87_0_182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4" name="Google Shape;434;g3cfb7ec7a87_0_1826"/>
          <p:cNvSpPr txBox="1"/>
          <p:nvPr>
            <p:ph idx="3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35" name="Google Shape;435;g3cfb7ec7a87_0_1826"/>
          <p:cNvSpPr txBox="1"/>
          <p:nvPr>
            <p:ph idx="3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36" name="Google Shape;436;g3cfb7ec7a87_0_1826"/>
          <p:cNvSpPr txBox="1"/>
          <p:nvPr>
            <p:ph idx="3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7" name="Google Shape;437;g3cfb7ec7a87_0_182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38" name="Google Shape;438;g3cfb7ec7a87_0_18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itle only">
  <p:cSld name="TITLE_1_1_4_2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cfb7ec7a87_0_1863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41" name="Google Shape;441;g3cfb7ec7a87_0_1863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2" name="Google Shape;442;g3cfb7ec7a87_0_1863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3" name="Google Shape;443;g3cfb7ec7a87_0_1863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4" name="Google Shape;444;g3cfb7ec7a87_0_186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45" name="Google Shape;445;g3cfb7ec7a87_0_18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objectives">
  <p:cSld name="TITLE_1_1_4_1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cfb7ec7a87_0_1870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8" name="Google Shape;448;g3cfb7ec7a87_0_1870"/>
          <p:cNvSpPr txBox="1"/>
          <p:nvPr>
            <p:ph idx="2" type="subTitle"/>
          </p:nvPr>
        </p:nvSpPr>
        <p:spPr>
          <a:xfrm>
            <a:off x="284700" y="3432410"/>
            <a:ext cx="1970400" cy="12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9" name="Google Shape;449;g3cfb7ec7a87_0_1870"/>
          <p:cNvSpPr txBox="1"/>
          <p:nvPr>
            <p:ph idx="3" type="subTitle"/>
          </p:nvPr>
        </p:nvSpPr>
        <p:spPr>
          <a:xfrm>
            <a:off x="2709924" y="3016803"/>
            <a:ext cx="19704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50" name="Google Shape;450;g3cfb7ec7a87_0_1870"/>
          <p:cNvSpPr txBox="1"/>
          <p:nvPr>
            <p:ph idx="4" type="subTitle"/>
          </p:nvPr>
        </p:nvSpPr>
        <p:spPr>
          <a:xfrm>
            <a:off x="2709924" y="3432410"/>
            <a:ext cx="1970400" cy="12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51" name="Google Shape;451;g3cfb7ec7a87_0_1870"/>
          <p:cNvSpPr txBox="1"/>
          <p:nvPr>
            <p:ph idx="5" type="subTitle"/>
          </p:nvPr>
        </p:nvSpPr>
        <p:spPr>
          <a:xfrm>
            <a:off x="5135149" y="3016803"/>
            <a:ext cx="19704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52" name="Google Shape;452;g3cfb7ec7a87_0_1870"/>
          <p:cNvSpPr txBox="1"/>
          <p:nvPr>
            <p:ph idx="6" type="subTitle"/>
          </p:nvPr>
        </p:nvSpPr>
        <p:spPr>
          <a:xfrm>
            <a:off x="5135149" y="3432410"/>
            <a:ext cx="1970400" cy="12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53" name="Google Shape;453;g3cfb7ec7a87_0_1870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4" name="Google Shape;454;g3cfb7ec7a87_0_187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5" name="Google Shape;455;g3cfb7ec7a87_0_187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6" name="Google Shape;456;g3cfb7ec7a87_0_187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7" name="Google Shape;457;g3cfb7ec7a87_0_187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58" name="Google Shape;458;g3cfb7ec7a87_0_18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learnings">
  <p:cSld name="CUSTOM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cfb7ec7a87_0_1883"/>
          <p:cNvSpPr/>
          <p:nvPr/>
        </p:nvSpPr>
        <p:spPr>
          <a:xfrm flipH="1" rot="5400000">
            <a:off x="5052850" y="1254650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1" name="Google Shape;461;g3cfb7ec7a87_0_1883"/>
          <p:cNvSpPr/>
          <p:nvPr/>
        </p:nvSpPr>
        <p:spPr>
          <a:xfrm flipH="1">
            <a:off x="25" y="2692075"/>
            <a:ext cx="1709400" cy="16257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2" name="Google Shape;462;g3cfb7ec7a87_0_1883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3" name="Google Shape;463;g3cfb7ec7a87_0_1883"/>
          <p:cNvSpPr/>
          <p:nvPr/>
        </p:nvSpPr>
        <p:spPr>
          <a:xfrm flipH="1" rot="-5400000">
            <a:off x="-125" y="3483026"/>
            <a:ext cx="1665300" cy="16653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4" name="Google Shape;464;g3cfb7ec7a87_0_1883"/>
          <p:cNvSpPr/>
          <p:nvPr/>
        </p:nvSpPr>
        <p:spPr>
          <a:xfrm flipH="1" rot="5400000">
            <a:off x="5052850" y="2554039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5" name="Google Shape;465;g3cfb7ec7a87_0_1883"/>
          <p:cNvSpPr/>
          <p:nvPr/>
        </p:nvSpPr>
        <p:spPr>
          <a:xfrm flipH="1" rot="5400000">
            <a:off x="5052850" y="3858733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6" name="Google Shape;466;g3cfb7ec7a87_0_1883"/>
          <p:cNvSpPr txBox="1"/>
          <p:nvPr>
            <p:ph type="title"/>
          </p:nvPr>
        </p:nvSpPr>
        <p:spPr>
          <a:xfrm>
            <a:off x="283475" y="1790498"/>
            <a:ext cx="31626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67" name="Google Shape;467;g3cfb7ec7a87_0_1883"/>
          <p:cNvSpPr txBox="1"/>
          <p:nvPr>
            <p:ph idx="1" type="subTitle"/>
          </p:nvPr>
        </p:nvSpPr>
        <p:spPr>
          <a:xfrm>
            <a:off x="5052850" y="703626"/>
            <a:ext cx="19704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68" name="Google Shape;468;g3cfb7ec7a87_0_1883"/>
          <p:cNvSpPr txBox="1"/>
          <p:nvPr>
            <p:ph idx="2" type="subTitle"/>
          </p:nvPr>
        </p:nvSpPr>
        <p:spPr>
          <a:xfrm>
            <a:off x="5052850" y="1447600"/>
            <a:ext cx="2403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9" name="Google Shape;469;g3cfb7ec7a87_0_1883"/>
          <p:cNvSpPr txBox="1"/>
          <p:nvPr>
            <p:ph idx="3" type="subTitle"/>
          </p:nvPr>
        </p:nvSpPr>
        <p:spPr>
          <a:xfrm>
            <a:off x="5052850" y="2006687"/>
            <a:ext cx="19704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70" name="Google Shape;470;g3cfb7ec7a87_0_1883"/>
          <p:cNvSpPr txBox="1"/>
          <p:nvPr>
            <p:ph idx="4" type="subTitle"/>
          </p:nvPr>
        </p:nvSpPr>
        <p:spPr>
          <a:xfrm>
            <a:off x="5052850" y="2750664"/>
            <a:ext cx="2403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71" name="Google Shape;471;g3cfb7ec7a87_0_1883"/>
          <p:cNvSpPr txBox="1"/>
          <p:nvPr>
            <p:ph idx="5" type="subTitle"/>
          </p:nvPr>
        </p:nvSpPr>
        <p:spPr>
          <a:xfrm>
            <a:off x="5052850" y="3310695"/>
            <a:ext cx="19704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72" name="Google Shape;472;g3cfb7ec7a87_0_1883"/>
          <p:cNvSpPr txBox="1"/>
          <p:nvPr>
            <p:ph idx="6" type="subTitle"/>
          </p:nvPr>
        </p:nvSpPr>
        <p:spPr>
          <a:xfrm>
            <a:off x="5052850" y="4054675"/>
            <a:ext cx="2403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73" name="Google Shape;473;g3cfb7ec7a87_0_1883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74" name="Google Shape;474;g3cfb7ec7a87_0_1883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75" name="Google Shape;475;g3cfb7ec7a87_0_1883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6" name="Google Shape;476;g3cfb7ec7a87_0_188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77" name="Google Shape;477;g3cfb7ec7a87_0_188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2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cfb7ec7a87_0_1902"/>
          <p:cNvSpPr txBox="1"/>
          <p:nvPr>
            <p:ph type="title"/>
          </p:nvPr>
        </p:nvSpPr>
        <p:spPr>
          <a:xfrm>
            <a:off x="4665825" y="1253625"/>
            <a:ext cx="4193400" cy="30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80" name="Google Shape;480;g3cfb7ec7a87_0_1902"/>
          <p:cNvSpPr txBox="1"/>
          <p:nvPr>
            <p:ph idx="1" type="body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81" name="Google Shape;481;g3cfb7ec7a87_0_1902"/>
          <p:cNvSpPr txBox="1"/>
          <p:nvPr>
            <p:ph idx="2" type="body"/>
          </p:nvPr>
        </p:nvSpPr>
        <p:spPr>
          <a:xfrm>
            <a:off x="283925" y="3561603"/>
            <a:ext cx="1823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82" name="Google Shape;482;g3cfb7ec7a87_0_1902"/>
          <p:cNvSpPr txBox="1"/>
          <p:nvPr>
            <p:ph idx="3" type="body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83" name="Google Shape;483;g3cfb7ec7a87_0_1902"/>
          <p:cNvSpPr txBox="1"/>
          <p:nvPr>
            <p:ph idx="4" type="body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84" name="Google Shape;484;g3cfb7ec7a87_0_1902"/>
          <p:cNvSpPr txBox="1"/>
          <p:nvPr>
            <p:ph idx="5" type="body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85" name="Google Shape;485;g3cfb7ec7a87_0_1902"/>
          <p:cNvSpPr txBox="1"/>
          <p:nvPr>
            <p:ph idx="6" type="body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86" name="Google Shape;486;g3cfb7ec7a87_0_1902"/>
          <p:cNvSpPr txBox="1"/>
          <p:nvPr>
            <p:ph idx="7" type="body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87" name="Google Shape;487;g3cfb7ec7a87_0_1902"/>
          <p:cNvSpPr txBox="1"/>
          <p:nvPr>
            <p:ph idx="8" type="body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88" name="Google Shape;488;g3cfb7ec7a87_0_1902"/>
          <p:cNvSpPr/>
          <p:nvPr/>
        </p:nvSpPr>
        <p:spPr>
          <a:xfrm flipH="1" rot="10800000">
            <a:off x="-10739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9" name="Google Shape;489;g3cfb7ec7a87_0_1902"/>
          <p:cNvSpPr/>
          <p:nvPr/>
        </p:nvSpPr>
        <p:spPr>
          <a:xfrm flipH="1" rot="10800000">
            <a:off x="-34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0" name="Google Shape;490;g3cfb7ec7a87_0_1902"/>
          <p:cNvSpPr/>
          <p:nvPr/>
        </p:nvSpPr>
        <p:spPr>
          <a:xfrm flipH="1" rot="10800000">
            <a:off x="10723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1" name="Google Shape;491;g3cfb7ec7a87_0_1902"/>
          <p:cNvSpPr/>
          <p:nvPr/>
        </p:nvSpPr>
        <p:spPr>
          <a:xfrm flipH="1" rot="10800000">
            <a:off x="2149393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2" name="Google Shape;492;g3cfb7ec7a87_0_1902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93" name="Google Shape;493;g3cfb7ec7a87_0_1902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94" name="Google Shape;494;g3cfb7ec7a87_0_1902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5" name="Google Shape;495;g3cfb7ec7a87_0_190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96" name="Google Shape;496;g3cfb7ec7a87_0_190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 &amp; QA">
  <p:cSld name="CUSTOM_3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cfb7ec7a87_0_1921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9" name="Google Shape;499;g3cfb7ec7a87_0_1921"/>
          <p:cNvSpPr txBox="1"/>
          <p:nvPr>
            <p:ph idx="1" type="subTitle"/>
          </p:nvPr>
        </p:nvSpPr>
        <p:spPr>
          <a:xfrm>
            <a:off x="284700" y="3566350"/>
            <a:ext cx="4557300" cy="12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00" name="Google Shape;500;g3cfb7ec7a87_0_1921"/>
          <p:cNvSpPr/>
          <p:nvPr/>
        </p:nvSpPr>
        <p:spPr>
          <a:xfrm>
            <a:off x="3890550" y="-1634700"/>
            <a:ext cx="3509100" cy="3267600"/>
          </a:xfrm>
          <a:prstGeom prst="pie">
            <a:avLst>
              <a:gd fmla="val 0" name="adj1"/>
              <a:gd fmla="val 5401683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1" name="Google Shape;501;g3cfb7ec7a87_0_1921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5409954" name="adj1"/>
              <a:gd fmla="val 1080318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2" name="Google Shape;502;g3cfb7ec7a87_0_1921"/>
          <p:cNvSpPr/>
          <p:nvPr/>
        </p:nvSpPr>
        <p:spPr>
          <a:xfrm rot="-5400000">
            <a:off x="5639256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3" name="Google Shape;503;g3cfb7ec7a87_0_1921"/>
          <p:cNvSpPr/>
          <p:nvPr/>
        </p:nvSpPr>
        <p:spPr>
          <a:xfrm>
            <a:off x="5640000" y="-1634700"/>
            <a:ext cx="3509100" cy="3267600"/>
          </a:xfrm>
          <a:prstGeom prst="pie">
            <a:avLst>
              <a:gd fmla="val 0" name="adj1"/>
              <a:gd fmla="val 540036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4" name="Google Shape;504;g3cfb7ec7a87_0_1921"/>
          <p:cNvSpPr txBox="1"/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505" name="Google Shape;505;g3cfb7ec7a87_0_192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506" name="Google Shape;506;g3cfb7ec7a87_0_19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cfb7ec7a87_0_19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09" name="Google Shape;509;g3cfb7ec7a87_0_19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10" name="Google Shape;510;g3cfb7ec7a87_0_19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cfb7ec7a87_0_19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13" name="Google Shape;513;g3cfb7ec7a87_0_19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cfb7ec7a87_0_19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16" name="Google Shape;516;g3cfb7ec7a87_0_19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7" name="Google Shape;517;g3cfb7ec7a87_0_19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cfb7ec7a87_0_19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20" name="Google Shape;520;g3cfb7ec7a87_0_194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1" name="Google Shape;521;g3cfb7ec7a87_0_194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2" name="Google Shape;522;g3cfb7ec7a87_0_19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cfb7ec7a87_0_19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25" name="Google Shape;525;g3cfb7ec7a87_0_19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cfb7ec7a87_0_195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8" name="Google Shape;528;g3cfb7ec7a87_0_195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9" name="Google Shape;529;g3cfb7ec7a87_0_19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cfb7ec7a87_0_195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2" name="Google Shape;532;g3cfb7ec7a87_0_19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cfb7ec7a87_0_195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5" name="Google Shape;535;g3cfb7ec7a87_0_195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6" name="Google Shape;536;g3cfb7ec7a87_0_195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indent="-29845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37" name="Google Shape;537;g3cfb7ec7a87_0_19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cfb7ec7a87_0_196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9845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0" name="Google Shape;540;g3cfb7ec7a87_0_19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cfb7ec7a87_0_1965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543" name="Google Shape;543;g3cfb7ec7a87_0_196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4" name="Google Shape;544;g3cfb7ec7a87_0_19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cfb7ec7a87_0_19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cfb7ec7a87_0_197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49" name="Google Shape;549;g3cfb7ec7a87_0_197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0" name="Google Shape;550;g3cfb7ec7a87_0_197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1" name="Google Shape;551;g3cfb7ec7a87_0_197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2" name="Google Shape;552;g3cfb7ec7a87_0_197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3" name="Google Shape;553;g3cfb7ec7a87_0_197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4" name="Google Shape;554;g3cfb7ec7a87_0_197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5" name="Google Shape;555;g3cfb7ec7a87_0_19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cfb7ec7a87_0_19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58" name="Google Shape;558;g3cfb7ec7a87_0_198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9" name="Google Shape;559;g3cfb7ec7a87_0_198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560" name="Google Shape;560;g3cfb7ec7a87_0_198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cfb7ec7a87_0_198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3" name="Google Shape;563;g3cfb7ec7a87_0_198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4" name="Google Shape;564;g3cfb7ec7a87_0_198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5" name="Google Shape;565;g3cfb7ec7a87_0_198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6" name="Google Shape;566;g3cfb7ec7a87_0_198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7" name="Google Shape;567;g3cfb7ec7a87_0_198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cfb7ec7a87_0_199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0" name="Google Shape;570;g3cfb7ec7a87_0_199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1" name="Google Shape;571;g3cfb7ec7a87_0_199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72" name="Google Shape;572;g3cfb7ec7a87_0_199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3" name="Google Shape;573;g3cfb7ec7a87_0_199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4" name="Google Shape;574;g3cfb7ec7a87_0_199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5" name="Google Shape;575;g3cfb7ec7a87_0_199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6" name="Google Shape;576;g3cfb7ec7a87_0_199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cfb7ec7a87_0_200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9" name="Google Shape;579;g3cfb7ec7a87_0_200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0" name="Google Shape;580;g3cfb7ec7a87_0_200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1" name="Google Shape;581;g3cfb7ec7a87_0_200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2" name="Google Shape;582;g3cfb7ec7a87_0_200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83" name="Google Shape;583;g3cfb7ec7a87_0_200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4" name="Google Shape;584;g3cfb7ec7a87_0_200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5" name="Google Shape;585;g3cfb7ec7a87_0_200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6" name="Google Shape;586;g3cfb7ec7a87_0_200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7" name="Google Shape;587;g3cfb7ec7a87_0_200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cfb7ec7a87_0_20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90" name="Google Shape;590;g3cfb7ec7a87_0_201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g3cfb7ec7a87_0_20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cfb7ec7a87_0_2016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4" name="Google Shape;594;g3cfb7ec7a87_0_2016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g3cfb7ec7a87_0_2016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96" name="Google Shape;596;g3cfb7ec7a87_0_2016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7" name="Google Shape;597;g3cfb7ec7a87_0_20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98" name="Google Shape;598;g3cfb7ec7a87_0_2016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9" name="Google Shape;599;g3cfb7ec7a87_0_2016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00" name="Google Shape;600;g3cfb7ec7a87_0_20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cfb7ec7a87_0_202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03" name="Google Shape;603;g3cfb7ec7a87_0_202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04" name="Google Shape;604;g3cfb7ec7a87_0_202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g3cfb7ec7a87_0_202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06" name="Google Shape;606;g3cfb7ec7a87_0_202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07" name="Google Shape;607;g3cfb7ec7a87_0_202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08" name="Google Shape;608;g3cfb7ec7a87_0_20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09" name="Google Shape;609;g3cfb7ec7a87_0_202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10" name="Google Shape;610;g3cfb7ec7a87_0_202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11" name="Google Shape;611;g3cfb7ec7a87_0_202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12" name="Google Shape;612;g3cfb7ec7a87_0_20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cfb7ec7a87_0_203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615" name="Google Shape;615;g3cfb7ec7a87_0_20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cfb7ec7a87_0_20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8" name="Google Shape;618;g3cfb7ec7a87_0_20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9" name="Google Shape;619;g3cfb7ec7a87_0_20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20" name="Google Shape;620;g3cfb7ec7a87_0_20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21" name="Google Shape;621;g3cfb7ec7a87_0_20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22" name="Google Shape;622;g3cfb7ec7a87_0_20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23" name="Google Shape;623;g3cfb7ec7a87_0_20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24" name="Google Shape;624;g3cfb7ec7a87_0_20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25" name="Google Shape;625;g3cfb7ec7a87_0_20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26" name="Google Shape;626;g3cfb7ec7a87_0_20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27" name="Google Shape;627;g3cfb7ec7a87_0_20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0.xml"/><Relationship Id="rId20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6.xml"/><Relationship Id="rId26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8.xml"/><Relationship Id="rId28" Type="http://schemas.openxmlformats.org/officeDocument/2006/relationships/slideLayout" Target="../slideLayouts/slideLayout29.xml"/><Relationship Id="rId29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3.xml"/><Relationship Id="rId33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5.xml"/><Relationship Id="rId35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7.xml"/><Relationship Id="rId37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9.xml"/><Relationship Id="rId39" Type="http://schemas.openxmlformats.org/officeDocument/2006/relationships/slideLayout" Target="../slideLayouts/slideLayout40.xml"/><Relationship Id="rId40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2.xml"/><Relationship Id="rId42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4.xml"/><Relationship Id="rId44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6.xml"/><Relationship Id="rId46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8.xml"/><Relationship Id="rId48" Type="http://schemas.openxmlformats.org/officeDocument/2006/relationships/slideLayout" Target="../slideLayouts/slideLayout49.xml"/><Relationship Id="rId49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51.xml"/><Relationship Id="rId51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3.xml"/><Relationship Id="rId5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cfb7ec7a87_0_1434"/>
          <p:cNvSpPr txBox="1"/>
          <p:nvPr>
            <p:ph idx="1" type="body"/>
          </p:nvPr>
        </p:nvSpPr>
        <p:spPr>
          <a:xfrm>
            <a:off x="284700" y="17823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b="0" i="0" sz="11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298450" lvl="1" marL="9144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b="0" i="0" sz="11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298450" lvl="2" marL="13716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b="0" i="0" sz="11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298450" lvl="3" marL="18288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b="0" i="0" sz="11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298450" lvl="4" marL="22860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b="0" i="0" sz="11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298450" lvl="5" marL="2743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b="0" i="0" sz="11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298450" lvl="6" marL="32004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b="0" i="0" sz="11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298450" lvl="7" marL="36576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b="0" i="0" sz="11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298450" lvl="8" marL="4114800" marR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Urbanist"/>
              <a:buChar char="■"/>
              <a:defRPr b="0" i="0" sz="11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" name="Google Shape;13;g3cfb7ec7a87_0_1434"/>
          <p:cNvSpPr txBox="1"/>
          <p:nvPr>
            <p:ph type="title"/>
          </p:nvPr>
        </p:nvSpPr>
        <p:spPr>
          <a:xfrm>
            <a:off x="283475" y="459250"/>
            <a:ext cx="85758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b="0" i="0" sz="40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b="0" i="0" sz="40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b="0" i="0" sz="40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b="0" i="0" sz="40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b="0" i="0" sz="40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b="0" i="0" sz="40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b="0" i="0" sz="40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b="0" i="0" sz="40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b="0" i="0" sz="40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4" name="Google Shape;14;g3cfb7ec7a87_0_14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699" r:id="rId49"/>
    <p:sldLayoutId id="2147483700" r:id="rId50"/>
    <p:sldLayoutId id="2147483701" r:id="rId51"/>
    <p:sldLayoutId id="2147483702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mailto:ksoncrant@zscaler.com" TargetMode="External"/><Relationship Id="rId4" Type="http://schemas.openxmlformats.org/officeDocument/2006/relationships/hyperlink" Target="mailto:awood@zscaler.com" TargetMode="External"/><Relationship Id="rId5" Type="http://schemas.openxmlformats.org/officeDocument/2006/relationships/hyperlink" Target="mailto:bstonegross@zscaler.com" TargetMode="External"/><Relationship Id="rId6" Type="http://schemas.openxmlformats.org/officeDocument/2006/relationships/hyperlink" Target="mailto:awood@zscaler.com" TargetMode="External"/><Relationship Id="rId7" Type="http://schemas.openxmlformats.org/officeDocument/2006/relationships/hyperlink" Target="mailto:z-tprm@zscaler.com" TargetMode="External"/><Relationship Id="rId8" Type="http://schemas.openxmlformats.org/officeDocument/2006/relationships/hyperlink" Target="mailto:awood@zscaler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B19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1"/>
          <p:cNvSpPr/>
          <p:nvPr/>
        </p:nvSpPr>
        <p:spPr>
          <a:xfrm>
            <a:off x="731520" y="1280160"/>
            <a:ext cx="73152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4400"/>
              <a:buFont typeface="Arial Black"/>
              <a:buNone/>
            </a:pPr>
            <a:r>
              <a:rPr b="1" lang="en-US" sz="4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Zscaler</a:t>
            </a:r>
            <a:endParaRPr b="0" i="0" sz="4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Operational Sync</a:t>
            </a:r>
            <a:endParaRPr b="0" i="0" sz="4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"/>
          <p:cNvSpPr/>
          <p:nvPr/>
        </p:nvSpPr>
        <p:spPr>
          <a:xfrm>
            <a:off x="731520" y="32004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First Offensive Cyber Solution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"/>
          <p:cNvSpPr/>
          <p:nvPr/>
        </p:nvSpPr>
        <p:spPr>
          <a:xfrm>
            <a:off x="731520" y="3749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83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5383B"/>
                </a:solidFill>
                <a:latin typeface="Arial"/>
                <a:ea typeface="Arial"/>
                <a:cs typeface="Arial"/>
                <a:sym typeface="Arial"/>
              </a:rPr>
              <a:t>Infiltrate</a:t>
            </a: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·  </a:t>
            </a:r>
            <a:r>
              <a:rPr b="1" i="0" lang="en-US" sz="1400" u="none" cap="none" strike="noStrike">
                <a:solidFill>
                  <a:srgbClr val="E5383B"/>
                </a:solidFill>
                <a:latin typeface="Arial"/>
                <a:ea typeface="Arial"/>
                <a:cs typeface="Arial"/>
                <a:sym typeface="Arial"/>
              </a:rPr>
              <a:t>Intervene</a:t>
            </a: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·  </a:t>
            </a:r>
            <a:r>
              <a:rPr b="1" i="0" lang="en-US" sz="1400" u="none" cap="none" strike="noStrike">
                <a:solidFill>
                  <a:srgbClr val="E5383B"/>
                </a:solidFill>
                <a:latin typeface="Arial"/>
                <a:ea typeface="Arial"/>
                <a:cs typeface="Arial"/>
                <a:sym typeface="Arial"/>
              </a:rPr>
              <a:t>Intercept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"/>
          <p:cNvSpPr/>
          <p:nvPr/>
        </p:nvSpPr>
        <p:spPr>
          <a:xfrm>
            <a:off x="731520" y="45720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8" name="Google Shape;63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30" y="575231"/>
            <a:ext cx="1250720" cy="609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2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0D1117"/>
                </a:solidFill>
                <a:latin typeface="Arial Black"/>
                <a:ea typeface="Arial Black"/>
                <a:cs typeface="Arial Black"/>
                <a:sym typeface="Arial Black"/>
              </a:rPr>
              <a:t>Operational Agenda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"/>
          <p:cNvSpPr/>
          <p:nvPr/>
        </p:nvSpPr>
        <p:spPr>
          <a:xfrm>
            <a:off x="640080" y="1371600"/>
            <a:ext cx="78638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"/>
          <p:cNvSpPr/>
          <p:nvPr/>
        </p:nvSpPr>
        <p:spPr>
          <a:xfrm>
            <a:off x="640080" y="1371600"/>
            <a:ext cx="64008" cy="56692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2"/>
          <p:cNvSpPr/>
          <p:nvPr/>
        </p:nvSpPr>
        <p:spPr>
          <a:xfrm>
            <a:off x="1005840" y="1371600"/>
            <a:ext cx="7132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Operational Alignment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"/>
          <p:cNvSpPr/>
          <p:nvPr/>
        </p:nvSpPr>
        <p:spPr>
          <a:xfrm>
            <a:off x="640080" y="2084832"/>
            <a:ext cx="78638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2"/>
          <p:cNvSpPr/>
          <p:nvPr/>
        </p:nvSpPr>
        <p:spPr>
          <a:xfrm>
            <a:off x="640080" y="2084832"/>
            <a:ext cx="64008" cy="56692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2"/>
          <p:cNvSpPr/>
          <p:nvPr/>
        </p:nvSpPr>
        <p:spPr>
          <a:xfrm>
            <a:off x="1005840" y="2084832"/>
            <a:ext cx="7132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Assets Under Protection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"/>
          <p:cNvSpPr/>
          <p:nvPr/>
        </p:nvSpPr>
        <p:spPr>
          <a:xfrm>
            <a:off x="640080" y="2798064"/>
            <a:ext cx="78638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2"/>
          <p:cNvSpPr/>
          <p:nvPr/>
        </p:nvSpPr>
        <p:spPr>
          <a:xfrm>
            <a:off x="640080" y="2798064"/>
            <a:ext cx="64008" cy="56692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2"/>
          <p:cNvSpPr/>
          <p:nvPr/>
        </p:nvSpPr>
        <p:spPr>
          <a:xfrm>
            <a:off x="1005840" y="2798064"/>
            <a:ext cx="7132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Portfolio Protection Activity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"/>
          <p:cNvSpPr/>
          <p:nvPr/>
        </p:nvSpPr>
        <p:spPr>
          <a:xfrm>
            <a:off x="640080" y="3511296"/>
            <a:ext cx="78638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2"/>
          <p:cNvSpPr/>
          <p:nvPr/>
        </p:nvSpPr>
        <p:spPr>
          <a:xfrm>
            <a:off x="640080" y="3511296"/>
            <a:ext cx="64008" cy="56692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2"/>
          <p:cNvSpPr/>
          <p:nvPr/>
        </p:nvSpPr>
        <p:spPr>
          <a:xfrm>
            <a:off x="1005840" y="3511296"/>
            <a:ext cx="7132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Notification Protocols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"/>
          <p:cNvSpPr/>
          <p:nvPr/>
        </p:nvSpPr>
        <p:spPr>
          <a:xfrm>
            <a:off x="640080" y="4224528"/>
            <a:ext cx="78638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2"/>
          <p:cNvSpPr/>
          <p:nvPr/>
        </p:nvSpPr>
        <p:spPr>
          <a:xfrm>
            <a:off x="640080" y="4224528"/>
            <a:ext cx="64008" cy="56692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2"/>
          <p:cNvSpPr/>
          <p:nvPr/>
        </p:nvSpPr>
        <p:spPr>
          <a:xfrm>
            <a:off x="1005840" y="4224528"/>
            <a:ext cx="7132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Threat Intel Insights from the Field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3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0D1117"/>
                </a:solidFill>
                <a:latin typeface="Arial Black"/>
                <a:ea typeface="Arial Black"/>
                <a:cs typeface="Arial Black"/>
                <a:sym typeface="Arial Black"/>
              </a:rPr>
              <a:t>Subscription Parameters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"/>
          <p:cNvSpPr/>
          <p:nvPr/>
        </p:nvSpPr>
        <p:spPr>
          <a:xfrm>
            <a:off x="640080" y="1371600"/>
            <a:ext cx="786384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3"/>
          <p:cNvSpPr/>
          <p:nvPr/>
        </p:nvSpPr>
        <p:spPr>
          <a:xfrm>
            <a:off x="640080" y="1371600"/>
            <a:ext cx="64008" cy="96012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3"/>
          <p:cNvSpPr/>
          <p:nvPr/>
        </p:nvSpPr>
        <p:spPr>
          <a:xfrm>
            <a:off x="1005840" y="146304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83B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E5383B"/>
                </a:solidFill>
                <a:latin typeface="Arial Black"/>
                <a:ea typeface="Arial Black"/>
                <a:cs typeface="Arial Black"/>
                <a:sym typeface="Arial Black"/>
              </a:rPr>
              <a:t>Coverage Focus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"/>
          <p:cNvSpPr/>
          <p:nvPr/>
        </p:nvSpPr>
        <p:spPr>
          <a:xfrm>
            <a:off x="1005840" y="1810512"/>
            <a:ext cx="7132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Pre-ransomware interceptions + infostealer hits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"/>
          <p:cNvSpPr/>
          <p:nvPr/>
        </p:nvSpPr>
        <p:spPr>
          <a:xfrm>
            <a:off x="640080" y="2514600"/>
            <a:ext cx="786384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3"/>
          <p:cNvSpPr/>
          <p:nvPr/>
        </p:nvSpPr>
        <p:spPr>
          <a:xfrm>
            <a:off x="640080" y="2514600"/>
            <a:ext cx="64008" cy="96012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3"/>
          <p:cNvSpPr/>
          <p:nvPr/>
        </p:nvSpPr>
        <p:spPr>
          <a:xfrm>
            <a:off x="1005840" y="260604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83B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E5383B"/>
                </a:solidFill>
                <a:latin typeface="Arial Black"/>
                <a:ea typeface="Arial Black"/>
                <a:cs typeface="Arial Black"/>
                <a:sym typeface="Arial Black"/>
              </a:rPr>
              <a:t>Alert Window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"/>
          <p:cNvSpPr/>
          <p:nvPr/>
        </p:nvSpPr>
        <p:spPr>
          <a:xfrm>
            <a:off x="1005840" y="2953512"/>
            <a:ext cx="7132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Pre-Ransomware Alerts for up to </a:t>
            </a:r>
            <a:r>
              <a:rPr lang="en-US" sz="1300">
                <a:solidFill>
                  <a:srgbClr val="3C4350"/>
                </a:solidFill>
              </a:rPr>
              <a:t>15 </a:t>
            </a:r>
            <a:r>
              <a:rPr b="0" i="0" lang="en-US" sz="130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vendors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"/>
          <p:cNvSpPr/>
          <p:nvPr/>
        </p:nvSpPr>
        <p:spPr>
          <a:xfrm>
            <a:off x="640080" y="3657600"/>
            <a:ext cx="786384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3"/>
          <p:cNvSpPr/>
          <p:nvPr/>
        </p:nvSpPr>
        <p:spPr>
          <a:xfrm>
            <a:off x="640080" y="3657600"/>
            <a:ext cx="64008" cy="96012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3"/>
          <p:cNvSpPr/>
          <p:nvPr/>
        </p:nvSpPr>
        <p:spPr>
          <a:xfrm>
            <a:off x="1005840" y="374904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83B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E5383B"/>
                </a:solidFill>
                <a:latin typeface="Arial Black"/>
                <a:ea typeface="Arial Black"/>
                <a:cs typeface="Arial Black"/>
                <a:sym typeface="Arial Black"/>
              </a:rPr>
              <a:t>Timeline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"/>
          <p:cNvSpPr/>
          <p:nvPr/>
        </p:nvSpPr>
        <p:spPr>
          <a:xfrm>
            <a:off x="1005840" y="4096512"/>
            <a:ext cx="7132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Intel Services initiated </a:t>
            </a:r>
            <a:r>
              <a:rPr lang="en-US" sz="1300">
                <a:solidFill>
                  <a:srgbClr val="3C4350"/>
                </a:solidFill>
              </a:rPr>
              <a:t>June </a:t>
            </a:r>
            <a:r>
              <a:rPr b="0" i="0" lang="en-US" sz="130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>
                <a:solidFill>
                  <a:srgbClr val="3C4350"/>
                </a:solidFill>
              </a:rPr>
              <a:t>19</a:t>
            </a:r>
            <a:r>
              <a:rPr b="0" i="0" lang="en-US" sz="130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, 2025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Current term renewal date is </a:t>
            </a:r>
            <a:r>
              <a:rPr lang="en-US" sz="1300">
                <a:solidFill>
                  <a:srgbClr val="3C4350"/>
                </a:solidFill>
              </a:rPr>
              <a:t>June</a:t>
            </a:r>
            <a:r>
              <a:rPr b="0" i="0" lang="en-US" sz="130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>
                <a:solidFill>
                  <a:srgbClr val="3C4350"/>
                </a:solidFill>
              </a:rPr>
              <a:t>19</a:t>
            </a:r>
            <a:r>
              <a:rPr b="0" i="0" lang="en-US" sz="130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,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4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0D1117"/>
                </a:solidFill>
                <a:latin typeface="Arial Black"/>
                <a:ea typeface="Arial Black"/>
                <a:cs typeface="Arial Black"/>
                <a:sym typeface="Arial Black"/>
              </a:rPr>
              <a:t>The </a:t>
            </a:r>
            <a:r>
              <a:rPr b="1" lang="en-US" sz="3200">
                <a:solidFill>
                  <a:srgbClr val="0D1117"/>
                </a:solidFill>
                <a:latin typeface="Arial Black"/>
                <a:ea typeface="Arial Black"/>
                <a:cs typeface="Arial Black"/>
                <a:sym typeface="Arial Black"/>
              </a:rPr>
              <a:t>Zscaler</a:t>
            </a:r>
            <a:r>
              <a:rPr b="1" i="0" lang="en-US" sz="3200" u="none" cap="none" strike="noStrike">
                <a:solidFill>
                  <a:srgbClr val="0D1117"/>
                </a:solidFill>
                <a:latin typeface="Arial Black"/>
                <a:ea typeface="Arial Black"/>
                <a:cs typeface="Arial Black"/>
                <a:sym typeface="Arial Black"/>
              </a:rPr>
              <a:t> Protected Pool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4"/>
          <p:cNvSpPr/>
          <p:nvPr/>
        </p:nvSpPr>
        <p:spPr>
          <a:xfrm>
            <a:off x="1371600" y="1371600"/>
            <a:ext cx="640080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4"/>
          <p:cNvSpPr/>
          <p:nvPr/>
        </p:nvSpPr>
        <p:spPr>
          <a:xfrm>
            <a:off x="1371600" y="1463040"/>
            <a:ext cx="64008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83B"/>
              </a:buClr>
              <a:buSzPts val="9600"/>
              <a:buFont typeface="Arial Black"/>
              <a:buNone/>
            </a:pPr>
            <a:r>
              <a:rPr b="1" lang="en-US" sz="5200">
                <a:solidFill>
                  <a:srgbClr val="E5383B"/>
                </a:solidFill>
                <a:latin typeface="Arial Black"/>
                <a:ea typeface="Arial Black"/>
                <a:cs typeface="Arial Black"/>
                <a:sym typeface="Arial Black"/>
              </a:rPr>
              <a:t>650</a:t>
            </a:r>
            <a:r>
              <a:rPr b="1" i="0" lang="en-US" sz="5200" u="none" cap="none" strike="noStrike">
                <a:solidFill>
                  <a:srgbClr val="E5383B"/>
                </a:solidFill>
                <a:latin typeface="Arial Black"/>
                <a:ea typeface="Arial Black"/>
                <a:cs typeface="Arial Black"/>
                <a:sym typeface="Arial Black"/>
              </a:rPr>
              <a:t> First Party</a:t>
            </a:r>
            <a:endParaRPr b="1" i="0" sz="5200" u="none" cap="none" strike="noStrike">
              <a:solidFill>
                <a:srgbClr val="E5383B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83B"/>
              </a:buClr>
              <a:buSzPts val="9600"/>
              <a:buFont typeface="Arial Black"/>
              <a:buNone/>
            </a:pPr>
            <a:r>
              <a:rPr b="1" i="0" lang="en-US" sz="5200" u="none" cap="none" strike="noStrike">
                <a:solidFill>
                  <a:srgbClr val="E5383B"/>
                </a:solidFill>
                <a:latin typeface="Arial Black"/>
                <a:ea typeface="Arial Black"/>
                <a:cs typeface="Arial Black"/>
                <a:sym typeface="Arial Black"/>
              </a:rPr>
              <a:t>15 Third Party</a:t>
            </a:r>
            <a:endParaRPr b="1" i="0" sz="5200" u="none" cap="none" strike="noStrike">
              <a:solidFill>
                <a:srgbClr val="E5383B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91" name="Google Shape;691;p4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Assets currently monitored in the protected pool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4"/>
          <p:cNvSpPr/>
          <p:nvPr/>
        </p:nvSpPr>
        <p:spPr>
          <a:xfrm>
            <a:off x="1371600" y="384048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Last updated 11/25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dd022f08b5_0_7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g3dd022f08b5_0_7"/>
          <p:cNvSpPr/>
          <p:nvPr/>
        </p:nvSpPr>
        <p:spPr>
          <a:xfrm>
            <a:off x="640080" y="365760"/>
            <a:ext cx="7315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0D1117"/>
                </a:solidFill>
                <a:latin typeface="Arial Black"/>
                <a:ea typeface="Arial Black"/>
                <a:cs typeface="Arial Black"/>
                <a:sym typeface="Arial Black"/>
              </a:rPr>
              <a:t>Enterprise Protection Impact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g3dd022f08b5_0_7"/>
          <p:cNvSpPr/>
          <p:nvPr/>
        </p:nvSpPr>
        <p:spPr>
          <a:xfrm>
            <a:off x="3291908" y="1280213"/>
            <a:ext cx="25602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g3dd022f08b5_0_7"/>
          <p:cNvSpPr/>
          <p:nvPr/>
        </p:nvSpPr>
        <p:spPr>
          <a:xfrm>
            <a:off x="3291908" y="1280213"/>
            <a:ext cx="2560200" cy="549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g3dd022f08b5_0_7"/>
          <p:cNvSpPr/>
          <p:nvPr/>
        </p:nvSpPr>
        <p:spPr>
          <a:xfrm>
            <a:off x="3291908" y="1554533"/>
            <a:ext cx="25602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83B"/>
              </a:buClr>
              <a:buSzPts val="5400"/>
              <a:buFont typeface="Arial Black"/>
              <a:buNone/>
            </a:pPr>
            <a:r>
              <a:rPr b="1" lang="en-US" sz="5400">
                <a:solidFill>
                  <a:srgbClr val="E5383B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g3dd022f08b5_0_7"/>
          <p:cNvSpPr/>
          <p:nvPr/>
        </p:nvSpPr>
        <p:spPr>
          <a:xfrm>
            <a:off x="3474788" y="2834692"/>
            <a:ext cx="2194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Infostealer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Notification </a:t>
            </a:r>
            <a:endParaRPr b="1" i="0" sz="1400" u="none" cap="none" strike="noStrike">
              <a:solidFill>
                <a:srgbClr val="0D111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for Vendors: </a:t>
            </a:r>
            <a:endParaRPr b="1">
              <a:solidFill>
                <a:srgbClr val="0D1117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Okta - March 30th,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g3dd022f08b5_0_7"/>
          <p:cNvSpPr/>
          <p:nvPr/>
        </p:nvSpPr>
        <p:spPr>
          <a:xfrm>
            <a:off x="8046720" y="475488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g3dd022f08b5_0_7"/>
          <p:cNvSpPr/>
          <p:nvPr/>
        </p:nvSpPr>
        <p:spPr>
          <a:xfrm>
            <a:off x="6074233" y="1280213"/>
            <a:ext cx="25602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g3dd022f08b5_0_7"/>
          <p:cNvSpPr/>
          <p:nvPr/>
        </p:nvSpPr>
        <p:spPr>
          <a:xfrm>
            <a:off x="6074233" y="1280213"/>
            <a:ext cx="2560200" cy="549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g3dd022f08b5_0_7"/>
          <p:cNvSpPr/>
          <p:nvPr/>
        </p:nvSpPr>
        <p:spPr>
          <a:xfrm>
            <a:off x="6074233" y="1554533"/>
            <a:ext cx="25602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83B"/>
              </a:buClr>
              <a:buSzPts val="5400"/>
              <a:buFont typeface="Arial Black"/>
              <a:buNone/>
            </a:pPr>
            <a:r>
              <a:rPr b="1" lang="en-US" sz="5400">
                <a:solidFill>
                  <a:srgbClr val="E5383B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g3dd022f08b5_0_7"/>
          <p:cNvSpPr/>
          <p:nvPr/>
        </p:nvSpPr>
        <p:spPr>
          <a:xfrm>
            <a:off x="6257113" y="2834692"/>
            <a:ext cx="2194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RFI Request</a:t>
            </a:r>
            <a:endParaRPr b="1">
              <a:solidFill>
                <a:srgbClr val="0D1117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D1117"/>
                </a:solidFill>
              </a:rPr>
              <a:t>Shinyhunters - 10/25</a:t>
            </a:r>
            <a:endParaRPr b="1">
              <a:solidFill>
                <a:srgbClr val="0D1117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D1117"/>
                </a:solidFill>
              </a:rPr>
              <a:t>Typosquatting - 2/26</a:t>
            </a:r>
            <a:endParaRPr b="1">
              <a:solidFill>
                <a:srgbClr val="0D1117"/>
              </a:solidFill>
            </a:endParaRPr>
          </a:p>
        </p:txBody>
      </p:sp>
      <p:sp>
        <p:nvSpPr>
          <p:cNvPr id="710" name="Google Shape;710;g3dd022f08b5_0_7"/>
          <p:cNvSpPr/>
          <p:nvPr/>
        </p:nvSpPr>
        <p:spPr>
          <a:xfrm>
            <a:off x="509583" y="1280213"/>
            <a:ext cx="25602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g3dd022f08b5_0_7"/>
          <p:cNvSpPr/>
          <p:nvPr/>
        </p:nvSpPr>
        <p:spPr>
          <a:xfrm>
            <a:off x="509583" y="1280213"/>
            <a:ext cx="2560200" cy="549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g3dd022f08b5_0_7"/>
          <p:cNvSpPr/>
          <p:nvPr/>
        </p:nvSpPr>
        <p:spPr>
          <a:xfrm>
            <a:off x="509583" y="1554533"/>
            <a:ext cx="25602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83B"/>
              </a:buClr>
              <a:buSzPts val="5400"/>
              <a:buFont typeface="Arial Black"/>
              <a:buNone/>
            </a:pPr>
            <a:r>
              <a:rPr b="1" lang="en-US" sz="5400">
                <a:solidFill>
                  <a:srgbClr val="E5383B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g3dd022f08b5_0_7"/>
          <p:cNvSpPr/>
          <p:nvPr/>
        </p:nvSpPr>
        <p:spPr>
          <a:xfrm>
            <a:off x="692463" y="2834692"/>
            <a:ext cx="2194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D1117"/>
                </a:solidFill>
              </a:rPr>
              <a:t>Infostealer Notification for Zscaler*:</a:t>
            </a:r>
            <a:endParaRPr b="1">
              <a:solidFill>
                <a:srgbClr val="0D1117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D1117"/>
                </a:solidFill>
              </a:rPr>
              <a:t>August 1, 2025</a:t>
            </a:r>
            <a:endParaRPr b="1">
              <a:solidFill>
                <a:srgbClr val="0D1117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rgbClr val="0D1117"/>
              </a:solidFill>
            </a:endParaRPr>
          </a:p>
        </p:txBody>
      </p:sp>
      <p:sp>
        <p:nvSpPr>
          <p:cNvPr id="714" name="Google Shape;714;g3dd022f08b5_0_7"/>
          <p:cNvSpPr txBox="1"/>
          <p:nvPr/>
        </p:nvSpPr>
        <p:spPr>
          <a:xfrm>
            <a:off x="640075" y="4480625"/>
            <a:ext cx="7529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*We have had additional infostealer hits available through the platform. We only notify on one’s that pass our OSINT checks. 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6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0D1117"/>
                </a:solidFill>
                <a:latin typeface="Arial Black"/>
                <a:ea typeface="Arial Black"/>
                <a:cs typeface="Arial Black"/>
                <a:sym typeface="Arial Black"/>
              </a:rPr>
              <a:t>Secure Notification Protocols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6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8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5383B"/>
                </a:solidFill>
                <a:latin typeface="Arial"/>
                <a:ea typeface="Arial"/>
                <a:cs typeface="Arial"/>
                <a:sym typeface="Arial"/>
              </a:rPr>
              <a:t>Delivery Mechanisms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6"/>
          <p:cNvSpPr/>
          <p:nvPr/>
        </p:nvSpPr>
        <p:spPr>
          <a:xfrm>
            <a:off x="822955" y="1600200"/>
            <a:ext cx="3547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Direct email notifications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C435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Redacted reports securely delivered via SendSafely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6"/>
          <p:cNvSpPr/>
          <p:nvPr/>
        </p:nvSpPr>
        <p:spPr>
          <a:xfrm>
            <a:off x="640080" y="24688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8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5383B"/>
                </a:solidFill>
                <a:latin typeface="Arial"/>
                <a:ea typeface="Arial"/>
                <a:cs typeface="Arial"/>
                <a:sym typeface="Arial"/>
              </a:rPr>
              <a:t>Authorized </a:t>
            </a:r>
            <a:r>
              <a:rPr b="1" lang="en-US" sz="1600">
                <a:solidFill>
                  <a:srgbClr val="E5383B"/>
                </a:solidFill>
              </a:rPr>
              <a:t>Zscaler</a:t>
            </a:r>
            <a:r>
              <a:rPr b="1" i="0" lang="en-US" sz="1600" u="none" cap="none" strike="noStrike">
                <a:solidFill>
                  <a:srgbClr val="E5383B"/>
                </a:solidFill>
                <a:latin typeface="Arial"/>
                <a:ea typeface="Arial"/>
                <a:cs typeface="Arial"/>
                <a:sym typeface="Arial"/>
              </a:rPr>
              <a:t> Recipients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25" name="Google Shape;725;p6"/>
          <p:cNvGraphicFramePr/>
          <p:nvPr/>
        </p:nvGraphicFramePr>
        <p:xfrm>
          <a:off x="4466730" y="13167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{9861F8F6-6232-4D0D-AD0A-DFC891C72FA0}</a:tableStyleId>
              </a:tblPr>
              <a:tblGrid>
                <a:gridCol w="2286000"/>
                <a:gridCol w="2286000"/>
              </a:tblGrid>
              <a:tr h="681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3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sng">
                          <a:solidFill>
                            <a:schemeClr val="hlink"/>
                          </a:solidFill>
                          <a:hlinkClick r:id="rId3"/>
                        </a:rPr>
                        <a:t>ksoncrant@zscaler.com</a:t>
                      </a:r>
                      <a:endParaRPr sz="1050">
                        <a:solidFill>
                          <a:srgbClr val="3C435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3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sng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hlinkClick r:id="rId4"/>
                        </a:rPr>
                        <a:t>awood@zscaler.com</a:t>
                      </a:r>
                      <a:endParaRPr sz="1050">
                        <a:solidFill>
                          <a:srgbClr val="33475B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3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>
                          <a:solidFill>
                            <a:srgbClr val="33475B"/>
                          </a:solidFill>
                          <a:highlight>
                            <a:srgbClr val="FFFFFF"/>
                          </a:highlight>
                        </a:rPr>
                        <a:t>droberti@zscaler.com</a:t>
                      </a:r>
                      <a:endParaRPr sz="1050">
                        <a:solidFill>
                          <a:srgbClr val="33475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3C4350"/>
                          </a:solidFill>
                        </a:rPr>
                        <a:t>Direct Email Notifications</a:t>
                      </a:r>
                      <a:endParaRPr sz="1050">
                        <a:solidFill>
                          <a:srgbClr val="3C435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62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>
                          <a:solidFill>
                            <a:srgbClr val="0091AE"/>
                          </a:solidFill>
                          <a:highlight>
                            <a:srgbClr val="FFFFFF"/>
                          </a:highlight>
                        </a:rPr>
                        <a:t>ksoncrant@zscaler.com</a:t>
                      </a:r>
                      <a:endParaRPr sz="1050">
                        <a:solidFill>
                          <a:srgbClr val="0091AE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>
                          <a:solidFill>
                            <a:srgbClr val="0091AE"/>
                          </a:solidFill>
                          <a:highlight>
                            <a:srgbClr val="FFFFFF"/>
                          </a:highlight>
                        </a:rPr>
                        <a:t>ddesai@zscaler.com</a:t>
                      </a:r>
                      <a:endParaRPr sz="1050">
                        <a:solidFill>
                          <a:srgbClr val="0091AE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sng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hlinkClick r:id="rId5"/>
                        </a:rPr>
                        <a:t>bstonegross@zscaler.com</a:t>
                      </a:r>
                      <a:endParaRPr sz="1050">
                        <a:solidFill>
                          <a:srgbClr val="0091AE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3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sng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hlinkClick r:id="rId6"/>
                        </a:rPr>
                        <a:t>awood@zscaler.com</a:t>
                      </a:r>
                      <a:endParaRPr sz="1050">
                        <a:solidFill>
                          <a:srgbClr val="33475B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3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>
                          <a:solidFill>
                            <a:srgbClr val="33475B"/>
                          </a:solidFill>
                          <a:highlight>
                            <a:srgbClr val="FFFFFF"/>
                          </a:highlight>
                        </a:rPr>
                        <a:t>droberti@zscaler.com</a:t>
                      </a:r>
                      <a:endParaRPr sz="1050">
                        <a:solidFill>
                          <a:srgbClr val="0091AE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3C4350"/>
                          </a:solidFill>
                        </a:rPr>
                        <a:t>Monthly Intel Reports</a:t>
                      </a:r>
                      <a:endParaRPr sz="1050">
                        <a:solidFill>
                          <a:srgbClr val="3C435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  <a:tr h="2016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>
                          <a:solidFill>
                            <a:srgbClr val="0091AE"/>
                          </a:solidFill>
                          <a:highlight>
                            <a:srgbClr val="FFFFFF"/>
                          </a:highlight>
                        </a:rPr>
                        <a:t>ksoncrant@zscaler.com</a:t>
                      </a:r>
                      <a:endParaRPr sz="1050">
                        <a:solidFill>
                          <a:srgbClr val="0091AE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>
                          <a:solidFill>
                            <a:srgbClr val="0091AE"/>
                          </a:solidFill>
                          <a:highlight>
                            <a:srgbClr val="FFFFFF"/>
                          </a:highlight>
                        </a:rPr>
                        <a:t>ddesai@zscaler.com</a:t>
                      </a:r>
                      <a:endParaRPr sz="1050">
                        <a:solidFill>
                          <a:srgbClr val="0091AE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>
                          <a:solidFill>
                            <a:srgbClr val="0091AE"/>
                          </a:solidFill>
                          <a:highlight>
                            <a:srgbClr val="FFFFFF"/>
                          </a:highlight>
                        </a:rPr>
                        <a:t>bstonegross@zscaler.com</a:t>
                      </a:r>
                      <a:endParaRPr sz="1050">
                        <a:solidFill>
                          <a:srgbClr val="0091AE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>
                          <a:solidFill>
                            <a:srgbClr val="0091AE"/>
                          </a:solidFill>
                          <a:highlight>
                            <a:srgbClr val="FFFFFF"/>
                          </a:highlight>
                        </a:rPr>
                        <a:t>ckagawa@zscaler.com</a:t>
                      </a:r>
                      <a:endParaRPr sz="1050">
                        <a:solidFill>
                          <a:srgbClr val="0091AE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>
                          <a:solidFill>
                            <a:srgbClr val="0091AE"/>
                          </a:solidFill>
                          <a:highlight>
                            <a:srgbClr val="FFFFFF"/>
                          </a:highlight>
                        </a:rPr>
                        <a:t>lbolourie@zscaler.com</a:t>
                      </a:r>
                      <a:endParaRPr sz="1050">
                        <a:solidFill>
                          <a:srgbClr val="0091AE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>
                          <a:solidFill>
                            <a:srgbClr val="0091AE"/>
                          </a:solidFill>
                          <a:highlight>
                            <a:srgbClr val="FFFFFF"/>
                          </a:highlight>
                        </a:rPr>
                        <a:t>marksu@zscaler.com</a:t>
                      </a:r>
                      <a:endParaRPr sz="1050">
                        <a:solidFill>
                          <a:srgbClr val="0091AE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>
                          <a:solidFill>
                            <a:srgbClr val="0091AE"/>
                          </a:solidFill>
                          <a:highlight>
                            <a:srgbClr val="FFFFFF"/>
                          </a:highlight>
                        </a:rPr>
                        <a:t>z-internal-soc@zscaler.com</a:t>
                      </a:r>
                      <a:endParaRPr sz="1050">
                        <a:solidFill>
                          <a:srgbClr val="0091AE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3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sng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hlinkClick r:id="rId7"/>
                        </a:rPr>
                        <a:t>z-tprm@zscaler.com</a:t>
                      </a:r>
                      <a:endParaRPr sz="1050">
                        <a:solidFill>
                          <a:srgbClr val="0091AE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3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sng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hlinkClick r:id="rId8"/>
                        </a:rPr>
                        <a:t>awood@zscaler.com</a:t>
                      </a:r>
                      <a:endParaRPr sz="1050">
                        <a:solidFill>
                          <a:srgbClr val="33475B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3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>
                          <a:solidFill>
                            <a:srgbClr val="33475B"/>
                          </a:solidFill>
                          <a:highlight>
                            <a:srgbClr val="FFFFFF"/>
                          </a:highlight>
                        </a:rPr>
                        <a:t>droberti@zscaler.com</a:t>
                      </a:r>
                      <a:endParaRPr sz="1050">
                        <a:solidFill>
                          <a:srgbClr val="0091AE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3C4350"/>
                          </a:solidFill>
                        </a:rPr>
                        <a:t>Access to SendSafely</a:t>
                      </a:r>
                      <a:endParaRPr sz="1050" u="none" cap="none" strike="noStrike">
                        <a:solidFill>
                          <a:srgbClr val="3C435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726" name="Google Shape;726;p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cfb7ec7a87_0_1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g3cfb7ec7a87_0_1"/>
          <p:cNvSpPr/>
          <p:nvPr/>
        </p:nvSpPr>
        <p:spPr>
          <a:xfrm>
            <a:off x="640080" y="36576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0D1117"/>
                </a:solidFill>
                <a:latin typeface="Arial Black"/>
                <a:ea typeface="Arial Black"/>
                <a:cs typeface="Arial Black"/>
                <a:sym typeface="Arial Black"/>
              </a:rPr>
              <a:t>February 2026 Intelligence Snapshot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g3cfb7ec7a87_0_1"/>
          <p:cNvSpPr/>
          <p:nvPr/>
        </p:nvSpPr>
        <p:spPr>
          <a:xfrm>
            <a:off x="640080" y="914400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Top Observed Access Types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g3cfb7ec7a87_0_1"/>
          <p:cNvSpPr/>
          <p:nvPr/>
        </p:nvSpPr>
        <p:spPr>
          <a:xfrm>
            <a:off x="640080" y="1463040"/>
            <a:ext cx="2743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Fortinet VPN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g3cfb7ec7a87_0_1"/>
          <p:cNvSpPr/>
          <p:nvPr/>
        </p:nvSpPr>
        <p:spPr>
          <a:xfrm>
            <a:off x="3474720" y="1554480"/>
            <a:ext cx="4755000" cy="320100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g3cfb7ec7a87_0_1"/>
          <p:cNvSpPr/>
          <p:nvPr/>
        </p:nvSpPr>
        <p:spPr>
          <a:xfrm>
            <a:off x="3474720" y="1554480"/>
            <a:ext cx="3994200" cy="3201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g3cfb7ec7a87_0_1"/>
          <p:cNvSpPr/>
          <p:nvPr/>
        </p:nvSpPr>
        <p:spPr>
          <a:xfrm>
            <a:off x="7605979" y="1463040"/>
            <a:ext cx="731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D1117"/>
                </a:solidFill>
                <a:latin typeface="Arial Black"/>
                <a:ea typeface="Arial Black"/>
                <a:cs typeface="Arial Black"/>
                <a:sym typeface="Arial Black"/>
              </a:rPr>
              <a:t>21%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g3cfb7ec7a87_0_1"/>
          <p:cNvSpPr/>
          <p:nvPr/>
        </p:nvSpPr>
        <p:spPr>
          <a:xfrm>
            <a:off x="640080" y="2148840"/>
            <a:ext cx="2743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Windows RDP / SonicWall VPN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g3cfb7ec7a87_0_1"/>
          <p:cNvSpPr/>
          <p:nvPr/>
        </p:nvSpPr>
        <p:spPr>
          <a:xfrm>
            <a:off x="3474720" y="2240280"/>
            <a:ext cx="4755000" cy="320100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g3cfb7ec7a87_0_1"/>
          <p:cNvSpPr/>
          <p:nvPr/>
        </p:nvSpPr>
        <p:spPr>
          <a:xfrm>
            <a:off x="3474720" y="2240280"/>
            <a:ext cx="3366600" cy="320100"/>
          </a:xfrm>
          <a:prstGeom prst="rect">
            <a:avLst/>
          </a:prstGeom>
          <a:solidFill>
            <a:srgbClr val="1E26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g3cfb7ec7a87_0_1"/>
          <p:cNvSpPr/>
          <p:nvPr/>
        </p:nvSpPr>
        <p:spPr>
          <a:xfrm>
            <a:off x="6978335" y="2148840"/>
            <a:ext cx="731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D1117"/>
                </a:solidFill>
                <a:latin typeface="Arial Black"/>
                <a:ea typeface="Arial Black"/>
                <a:cs typeface="Arial Black"/>
                <a:sym typeface="Arial Black"/>
              </a:rPr>
              <a:t>17.7%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g3cfb7ec7a87_0_1"/>
          <p:cNvSpPr/>
          <p:nvPr/>
        </p:nvSpPr>
        <p:spPr>
          <a:xfrm>
            <a:off x="640080" y="2834640"/>
            <a:ext cx="2743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RD Web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g3cfb7ec7a87_0_1"/>
          <p:cNvSpPr/>
          <p:nvPr/>
        </p:nvSpPr>
        <p:spPr>
          <a:xfrm>
            <a:off x="3474720" y="2926080"/>
            <a:ext cx="4755000" cy="320100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g3cfb7ec7a87_0_1"/>
          <p:cNvSpPr/>
          <p:nvPr/>
        </p:nvSpPr>
        <p:spPr>
          <a:xfrm>
            <a:off x="3474720" y="2926080"/>
            <a:ext cx="1540500" cy="320100"/>
          </a:xfrm>
          <a:prstGeom prst="rect">
            <a:avLst/>
          </a:prstGeom>
          <a:solidFill>
            <a:srgbClr val="1E26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g3cfb7ec7a87_0_1"/>
          <p:cNvSpPr/>
          <p:nvPr/>
        </p:nvSpPr>
        <p:spPr>
          <a:xfrm>
            <a:off x="5152461" y="2834640"/>
            <a:ext cx="731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D1117"/>
                </a:solidFill>
                <a:latin typeface="Arial Black"/>
                <a:ea typeface="Arial Black"/>
                <a:cs typeface="Arial Black"/>
                <a:sym typeface="Arial Black"/>
              </a:rPr>
              <a:t>8.1%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g3cfb7ec7a87_0_1"/>
          <p:cNvSpPr/>
          <p:nvPr/>
        </p:nvSpPr>
        <p:spPr>
          <a:xfrm>
            <a:off x="640080" y="3520440"/>
            <a:ext cx="2743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Citrix / RMM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g3cfb7ec7a87_0_1"/>
          <p:cNvSpPr/>
          <p:nvPr/>
        </p:nvSpPr>
        <p:spPr>
          <a:xfrm>
            <a:off x="3474720" y="3611880"/>
            <a:ext cx="4755000" cy="320100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g3cfb7ec7a87_0_1"/>
          <p:cNvSpPr/>
          <p:nvPr/>
        </p:nvSpPr>
        <p:spPr>
          <a:xfrm>
            <a:off x="3474720" y="3611880"/>
            <a:ext cx="1236300" cy="320100"/>
          </a:xfrm>
          <a:prstGeom prst="rect">
            <a:avLst/>
          </a:prstGeom>
          <a:solidFill>
            <a:srgbClr val="1E26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g3cfb7ec7a87_0_1"/>
          <p:cNvSpPr/>
          <p:nvPr/>
        </p:nvSpPr>
        <p:spPr>
          <a:xfrm>
            <a:off x="4848149" y="3520440"/>
            <a:ext cx="731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D1117"/>
                </a:solidFill>
                <a:latin typeface="Arial Black"/>
                <a:ea typeface="Arial Black"/>
                <a:cs typeface="Arial Black"/>
                <a:sym typeface="Arial Black"/>
              </a:rPr>
              <a:t>6.5%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g3cfb7ec7a87_0_1"/>
          <p:cNvSpPr/>
          <p:nvPr/>
        </p:nvSpPr>
        <p:spPr>
          <a:xfrm>
            <a:off x="640080" y="4206240"/>
            <a:ext cx="2743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SSO Service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g3cfb7ec7a87_0_1"/>
          <p:cNvSpPr/>
          <p:nvPr/>
        </p:nvSpPr>
        <p:spPr>
          <a:xfrm>
            <a:off x="3474720" y="4297680"/>
            <a:ext cx="4755000" cy="320100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g3cfb7ec7a87_0_1"/>
          <p:cNvSpPr/>
          <p:nvPr/>
        </p:nvSpPr>
        <p:spPr>
          <a:xfrm>
            <a:off x="3474720" y="4297680"/>
            <a:ext cx="1236300" cy="320100"/>
          </a:xfrm>
          <a:prstGeom prst="rect">
            <a:avLst/>
          </a:prstGeom>
          <a:solidFill>
            <a:srgbClr val="1E26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g3cfb7ec7a87_0_1"/>
          <p:cNvSpPr/>
          <p:nvPr/>
        </p:nvSpPr>
        <p:spPr>
          <a:xfrm>
            <a:off x="4848149" y="4206240"/>
            <a:ext cx="731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D1117"/>
                </a:solidFill>
                <a:latin typeface="Arial Black"/>
                <a:ea typeface="Arial Black"/>
                <a:cs typeface="Arial Black"/>
                <a:sym typeface="Arial Black"/>
              </a:rPr>
              <a:t>6.5%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g3cfb7ec7a87_0_1"/>
          <p:cNvSpPr/>
          <p:nvPr/>
        </p:nvSpPr>
        <p:spPr>
          <a:xfrm>
            <a:off x="8046720" y="475488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6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cfb7ec7a87_0_29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g3cfb7ec7a87_0_29"/>
          <p:cNvSpPr/>
          <p:nvPr/>
        </p:nvSpPr>
        <p:spPr>
          <a:xfrm>
            <a:off x="640080" y="36576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0D1117"/>
                </a:solidFill>
                <a:latin typeface="Arial Black"/>
                <a:ea typeface="Arial Black"/>
                <a:cs typeface="Arial Black"/>
                <a:sym typeface="Arial Black"/>
              </a:rPr>
              <a:t>Active Exploitation Spotlight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g3cfb7ec7a87_0_29"/>
          <p:cNvSpPr/>
          <p:nvPr/>
        </p:nvSpPr>
        <p:spPr>
          <a:xfrm>
            <a:off x="640080" y="1188720"/>
            <a:ext cx="7863900" cy="9144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g3cfb7ec7a87_0_29"/>
          <p:cNvSpPr/>
          <p:nvPr/>
        </p:nvSpPr>
        <p:spPr>
          <a:xfrm>
            <a:off x="640080" y="1188720"/>
            <a:ext cx="7863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CVE-2026-1731  —  </a:t>
            </a:r>
            <a:endParaRPr b="1" i="0" sz="22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BeyondTrust Remote Support (Pre-Auth RCE)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g3cfb7ec7a87_0_29"/>
          <p:cNvSpPr/>
          <p:nvPr/>
        </p:nvSpPr>
        <p:spPr>
          <a:xfrm>
            <a:off x="640080" y="237744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8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5383B"/>
                </a:solidFill>
                <a:latin typeface="Arial"/>
                <a:ea typeface="Arial"/>
                <a:cs typeface="Arial"/>
                <a:sym typeface="Arial"/>
              </a:rPr>
              <a:t>Dark Web Observations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g3cfb7ec7a87_0_29"/>
          <p:cNvSpPr/>
          <p:nvPr/>
        </p:nvSpPr>
        <p:spPr>
          <a:xfrm>
            <a:off x="822960" y="2953512"/>
            <a:ext cx="109800" cy="109800"/>
          </a:xfrm>
          <a:prstGeom prst="ellipse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g3cfb7ec7a87_0_29"/>
          <p:cNvSpPr/>
          <p:nvPr/>
        </p:nvSpPr>
        <p:spPr>
          <a:xfrm>
            <a:off x="1097280" y="28803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DWIQ operatives observed two Initial Access Brokers advertising access derived from exploitation of a BeyondTrust vulnerability, highly likely tied to CVE-2026-1731</a:t>
            </a:r>
            <a:endParaRPr b="0" i="0" sz="1200" u="none" cap="none" strike="noStrike">
              <a:solidFill>
                <a:srgbClr val="3C43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3C43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g3cfb7ec7a87_0_29"/>
          <p:cNvSpPr/>
          <p:nvPr/>
        </p:nvSpPr>
        <p:spPr>
          <a:xfrm>
            <a:off x="822960" y="3513725"/>
            <a:ext cx="109800" cy="109800"/>
          </a:xfrm>
          <a:prstGeom prst="ellipse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g3cfb7ec7a87_0_29"/>
          <p:cNvSpPr/>
          <p:nvPr/>
        </p:nvSpPr>
        <p:spPr>
          <a:xfrm>
            <a:off x="1097280" y="3440573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One broker is a long-standing IAB monitored by DWIQ since Aug 2025 whose offered victims appear on ransomware leak sites at above-baseline rates, indicating a credible ransomware supply-chain access provider.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g3cfb7ec7a87_0_29"/>
          <p:cNvSpPr/>
          <p:nvPr/>
        </p:nvSpPr>
        <p:spPr>
          <a:xfrm>
            <a:off x="822960" y="4096856"/>
            <a:ext cx="109800" cy="109800"/>
          </a:xfrm>
          <a:prstGeom prst="ellipse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g3cfb7ec7a87_0_29"/>
          <p:cNvSpPr/>
          <p:nvPr/>
        </p:nvSpPr>
        <p:spPr>
          <a:xfrm>
            <a:off x="1097280" y="4023704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The broker also shared instructions for creating new administrative accounts inside the BeyondTrust application, allowing persistent access that could appear as legitimate internal users if not closely monitored.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g3cfb7ec7a87_0_29"/>
          <p:cNvSpPr/>
          <p:nvPr/>
        </p:nvSpPr>
        <p:spPr>
          <a:xfrm>
            <a:off x="8046720" y="475488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8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cfb7ec7a87_0_45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g3cfb7ec7a87_0_45"/>
          <p:cNvSpPr/>
          <p:nvPr/>
        </p:nvSpPr>
        <p:spPr>
          <a:xfrm>
            <a:off x="640080" y="36576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0D1117"/>
                </a:solidFill>
                <a:latin typeface="Arial Black"/>
                <a:ea typeface="Arial Black"/>
                <a:cs typeface="Arial Black"/>
                <a:sym typeface="Arial Black"/>
              </a:rPr>
              <a:t>Active Exploitation Timeline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g3cfb7ec7a87_0_45"/>
          <p:cNvSpPr/>
          <p:nvPr/>
        </p:nvSpPr>
        <p:spPr>
          <a:xfrm>
            <a:off x="640075" y="1145850"/>
            <a:ext cx="7315200" cy="35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2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Vendor Disclosure → Public PoC → Reconnaissance → Access Resale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2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2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Feb 6:</a:t>
            </a: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Vendor advisory published for CVE-2026-1731 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2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Feb 10: </a:t>
            </a: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Proof-of-Concept exploit released on GitHub 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Within ~24 hours: Internet-wide reconnaissance targeting BeyondTrust deployments observed 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~7 days: DWIQ observed IABs marketing compromised network access 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2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2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Observed Post-Compromise Tradecraft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Deployment of legitimate remote management software SimpleHelp to maintain persistence and enable lateral movement. 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Defensive Signal for Insured Organizations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2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2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Organizations running externally exposed BeyondTrust Remote Support / PRA portals should prioritize: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200"/>
              <a:buFont typeface="Arial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Patch validation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Monitoring for new administrative account creation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Detection of unauthorized RMM deployment (e.g., SimpleHelp)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2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g3cfb7ec7a87_0_45"/>
          <p:cNvSpPr/>
          <p:nvPr/>
        </p:nvSpPr>
        <p:spPr>
          <a:xfrm>
            <a:off x="8046720" y="475488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8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6" name="Google Shape;786;g3cfb7ec7a87_0_1401"/>
          <p:cNvCxnSpPr/>
          <p:nvPr/>
        </p:nvCxnSpPr>
        <p:spPr>
          <a:xfrm>
            <a:off x="331300" y="1254256"/>
            <a:ext cx="85281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7" name="Google Shape;787;g3cfb7ec7a87_0_1401"/>
          <p:cNvSpPr/>
          <p:nvPr/>
        </p:nvSpPr>
        <p:spPr>
          <a:xfrm flipH="1" rot="-5400000">
            <a:off x="8850" y="968720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8" name="Google Shape;788;g3cfb7ec7a87_0_1401"/>
          <p:cNvSpPr/>
          <p:nvPr/>
        </p:nvSpPr>
        <p:spPr>
          <a:xfrm flipH="1" rot="-5400000">
            <a:off x="1779019" y="968720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9" name="Google Shape;789;g3cfb7ec7a87_0_1401"/>
          <p:cNvSpPr/>
          <p:nvPr/>
        </p:nvSpPr>
        <p:spPr>
          <a:xfrm flipH="1" rot="-5400000">
            <a:off x="3545408" y="968720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0" name="Google Shape;790;g3cfb7ec7a87_0_1401"/>
          <p:cNvSpPr/>
          <p:nvPr/>
        </p:nvSpPr>
        <p:spPr>
          <a:xfrm flipH="1" rot="-5400000">
            <a:off x="5305846" y="968720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1" name="Google Shape;791;g3cfb7ec7a87_0_1401"/>
          <p:cNvSpPr/>
          <p:nvPr/>
        </p:nvSpPr>
        <p:spPr>
          <a:xfrm flipH="1" rot="-5400000">
            <a:off x="7050850" y="968720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2" name="Google Shape;792;g3cfb7ec7a87_0_1401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Platform Roadmap</a:t>
            </a:r>
            <a:endParaRPr/>
          </a:p>
        </p:txBody>
      </p:sp>
      <p:sp>
        <p:nvSpPr>
          <p:cNvPr id="793" name="Google Shape;793;g3cfb7ec7a87_0_1401"/>
          <p:cNvSpPr txBox="1"/>
          <p:nvPr>
            <p:ph idx="1" type="subTitle"/>
          </p:nvPr>
        </p:nvSpPr>
        <p:spPr>
          <a:xfrm>
            <a:off x="271250" y="1564656"/>
            <a:ext cx="1508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Q4 2025 </a:t>
            </a:r>
            <a:r>
              <a:rPr i="1" lang="en-US"/>
              <a:t>(completed)</a:t>
            </a:r>
            <a:endParaRPr i="1"/>
          </a:p>
        </p:txBody>
      </p:sp>
      <p:sp>
        <p:nvSpPr>
          <p:cNvPr id="794" name="Google Shape;794;g3cfb7ec7a87_0_1401"/>
          <p:cNvSpPr txBox="1"/>
          <p:nvPr>
            <p:ph idx="2" type="subTitle"/>
          </p:nvPr>
        </p:nvSpPr>
        <p:spPr>
          <a:xfrm>
            <a:off x="2030598" y="1564656"/>
            <a:ext cx="1508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Q1 2026 </a:t>
            </a:r>
            <a:r>
              <a:rPr i="1" lang="en-US"/>
              <a:t>(completed)</a:t>
            </a:r>
            <a:endParaRPr i="1"/>
          </a:p>
        </p:txBody>
      </p:sp>
      <p:sp>
        <p:nvSpPr>
          <p:cNvPr id="795" name="Google Shape;795;g3cfb7ec7a87_0_1401"/>
          <p:cNvSpPr txBox="1"/>
          <p:nvPr>
            <p:ph idx="3" type="subTitle"/>
          </p:nvPr>
        </p:nvSpPr>
        <p:spPr>
          <a:xfrm>
            <a:off x="3795488" y="1564656"/>
            <a:ext cx="1508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Q1 2026 </a:t>
            </a:r>
            <a:r>
              <a:rPr i="1" lang="en-US"/>
              <a:t>(in progress)</a:t>
            </a:r>
            <a:endParaRPr i="1"/>
          </a:p>
        </p:txBody>
      </p:sp>
      <p:sp>
        <p:nvSpPr>
          <p:cNvPr id="796" name="Google Shape;796;g3cfb7ec7a87_0_1401"/>
          <p:cNvSpPr txBox="1"/>
          <p:nvPr>
            <p:ph idx="4" type="subTitle"/>
          </p:nvPr>
        </p:nvSpPr>
        <p:spPr>
          <a:xfrm>
            <a:off x="5556416" y="1564656"/>
            <a:ext cx="1508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Q2 2026</a:t>
            </a:r>
            <a:endParaRPr/>
          </a:p>
        </p:txBody>
      </p:sp>
      <p:sp>
        <p:nvSpPr>
          <p:cNvPr id="797" name="Google Shape;797;g3cfb7ec7a87_0_1401"/>
          <p:cNvSpPr txBox="1"/>
          <p:nvPr>
            <p:ph idx="5" type="subTitle"/>
          </p:nvPr>
        </p:nvSpPr>
        <p:spPr>
          <a:xfrm>
            <a:off x="7318138" y="1564656"/>
            <a:ext cx="1508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Q3 2026 (in planning)</a:t>
            </a:r>
            <a:endParaRPr/>
          </a:p>
        </p:txBody>
      </p:sp>
      <p:sp>
        <p:nvSpPr>
          <p:cNvPr id="798" name="Google Shape;798;g3cfb7ec7a87_0_1401"/>
          <p:cNvSpPr txBox="1"/>
          <p:nvPr>
            <p:ph idx="7" type="body"/>
          </p:nvPr>
        </p:nvSpPr>
        <p:spPr>
          <a:xfrm>
            <a:off x="289910" y="2534613"/>
            <a:ext cx="1508700" cy="19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900"/>
              <a:buNone/>
            </a:pPr>
            <a:r>
              <a:rPr lang="en-US"/>
              <a:t>Integrate Access Broker (IAB) data into the platform, making engagement and victim lists accessible to enterprises. Include threat actor credibility to help customers assess and prioritize risks.</a:t>
            </a:r>
            <a:br>
              <a:rPr lang="en-US"/>
            </a:br>
            <a:br>
              <a:rPr lang="en-US"/>
            </a:br>
            <a:r>
              <a:rPr lang="en-US"/>
              <a:t>Ensure data readiness for the Portfolio and Third-party View.</a:t>
            </a:r>
            <a:endParaRPr/>
          </a:p>
        </p:txBody>
      </p:sp>
      <p:sp>
        <p:nvSpPr>
          <p:cNvPr id="799" name="Google Shape;799;g3cfb7ec7a87_0_1401"/>
          <p:cNvSpPr txBox="1"/>
          <p:nvPr>
            <p:ph idx="8" type="body"/>
          </p:nvPr>
        </p:nvSpPr>
        <p:spPr>
          <a:xfrm>
            <a:off x="3812898" y="2534613"/>
            <a:ext cx="1508700" cy="17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900"/>
              <a:buNone/>
            </a:pPr>
            <a:r>
              <a:rPr lang="en-US"/>
              <a:t>Enable insurers, partners, IR firms, and brokers to access partial datasets for portfolio and third-party exposure assessments. Deliver reports enriched with indicators of compromise (IOCs) to support risk mitigation and lead generation.</a:t>
            </a:r>
            <a:endParaRPr/>
          </a:p>
        </p:txBody>
      </p:sp>
      <p:sp>
        <p:nvSpPr>
          <p:cNvPr id="800" name="Google Shape;800;g3cfb7ec7a87_0_1401"/>
          <p:cNvSpPr txBox="1"/>
          <p:nvPr>
            <p:ph idx="9" type="body"/>
          </p:nvPr>
        </p:nvSpPr>
        <p:spPr>
          <a:xfrm>
            <a:off x="5562410" y="2534601"/>
            <a:ext cx="1508700" cy="17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900"/>
              <a:buNone/>
            </a:pPr>
            <a:r>
              <a:rPr lang="en-US"/>
              <a:t>Introduce referral functionality, allowing third parties to register on behalf of customers and access relevant data and IOCs. Convert leads into paying customers by streamlining access and demonstrating value.</a:t>
            </a:r>
            <a:endParaRPr/>
          </a:p>
        </p:txBody>
      </p:sp>
      <p:sp>
        <p:nvSpPr>
          <p:cNvPr id="801" name="Google Shape;801;g3cfb7ec7a87_0_1401"/>
          <p:cNvSpPr txBox="1"/>
          <p:nvPr>
            <p:ph idx="13" type="body"/>
          </p:nvPr>
        </p:nvSpPr>
        <p:spPr>
          <a:xfrm>
            <a:off x="2037407" y="2534615"/>
            <a:ext cx="15087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900"/>
              <a:buNone/>
            </a:pPr>
            <a:r>
              <a:rPr lang="en-US"/>
              <a:t>Extend the current API into a customer-facing interface to support seamless automation and integration of datasets into client workflows.</a:t>
            </a:r>
            <a:endParaRPr/>
          </a:p>
        </p:txBody>
      </p:sp>
      <p:sp>
        <p:nvSpPr>
          <p:cNvPr id="802" name="Google Shape;802;g3cfb7ec7a87_0_1401"/>
          <p:cNvSpPr txBox="1"/>
          <p:nvPr>
            <p:ph idx="15" type="subTitle"/>
          </p:nvPr>
        </p:nvSpPr>
        <p:spPr>
          <a:xfrm>
            <a:off x="292283" y="2008595"/>
            <a:ext cx="150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IAB Data Integration</a:t>
            </a:r>
            <a:endParaRPr/>
          </a:p>
        </p:txBody>
      </p:sp>
      <p:sp>
        <p:nvSpPr>
          <p:cNvPr id="803" name="Google Shape;803;g3cfb7ec7a87_0_1401"/>
          <p:cNvSpPr txBox="1"/>
          <p:nvPr>
            <p:ph idx="16" type="subTitle"/>
          </p:nvPr>
        </p:nvSpPr>
        <p:spPr>
          <a:xfrm>
            <a:off x="3792257" y="2010381"/>
            <a:ext cx="150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Portfolio and Third-party View</a:t>
            </a:r>
            <a:endParaRPr/>
          </a:p>
        </p:txBody>
      </p:sp>
      <p:sp>
        <p:nvSpPr>
          <p:cNvPr id="804" name="Google Shape;804;g3cfb7ec7a87_0_1401"/>
          <p:cNvSpPr txBox="1"/>
          <p:nvPr>
            <p:ph idx="17" type="subTitle"/>
          </p:nvPr>
        </p:nvSpPr>
        <p:spPr>
          <a:xfrm>
            <a:off x="5556425" y="2008593"/>
            <a:ext cx="150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Referral links</a:t>
            </a:r>
            <a:endParaRPr/>
          </a:p>
        </p:txBody>
      </p:sp>
      <p:sp>
        <p:nvSpPr>
          <p:cNvPr id="805" name="Google Shape;805;g3cfb7ec7a87_0_1401"/>
          <p:cNvSpPr txBox="1"/>
          <p:nvPr>
            <p:ph idx="18" type="subTitle"/>
          </p:nvPr>
        </p:nvSpPr>
        <p:spPr>
          <a:xfrm>
            <a:off x="2028069" y="2008606"/>
            <a:ext cx="150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API Access</a:t>
            </a:r>
            <a:endParaRPr/>
          </a:p>
        </p:txBody>
      </p:sp>
      <p:sp>
        <p:nvSpPr>
          <p:cNvPr id="806" name="Google Shape;806;g3cfb7ec7a87_0_1401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-US"/>
              <a:t>Darkweb IQ</a:t>
            </a:r>
            <a:endParaRPr/>
          </a:p>
        </p:txBody>
      </p:sp>
      <p:sp>
        <p:nvSpPr>
          <p:cNvPr id="807" name="Google Shape;807;g3cfb7ec7a87_0_1401"/>
          <p:cNvSpPr txBox="1"/>
          <p:nvPr>
            <p:ph idx="20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-US"/>
              <a:t>Yearly Strategic View</a:t>
            </a:r>
            <a:endParaRPr/>
          </a:p>
        </p:txBody>
      </p:sp>
      <p:sp>
        <p:nvSpPr>
          <p:cNvPr id="808" name="Google Shape;808;g3cfb7ec7a87_0_1401"/>
          <p:cNvSpPr txBox="1"/>
          <p:nvPr>
            <p:ph idx="21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-US"/>
              <a:t>Feb 2026</a:t>
            </a:r>
            <a:endParaRPr/>
          </a:p>
        </p:txBody>
      </p:sp>
      <p:sp>
        <p:nvSpPr>
          <p:cNvPr id="809" name="Google Shape;809;g3cfb7ec7a87_0_1401"/>
          <p:cNvSpPr txBox="1"/>
          <p:nvPr>
            <p:ph idx="14" type="subTitle"/>
          </p:nvPr>
        </p:nvSpPr>
        <p:spPr>
          <a:xfrm>
            <a:off x="3804224" y="3909419"/>
            <a:ext cx="1420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Support for Reports</a:t>
            </a:r>
            <a:endParaRPr/>
          </a:p>
        </p:txBody>
      </p:sp>
      <p:sp>
        <p:nvSpPr>
          <p:cNvPr id="810" name="Google Shape;810;g3cfb7ec7a87_0_1401"/>
          <p:cNvSpPr txBox="1"/>
          <p:nvPr>
            <p:ph idx="6" type="body"/>
          </p:nvPr>
        </p:nvSpPr>
        <p:spPr>
          <a:xfrm>
            <a:off x="3812898" y="4426874"/>
            <a:ext cx="15087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900"/>
              <a:buNone/>
            </a:pPr>
            <a:r>
              <a:rPr lang="en-US"/>
              <a:t>Platform-hosted repository for internally generated reports.</a:t>
            </a:r>
            <a:endParaRPr/>
          </a:p>
        </p:txBody>
      </p:sp>
      <p:sp>
        <p:nvSpPr>
          <p:cNvPr id="811" name="Google Shape;811;g3cfb7ec7a87_0_1401"/>
          <p:cNvSpPr/>
          <p:nvPr/>
        </p:nvSpPr>
        <p:spPr>
          <a:xfrm>
            <a:off x="6796410" y="4614825"/>
            <a:ext cx="462000" cy="366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12" name="Google Shape;812;g3cfb7ec7a87_0_1401"/>
          <p:cNvSpPr txBox="1"/>
          <p:nvPr>
            <p:ph idx="8" type="body"/>
          </p:nvPr>
        </p:nvSpPr>
        <p:spPr>
          <a:xfrm>
            <a:off x="7330300" y="2534100"/>
            <a:ext cx="1508700" cy="12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900"/>
              <a:buNone/>
            </a:pPr>
            <a:r>
              <a:rPr lang="en-US"/>
              <a:t>Adding new datasets to expand platform coverage and capabilities (e.g., CVE tracking, ransomware posts/events), enabling stronger risk management across first- and third-party modules.</a:t>
            </a:r>
            <a:endParaRPr/>
          </a:p>
        </p:txBody>
      </p:sp>
      <p:sp>
        <p:nvSpPr>
          <p:cNvPr id="813" name="Google Shape;813;g3cfb7ec7a87_0_1401"/>
          <p:cNvSpPr txBox="1"/>
          <p:nvPr>
            <p:ph idx="16" type="subTitle"/>
          </p:nvPr>
        </p:nvSpPr>
        <p:spPr>
          <a:xfrm>
            <a:off x="7309664" y="2009870"/>
            <a:ext cx="150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Expanding Platform datasets</a:t>
            </a:r>
            <a:endParaRPr/>
          </a:p>
        </p:txBody>
      </p:sp>
      <p:sp>
        <p:nvSpPr>
          <p:cNvPr id="814" name="Google Shape;814;g3cfb7ec7a87_0_1401"/>
          <p:cNvSpPr txBox="1"/>
          <p:nvPr>
            <p:ph idx="14" type="subTitle"/>
          </p:nvPr>
        </p:nvSpPr>
        <p:spPr>
          <a:xfrm>
            <a:off x="7321632" y="3838385"/>
            <a:ext cx="1420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Risk scoring</a:t>
            </a:r>
            <a:endParaRPr/>
          </a:p>
        </p:txBody>
      </p:sp>
      <p:sp>
        <p:nvSpPr>
          <p:cNvPr id="815" name="Google Shape;815;g3cfb7ec7a87_0_1401"/>
          <p:cNvSpPr txBox="1"/>
          <p:nvPr>
            <p:ph idx="6" type="body"/>
          </p:nvPr>
        </p:nvSpPr>
        <p:spPr>
          <a:xfrm>
            <a:off x="7330300" y="4195991"/>
            <a:ext cx="1508700" cy="5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900"/>
              <a:buNone/>
            </a:pPr>
            <a:r>
              <a:rPr lang="en-US"/>
              <a:t>Develop a unified risk-scoring framework that combines all datasets to assess exposure severity and prioritize remediation.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8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0D1117"/>
                </a:solidFill>
                <a:latin typeface="Arial Black"/>
                <a:ea typeface="Arial Black"/>
                <a:cs typeface="Arial Black"/>
                <a:sym typeface="Arial Black"/>
              </a:rPr>
              <a:t>Implications for Enterprise Infrastructure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8"/>
          <p:cNvSpPr/>
          <p:nvPr/>
        </p:nvSpPr>
        <p:spPr>
          <a:xfrm>
            <a:off x="640080" y="1280160"/>
            <a:ext cx="384048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8"/>
          <p:cNvSpPr/>
          <p:nvPr/>
        </p:nvSpPr>
        <p:spPr>
          <a:xfrm>
            <a:off x="640080" y="1280160"/>
            <a:ext cx="64008" cy="150876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8"/>
          <p:cNvSpPr/>
          <p:nvPr/>
        </p:nvSpPr>
        <p:spPr>
          <a:xfrm>
            <a:off x="914400" y="14173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83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5383B"/>
                </a:solidFill>
                <a:latin typeface="Arial"/>
                <a:ea typeface="Arial"/>
                <a:cs typeface="Arial"/>
                <a:sym typeface="Arial"/>
              </a:rPr>
              <a:t>The Primary Target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8"/>
          <p:cNvSpPr/>
          <p:nvPr/>
        </p:nvSpPr>
        <p:spPr>
          <a:xfrm>
            <a:off x="914400" y="187452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VPN appliances remain the dominant monetization target for threat actors.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8"/>
          <p:cNvSpPr/>
          <p:nvPr/>
        </p:nvSpPr>
        <p:spPr>
          <a:xfrm>
            <a:off x="4754880" y="1280160"/>
            <a:ext cx="384048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8"/>
          <p:cNvSpPr/>
          <p:nvPr/>
        </p:nvSpPr>
        <p:spPr>
          <a:xfrm>
            <a:off x="4754880" y="1280160"/>
            <a:ext cx="64008" cy="150876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8"/>
          <p:cNvSpPr/>
          <p:nvPr/>
        </p:nvSpPr>
        <p:spPr>
          <a:xfrm>
            <a:off x="5029200" y="14173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83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5383B"/>
                </a:solidFill>
                <a:latin typeface="Arial"/>
                <a:ea typeface="Arial"/>
                <a:cs typeface="Arial"/>
                <a:sym typeface="Arial"/>
              </a:rPr>
              <a:t>The Rising Threat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8"/>
          <p:cNvSpPr/>
          <p:nvPr/>
        </p:nvSpPr>
        <p:spPr>
          <a:xfrm>
            <a:off x="5029200" y="187452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Identity-layer compromise (specifically SSO) is rapidly increasing in relevance.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8"/>
          <p:cNvSpPr/>
          <p:nvPr/>
        </p:nvSpPr>
        <p:spPr>
          <a:xfrm>
            <a:off x="640080" y="3017520"/>
            <a:ext cx="384048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8"/>
          <p:cNvSpPr/>
          <p:nvPr/>
        </p:nvSpPr>
        <p:spPr>
          <a:xfrm>
            <a:off x="640080" y="3017520"/>
            <a:ext cx="64008" cy="150876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8"/>
          <p:cNvSpPr/>
          <p:nvPr/>
        </p:nvSpPr>
        <p:spPr>
          <a:xfrm>
            <a:off x="914400" y="31546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83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5383B"/>
                </a:solidFill>
                <a:latin typeface="Arial"/>
                <a:ea typeface="Arial"/>
                <a:cs typeface="Arial"/>
                <a:sym typeface="Arial"/>
              </a:rPr>
              <a:t>The Lateral Enabler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8"/>
          <p:cNvSpPr/>
          <p:nvPr/>
        </p:nvSpPr>
        <p:spPr>
          <a:xfrm>
            <a:off x="914400" y="361188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RDP exposure continues to be the primary vehicle for lateral network movement.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8"/>
          <p:cNvSpPr/>
          <p:nvPr/>
        </p:nvSpPr>
        <p:spPr>
          <a:xfrm>
            <a:off x="4754880" y="3017520"/>
            <a:ext cx="384048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8"/>
          <p:cNvSpPr/>
          <p:nvPr/>
        </p:nvSpPr>
        <p:spPr>
          <a:xfrm>
            <a:off x="4754880" y="3017520"/>
            <a:ext cx="64008" cy="150876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8"/>
          <p:cNvSpPr/>
          <p:nvPr/>
        </p:nvSpPr>
        <p:spPr>
          <a:xfrm>
            <a:off x="5029200" y="31546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83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5383B"/>
                </a:solidFill>
                <a:latin typeface="Arial"/>
                <a:ea typeface="Arial"/>
                <a:cs typeface="Arial"/>
                <a:sym typeface="Arial"/>
              </a:rPr>
              <a:t>The Perimeter Risk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8"/>
          <p:cNvSpPr/>
          <p:nvPr/>
        </p:nvSpPr>
        <p:spPr>
          <a:xfrm>
            <a:off x="5029200" y="361188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Network-edge devices are consistently prioritized by Initial Access Brokers (IABs).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7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9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0D1117"/>
                </a:solidFill>
                <a:latin typeface="Arial Black"/>
                <a:ea typeface="Arial Black"/>
                <a:cs typeface="Arial Black"/>
                <a:sym typeface="Arial Black"/>
              </a:rPr>
              <a:t>Active Exploitation Spotlight: Fortinet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9"/>
          <p:cNvSpPr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9"/>
          <p:cNvSpPr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CVE-2024-55591  —  Authentication Bypass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9"/>
          <p:cNvSpPr/>
          <p:nvPr/>
        </p:nvSpPr>
        <p:spPr>
          <a:xfrm>
            <a:off x="640080" y="23774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83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5383B"/>
                </a:solidFill>
                <a:latin typeface="Arial"/>
                <a:ea typeface="Arial"/>
                <a:cs typeface="Arial"/>
                <a:sym typeface="Arial"/>
              </a:rPr>
              <a:t>Dark Web Observations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9"/>
          <p:cNvSpPr/>
          <p:nvPr/>
        </p:nvSpPr>
        <p:spPr>
          <a:xfrm>
            <a:off x="822960" y="2953512"/>
            <a:ext cx="109728" cy="109728"/>
          </a:xfrm>
          <a:prstGeom prst="ellipse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9"/>
          <p:cNvSpPr/>
          <p:nvPr/>
        </p:nvSpPr>
        <p:spPr>
          <a:xfrm>
            <a:off x="1097280" y="28803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IABs are claiming active exploitation in the wild.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9"/>
          <p:cNvSpPr/>
          <p:nvPr/>
        </p:nvSpPr>
        <p:spPr>
          <a:xfrm>
            <a:off x="822960" y="3456432"/>
            <a:ext cx="109728" cy="109728"/>
          </a:xfrm>
          <a:prstGeom prst="ellipse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9"/>
          <p:cNvSpPr/>
          <p:nvPr/>
        </p:nvSpPr>
        <p:spPr>
          <a:xfrm>
            <a:off x="1097280" y="33832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Intercepted screenshots suggest actors are achieving admin account creation directly via the FortiOS interface.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9"/>
          <p:cNvSpPr/>
          <p:nvPr/>
        </p:nvSpPr>
        <p:spPr>
          <a:xfrm>
            <a:off x="822960" y="3959352"/>
            <a:ext cx="109728" cy="109728"/>
          </a:xfrm>
          <a:prstGeom prst="ellipse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9"/>
          <p:cNvSpPr/>
          <p:nvPr/>
        </p:nvSpPr>
        <p:spPr>
          <a:xfrm>
            <a:off x="1097280" y="38862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Historically linked to major ransomware operations, including Qilin and Mora_001.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9"/>
          <p:cNvSpPr/>
          <p:nvPr/>
        </p:nvSpPr>
        <p:spPr>
          <a:xfrm>
            <a:off x="822960" y="4462272"/>
            <a:ext cx="109728" cy="109728"/>
          </a:xfrm>
          <a:prstGeom prst="ellipse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9"/>
          <p:cNvSpPr/>
          <p:nvPr/>
        </p:nvSpPr>
        <p:spPr>
          <a:xfrm>
            <a:off x="1097280" y="43891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Remains a highly discussed exploit throughout January 2026.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8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1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0D1117"/>
                </a:solidFill>
                <a:latin typeface="Arial Black"/>
                <a:ea typeface="Arial Black"/>
                <a:cs typeface="Arial Black"/>
                <a:sym typeface="Arial Black"/>
              </a:rPr>
              <a:t>Broader CVE Exploitation Chatter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10"/>
          <p:cNvSpPr/>
          <p:nvPr/>
        </p:nvSpPr>
        <p:spPr>
          <a:xfrm>
            <a:off x="640080" y="10058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Actors discussed or offered exploitation involving: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10"/>
          <p:cNvSpPr/>
          <p:nvPr/>
        </p:nvSpPr>
        <p:spPr>
          <a:xfrm>
            <a:off x="640080" y="1508760"/>
            <a:ext cx="38404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10"/>
          <p:cNvSpPr/>
          <p:nvPr/>
        </p:nvSpPr>
        <p:spPr>
          <a:xfrm>
            <a:off x="640080" y="1508760"/>
            <a:ext cx="3840480" cy="54864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10"/>
          <p:cNvSpPr/>
          <p:nvPr/>
        </p:nvSpPr>
        <p:spPr>
          <a:xfrm>
            <a:off x="868680" y="1618488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D1117"/>
                </a:solidFill>
                <a:latin typeface="Arial Black"/>
                <a:ea typeface="Arial Black"/>
                <a:cs typeface="Arial Black"/>
                <a:sym typeface="Arial Black"/>
              </a:rPr>
              <a:t>CVE-2025-20354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10"/>
          <p:cNvSpPr/>
          <p:nvPr/>
        </p:nvSpPr>
        <p:spPr>
          <a:xfrm>
            <a:off x="868680" y="20116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Cisco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10"/>
          <p:cNvSpPr/>
          <p:nvPr/>
        </p:nvSpPr>
        <p:spPr>
          <a:xfrm>
            <a:off x="4754880" y="1508760"/>
            <a:ext cx="38404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10"/>
          <p:cNvSpPr/>
          <p:nvPr/>
        </p:nvSpPr>
        <p:spPr>
          <a:xfrm>
            <a:off x="4754880" y="1508760"/>
            <a:ext cx="3840480" cy="54864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10"/>
          <p:cNvSpPr/>
          <p:nvPr/>
        </p:nvSpPr>
        <p:spPr>
          <a:xfrm>
            <a:off x="4983480" y="1618488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D1117"/>
                </a:solidFill>
                <a:latin typeface="Arial Black"/>
                <a:ea typeface="Arial Black"/>
                <a:cs typeface="Arial Black"/>
                <a:sym typeface="Arial Black"/>
              </a:rPr>
              <a:t>CVE-2024-3400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10"/>
          <p:cNvSpPr/>
          <p:nvPr/>
        </p:nvSpPr>
        <p:spPr>
          <a:xfrm>
            <a:off x="4983480" y="20116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Palo Alto PAN-OS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10"/>
          <p:cNvSpPr/>
          <p:nvPr/>
        </p:nvSpPr>
        <p:spPr>
          <a:xfrm>
            <a:off x="640080" y="2606040"/>
            <a:ext cx="38404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10"/>
          <p:cNvSpPr/>
          <p:nvPr/>
        </p:nvSpPr>
        <p:spPr>
          <a:xfrm>
            <a:off x="640080" y="2606040"/>
            <a:ext cx="3840480" cy="54864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10"/>
          <p:cNvSpPr/>
          <p:nvPr/>
        </p:nvSpPr>
        <p:spPr>
          <a:xfrm>
            <a:off x="868680" y="2715768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D1117"/>
                </a:solidFill>
                <a:latin typeface="Arial Black"/>
                <a:ea typeface="Arial Black"/>
                <a:cs typeface="Arial Black"/>
                <a:sym typeface="Arial Black"/>
              </a:rPr>
              <a:t>CVE-2025-55182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10"/>
          <p:cNvSpPr/>
          <p:nvPr/>
        </p:nvSpPr>
        <p:spPr>
          <a:xfrm>
            <a:off x="868680" y="310896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React/Next.js — Pre-auth RCE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10"/>
          <p:cNvSpPr/>
          <p:nvPr/>
        </p:nvSpPr>
        <p:spPr>
          <a:xfrm>
            <a:off x="4754880" y="2606040"/>
            <a:ext cx="38404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10"/>
          <p:cNvSpPr/>
          <p:nvPr/>
        </p:nvSpPr>
        <p:spPr>
          <a:xfrm>
            <a:off x="4754880" y="2606040"/>
            <a:ext cx="3840480" cy="54864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10"/>
          <p:cNvSpPr/>
          <p:nvPr/>
        </p:nvSpPr>
        <p:spPr>
          <a:xfrm>
            <a:off x="4983480" y="2715768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D1117"/>
                </a:solidFill>
                <a:latin typeface="Arial Black"/>
                <a:ea typeface="Arial Black"/>
                <a:cs typeface="Arial Black"/>
                <a:sym typeface="Arial Black"/>
              </a:rPr>
              <a:t>CVE-2025-58034 / 64446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10"/>
          <p:cNvSpPr/>
          <p:nvPr/>
        </p:nvSpPr>
        <p:spPr>
          <a:xfrm>
            <a:off x="4983480" y="310896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Fortinet FortiWeb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10"/>
          <p:cNvSpPr/>
          <p:nvPr/>
        </p:nvSpPr>
        <p:spPr>
          <a:xfrm>
            <a:off x="640080" y="3703320"/>
            <a:ext cx="38404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10"/>
          <p:cNvSpPr/>
          <p:nvPr/>
        </p:nvSpPr>
        <p:spPr>
          <a:xfrm>
            <a:off x="640080" y="3703320"/>
            <a:ext cx="3840480" cy="54864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10"/>
          <p:cNvSpPr/>
          <p:nvPr/>
        </p:nvSpPr>
        <p:spPr>
          <a:xfrm>
            <a:off x="868680" y="3813048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D1117"/>
                </a:solidFill>
                <a:latin typeface="Arial Black"/>
                <a:ea typeface="Arial Black"/>
                <a:cs typeface="Arial Black"/>
                <a:sym typeface="Arial Black"/>
              </a:rPr>
              <a:t>CVE-2025-62215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10"/>
          <p:cNvSpPr/>
          <p:nvPr/>
        </p:nvSpPr>
        <p:spPr>
          <a:xfrm>
            <a:off x="868680" y="420624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Windows Kernel LPE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1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9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11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0D1117"/>
                </a:solidFill>
                <a:latin typeface="Arial Black"/>
                <a:ea typeface="Arial Black"/>
                <a:cs typeface="Arial Black"/>
                <a:sym typeface="Arial Black"/>
              </a:rPr>
              <a:t>Identified Actor Attack Patterns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11"/>
          <p:cNvSpPr/>
          <p:nvPr/>
        </p:nvSpPr>
        <p:spPr>
          <a:xfrm>
            <a:off x="640080" y="1280160"/>
            <a:ext cx="384048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11"/>
          <p:cNvSpPr/>
          <p:nvPr/>
        </p:nvSpPr>
        <p:spPr>
          <a:xfrm>
            <a:off x="640080" y="1280160"/>
            <a:ext cx="64008" cy="16002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11"/>
          <p:cNvSpPr/>
          <p:nvPr/>
        </p:nvSpPr>
        <p:spPr>
          <a:xfrm>
            <a:off x="914400" y="14173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83B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5383B"/>
                </a:solidFill>
                <a:latin typeface="Arial Black"/>
                <a:ea typeface="Arial Black"/>
                <a:cs typeface="Arial Black"/>
                <a:sym typeface="Arial Black"/>
              </a:rPr>
              <a:t>Target Profile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11"/>
          <p:cNvSpPr/>
          <p:nvPr/>
        </p:nvSpPr>
        <p:spPr>
          <a:xfrm>
            <a:off x="914400" y="1874520"/>
            <a:ext cx="3291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The vast majority of focus is on unauthenticated, network-exposed vulnerabilities.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11"/>
          <p:cNvSpPr/>
          <p:nvPr/>
        </p:nvSpPr>
        <p:spPr>
          <a:xfrm>
            <a:off x="4754880" y="1280160"/>
            <a:ext cx="384048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11"/>
          <p:cNvSpPr/>
          <p:nvPr/>
        </p:nvSpPr>
        <p:spPr>
          <a:xfrm>
            <a:off x="4754880" y="1280160"/>
            <a:ext cx="64008" cy="16002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11"/>
          <p:cNvSpPr/>
          <p:nvPr/>
        </p:nvSpPr>
        <p:spPr>
          <a:xfrm>
            <a:off x="5029200" y="14173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83B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5383B"/>
                </a:solidFill>
                <a:latin typeface="Arial Black"/>
                <a:ea typeface="Arial Black"/>
                <a:cs typeface="Arial Black"/>
                <a:sym typeface="Arial Black"/>
              </a:rPr>
              <a:t>Tooling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11"/>
          <p:cNvSpPr/>
          <p:nvPr/>
        </p:nvSpPr>
        <p:spPr>
          <a:xfrm>
            <a:off x="5029200" y="1874520"/>
            <a:ext cx="3291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Public Proof of Concepts (PoCs) are frequently and rapidly leveraged.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11"/>
          <p:cNvSpPr/>
          <p:nvPr/>
        </p:nvSpPr>
        <p:spPr>
          <a:xfrm>
            <a:off x="640080" y="3108960"/>
            <a:ext cx="384048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11"/>
          <p:cNvSpPr/>
          <p:nvPr/>
        </p:nvSpPr>
        <p:spPr>
          <a:xfrm>
            <a:off x="640080" y="3108960"/>
            <a:ext cx="64008" cy="16002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11"/>
          <p:cNvSpPr/>
          <p:nvPr/>
        </p:nvSpPr>
        <p:spPr>
          <a:xfrm>
            <a:off x="914400" y="32461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83B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5383B"/>
                </a:solidFill>
                <a:latin typeface="Arial Black"/>
                <a:ea typeface="Arial Black"/>
                <a:cs typeface="Arial Black"/>
                <a:sym typeface="Arial Black"/>
              </a:rPr>
              <a:t>Strategy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11"/>
          <p:cNvSpPr/>
          <p:nvPr/>
        </p:nvSpPr>
        <p:spPr>
          <a:xfrm>
            <a:off x="914400" y="3703320"/>
            <a:ext cx="3291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Actors favor opportunistic exploitation over deploying novel zero-days.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11"/>
          <p:cNvSpPr/>
          <p:nvPr/>
        </p:nvSpPr>
        <p:spPr>
          <a:xfrm>
            <a:off x="4754880" y="3108960"/>
            <a:ext cx="384048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11"/>
          <p:cNvSpPr/>
          <p:nvPr/>
        </p:nvSpPr>
        <p:spPr>
          <a:xfrm>
            <a:off x="4754880" y="3108960"/>
            <a:ext cx="64008" cy="16002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11"/>
          <p:cNvSpPr/>
          <p:nvPr/>
        </p:nvSpPr>
        <p:spPr>
          <a:xfrm>
            <a:off x="5029200" y="32461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83B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5383B"/>
                </a:solidFill>
                <a:latin typeface="Arial Black"/>
                <a:ea typeface="Arial Black"/>
                <a:cs typeface="Arial Black"/>
                <a:sym typeface="Arial Black"/>
              </a:rPr>
              <a:t>Market Dynamics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11"/>
          <p:cNvSpPr/>
          <p:nvPr/>
        </p:nvSpPr>
        <p:spPr>
          <a:xfrm>
            <a:off x="5029200" y="3703320"/>
            <a:ext cx="3291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Despite specific CVE chatter, there is no proportional overall spike in exploit-based access listings on the market.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1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10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1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12"/>
          <p:cNvSpPr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Continuous Offensive Posture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12"/>
          <p:cNvSpPr/>
          <p:nvPr/>
        </p:nvSpPr>
        <p:spPr>
          <a:xfrm>
            <a:off x="731520" y="1371600"/>
            <a:ext cx="82296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4800"/>
              <a:buFont typeface="Arial Black"/>
              <a:buNone/>
            </a:pPr>
            <a:r>
              <a:rPr b="1" i="0" lang="en-US" sz="4800" u="none" cap="none" strike="noStrike">
                <a:solidFill>
                  <a:srgbClr val="0D1117"/>
                </a:solidFill>
                <a:latin typeface="Arial Black"/>
                <a:ea typeface="Arial Black"/>
                <a:cs typeface="Arial Black"/>
                <a:sym typeface="Arial Black"/>
              </a:rPr>
              <a:t>Infiltrate</a:t>
            </a:r>
            <a:r>
              <a:rPr b="1" i="0" lang="en-US" sz="4800" u="none" cap="none" strike="noStrike">
                <a:solidFill>
                  <a:srgbClr val="E5383B"/>
                </a:solidFill>
                <a:latin typeface="Arial Black"/>
                <a:ea typeface="Arial Black"/>
                <a:cs typeface="Arial Black"/>
                <a:sym typeface="Arial Black"/>
              </a:rPr>
              <a:t>.</a:t>
            </a:r>
            <a:r>
              <a:rPr b="1" i="0" lang="en-US" sz="4800" u="none" cap="none" strike="noStrike">
                <a:solidFill>
                  <a:srgbClr val="0D1117"/>
                </a:solidFill>
                <a:latin typeface="Arial Black"/>
                <a:ea typeface="Arial Black"/>
                <a:cs typeface="Arial Black"/>
                <a:sym typeface="Arial Black"/>
              </a:rPr>
              <a:t>  Intervene</a:t>
            </a:r>
            <a:r>
              <a:rPr b="1" i="0" lang="en-US" sz="4800" u="none" cap="none" strike="noStrike">
                <a:solidFill>
                  <a:srgbClr val="E5383B"/>
                </a:solidFill>
                <a:latin typeface="Arial Black"/>
                <a:ea typeface="Arial Black"/>
                <a:cs typeface="Arial Black"/>
                <a:sym typeface="Arial Black"/>
              </a:rPr>
              <a:t>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4800"/>
              <a:buFont typeface="Arial Black"/>
              <a:buNone/>
            </a:pPr>
            <a:r>
              <a:rPr b="1" i="0" lang="en-US" sz="4800" u="none" cap="none" strike="noStrike">
                <a:solidFill>
                  <a:srgbClr val="0D1117"/>
                </a:solidFill>
                <a:latin typeface="Arial Black"/>
                <a:ea typeface="Arial Black"/>
                <a:cs typeface="Arial Black"/>
                <a:sym typeface="Arial Black"/>
              </a:rPr>
              <a:t>Intercept</a:t>
            </a:r>
            <a:r>
              <a:rPr b="1" i="0" lang="en-US" sz="4800" u="none" cap="none" strike="noStrike">
                <a:solidFill>
                  <a:srgbClr val="E5383B"/>
                </a:solidFill>
                <a:latin typeface="Arial Black"/>
                <a:ea typeface="Arial Black"/>
                <a:cs typeface="Arial Black"/>
                <a:sym typeface="Arial Black"/>
              </a:rPr>
              <a:t>. 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12"/>
          <p:cNvSpPr/>
          <p:nvPr/>
        </p:nvSpPr>
        <p:spPr>
          <a:xfrm>
            <a:off x="731520" y="3931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35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C4350"/>
                </a:solidFill>
                <a:latin typeface="Arial"/>
                <a:ea typeface="Arial"/>
                <a:cs typeface="Arial"/>
                <a:sym typeface="Arial"/>
              </a:rPr>
              <a:t>Actively securing the ACME portfolio against emerging threats.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12"/>
          <p:cNvSpPr/>
          <p:nvPr/>
        </p:nvSpPr>
        <p:spPr>
          <a:xfrm>
            <a:off x="731520" y="457200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83B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E5383B"/>
                </a:solidFill>
                <a:latin typeface="Arial Black"/>
                <a:ea typeface="Arial Black"/>
                <a:cs typeface="Arial Black"/>
                <a:sym typeface="Arial Black"/>
              </a:rPr>
              <a:t>DARKWEB </a:t>
            </a:r>
            <a:r>
              <a:rPr b="1" i="0" lang="en-US" sz="1200" u="none" cap="none" strike="noStrike">
                <a:solidFill>
                  <a:srgbClr val="6B7280"/>
                </a:solidFill>
                <a:latin typeface="Arial Black"/>
                <a:ea typeface="Arial Black"/>
                <a:cs typeface="Arial Black"/>
                <a:sym typeface="Arial Black"/>
              </a:rPr>
              <a:t>IQ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1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12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0" name="shape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endParaRPr lang="en-US"/>
          </a:p>
        </p:txBody>
      </p:sp>
      <p:sp>
        <p:nvSpPr>
          <p:cNvPr id="0" name="t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b="1" lang="en-US" sz="2800">
                <a:solidFill>
                  <a:srgbClr val="0D1117"/>
                </a:solidFill>
                <a:latin typeface="Arial Black"/>
                <a:ea typeface="Arial Black"/>
                <a:cs typeface="Arial Black"/>
              </a:rPr>
              <a:t>The Initial Access Broker Ecosystem</a:t>
            </a:r>
          </a:p>
        </p:txBody>
      </p:sp>
      <p:sp>
        <p:nvSpPr>
          <p:cNvPr id="0" name="shape"/>
          <p:cNvSpPr/>
          <p:nvPr/>
        </p:nvSpPr>
        <p:spPr>
          <a:xfrm>
            <a:off x="457200" y="1371600"/>
            <a:ext cx="1737360" cy="64008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endParaRPr lang="en-US"/>
          </a:p>
        </p:txBody>
      </p:sp>
      <p:sp>
        <p:nvSpPr>
          <p:cNvPr id="0" name="t"/>
          <p:cNvSpPr/>
          <p:nvPr/>
        </p:nvSpPr>
        <p:spPr>
          <a:xfrm>
            <a:off x="457200" y="1463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b="1" lang="en-US" sz="16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Exploit</a:t>
            </a:r>
          </a:p>
        </p:txBody>
      </p:sp>
      <p:sp>
        <p:nvSpPr>
          <p:cNvPr id="0" name="t"/>
          <p:cNvSpPr/>
          <p:nvPr/>
        </p:nvSpPr>
        <p:spPr>
          <a:xfrm>
            <a:off x="457200" y="173736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b="0" lang="en-US"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>Vulnerability in edge device or app</a:t>
            </a:r>
          </a:p>
        </p:txBody>
      </p:sp>
      <p:sp>
        <p:nvSpPr>
          <p:cNvPr id="0" name="arrow"/>
          <p:cNvSpPr/>
          <p:nvPr/>
        </p:nvSpPr>
        <p:spPr>
          <a:xfrm>
            <a:off x="2194560" y="1636776"/>
            <a:ext cx="274320" cy="109728"/>
          </a:xfrm>
          <a:prstGeom prst="rightArrow">
            <a:avLst/>
          </a:prstGeom>
          <a:solidFill>
            <a:srgbClr val="E538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shape"/>
          <p:cNvSpPr/>
          <p:nvPr/>
        </p:nvSpPr>
        <p:spPr>
          <a:xfrm>
            <a:off x="2468880" y="1371600"/>
            <a:ext cx="1737360" cy="6400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endParaRPr lang="en-US"/>
          </a:p>
        </p:txBody>
      </p:sp>
      <p:sp>
        <p:nvSpPr>
          <p:cNvPr id="0" name="t"/>
          <p:cNvSpPr/>
          <p:nvPr/>
        </p:nvSpPr>
        <p:spPr>
          <a:xfrm>
            <a:off x="2468880" y="1463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b="1" lang="en-US" sz="16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Package</a:t>
            </a:r>
          </a:p>
        </p:txBody>
      </p:sp>
      <p:sp>
        <p:nvSpPr>
          <p:cNvPr id="0" name="t"/>
          <p:cNvSpPr/>
          <p:nvPr/>
        </p:nvSpPr>
        <p:spPr>
          <a:xfrm>
            <a:off x="2468880" y="173736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b="0" lang="en-US"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>IAB bundles access with victim details</a:t>
            </a:r>
          </a:p>
        </p:txBody>
      </p:sp>
      <p:sp>
        <p:nvSpPr>
          <p:cNvPr id="0" name="arrow"/>
          <p:cNvSpPr/>
          <p:nvPr/>
        </p:nvSpPr>
        <p:spPr>
          <a:xfrm>
            <a:off x="4206240" y="1636776"/>
            <a:ext cx="274320" cy="109728"/>
          </a:xfrm>
          <a:prstGeom prst="rightArrow">
            <a:avLst/>
          </a:prstGeom>
          <a:solidFill>
            <a:srgbClr val="E538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shape"/>
          <p:cNvSpPr/>
          <p:nvPr/>
        </p:nvSpPr>
        <p:spPr>
          <a:xfrm>
            <a:off x="4480560" y="1371600"/>
            <a:ext cx="1737360" cy="6400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endParaRPr lang="en-US"/>
          </a:p>
        </p:txBody>
      </p:sp>
      <p:sp>
        <p:nvSpPr>
          <p:cNvPr id="0" name="t"/>
          <p:cNvSpPr/>
          <p:nvPr/>
        </p:nvSpPr>
        <p:spPr>
          <a:xfrm>
            <a:off x="4480560" y="1463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b="1" lang="en-US" sz="16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Sell</a:t>
            </a:r>
          </a:p>
        </p:txBody>
      </p:sp>
      <p:sp>
        <p:nvSpPr>
          <p:cNvPr id="0" name="t"/>
          <p:cNvSpPr/>
          <p:nvPr/>
        </p:nvSpPr>
        <p:spPr>
          <a:xfrm>
            <a:off x="4480560" y="173736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b="0" lang="en-US"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>Ransomware affiliate purchases access</a:t>
            </a:r>
          </a:p>
        </p:txBody>
      </p:sp>
      <p:sp>
        <p:nvSpPr>
          <p:cNvPr id="0" name="arrow"/>
          <p:cNvSpPr/>
          <p:nvPr/>
        </p:nvSpPr>
        <p:spPr>
          <a:xfrm>
            <a:off x="6217920" y="1636776"/>
            <a:ext cx="274320" cy="109728"/>
          </a:xfrm>
          <a:prstGeom prst="rightArrow">
            <a:avLst/>
          </a:prstGeom>
          <a:solidFill>
            <a:srgbClr val="E538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shape"/>
          <p:cNvSpPr/>
          <p:nvPr/>
        </p:nvSpPr>
        <p:spPr>
          <a:xfrm>
            <a:off x="6492240" y="1371600"/>
            <a:ext cx="1737360" cy="64008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endParaRPr lang="en-US"/>
          </a:p>
        </p:txBody>
      </p:sp>
      <p:sp>
        <p:nvSpPr>
          <p:cNvPr id="0" name="t"/>
          <p:cNvSpPr/>
          <p:nvPr/>
        </p:nvSpPr>
        <p:spPr>
          <a:xfrm>
            <a:off x="6492240" y="1463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b="1" lang="en-US" sz="16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Deploy</a:t>
            </a:r>
          </a:p>
        </p:txBody>
      </p:sp>
      <p:sp>
        <p:nvSpPr>
          <p:cNvPr id="0" name="t"/>
          <p:cNvSpPr/>
          <p:nvPr/>
        </p:nvSpPr>
        <p:spPr>
          <a:xfrm>
            <a:off x="6492240" y="173736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b="0" lang="en-US"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>Ransomware hits within 1–14 days</a:t>
            </a:r>
          </a:p>
        </p:txBody>
      </p:sp>
      <p:sp>
        <p:nvSpPr>
          <p:cNvPr id="0" name="shape"/>
          <p:cNvSpPr/>
          <p:nvPr/>
        </p:nvSpPr>
        <p:spPr>
          <a:xfrm>
            <a:off x="457200" y="2468880"/>
            <a:ext cx="2468880" cy="6858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endParaRPr lang="en-US"/>
          </a:p>
        </p:txBody>
      </p:sp>
      <p:sp>
        <p:nvSpPr>
          <p:cNvPr id="0" name="t"/>
          <p:cNvSpPr/>
          <p:nvPr/>
        </p:nvSpPr>
        <p:spPr>
          <a:xfrm>
            <a:off x="457200" y="25146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b="1" lang="en-US" sz="2400">
                <a:solidFill>
                  <a:srgbClr val="E5383B"/>
                </a:solidFill>
                <a:latin typeface="Arial Black"/>
                <a:ea typeface="Arial Black"/>
                <a:cs typeface="Arial Black"/>
              </a:rPr>
              <a:t>$500 – $50K+</a:t>
            </a:r>
          </a:p>
        </p:txBody>
      </p:sp>
      <p:sp>
        <p:nvSpPr>
          <p:cNvPr id="0" name="t"/>
          <p:cNvSpPr/>
          <p:nvPr/>
        </p:nvSpPr>
        <p:spPr>
          <a:xfrm>
            <a:off x="457200" y="274320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b="0" lang="en-US" sz="1100">
                <a:solidFill>
                  <a:srgbClr val="3C4350"/>
                </a:solidFill>
                <a:latin typeface="Arial"/>
                <a:ea typeface="Arial"/>
                <a:cs typeface="Arial"/>
              </a:rPr>
              <a:t>Typical asking price per access</a:t>
            </a:r>
          </a:p>
        </p:txBody>
      </p:sp>
      <p:sp>
        <p:nvSpPr>
          <p:cNvPr id="0" name="shape"/>
          <p:cNvSpPr/>
          <p:nvPr/>
        </p:nvSpPr>
        <p:spPr>
          <a:xfrm>
            <a:off x="3108960" y="2468880"/>
            <a:ext cx="2468880" cy="6858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endParaRPr lang="en-US"/>
          </a:p>
        </p:txBody>
      </p:sp>
      <p:sp>
        <p:nvSpPr>
          <p:cNvPr id="0" name="t"/>
          <p:cNvSpPr/>
          <p:nvPr/>
        </p:nvSpPr>
        <p:spPr>
          <a:xfrm>
            <a:off x="3108960" y="25146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b="1" lang="en-US" sz="2400">
                <a:solidFill>
                  <a:srgbClr val="E5383B"/>
                </a:solidFill>
                <a:latin typeface="Arial Black"/>
                <a:ea typeface="Arial Black"/>
                <a:cs typeface="Arial Black"/>
              </a:rPr>
              <a:t>VPN + RDP</a:t>
            </a:r>
          </a:p>
        </p:txBody>
      </p:sp>
      <p:sp>
        <p:nvSpPr>
          <p:cNvPr id="0" name="t"/>
          <p:cNvSpPr/>
          <p:nvPr/>
        </p:nvSpPr>
        <p:spPr>
          <a:xfrm>
            <a:off x="3108960" y="274320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b="0" lang="en-US" sz="1100">
                <a:solidFill>
                  <a:srgbClr val="3C4350"/>
                </a:solidFill>
                <a:latin typeface="Arial"/>
                <a:ea typeface="Arial"/>
                <a:cs typeface="Arial"/>
              </a:rPr>
              <a:t>Most commonly brokered access types</a:t>
            </a:r>
          </a:p>
        </p:txBody>
      </p:sp>
      <p:sp>
        <p:nvSpPr>
          <p:cNvPr id="0" name="shape"/>
          <p:cNvSpPr/>
          <p:nvPr/>
        </p:nvSpPr>
        <p:spPr>
          <a:xfrm>
            <a:off x="5760720" y="2468880"/>
            <a:ext cx="2468880" cy="6858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endParaRPr lang="en-US"/>
          </a:p>
        </p:txBody>
      </p:sp>
      <p:sp>
        <p:nvSpPr>
          <p:cNvPr id="0" name="t"/>
          <p:cNvSpPr/>
          <p:nvPr/>
        </p:nvSpPr>
        <p:spPr>
          <a:xfrm>
            <a:off x="5760720" y="25146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b="1" lang="en-US" sz="2400">
                <a:solidFill>
                  <a:srgbClr val="E5383B"/>
                </a:solidFill>
                <a:latin typeface="Arial Black"/>
                <a:ea typeface="Arial Black"/>
                <a:cs typeface="Arial Black"/>
              </a:rPr>
              <a:t>1 – 14 days</a:t>
            </a:r>
          </a:p>
        </p:txBody>
      </p:sp>
      <p:sp>
        <p:nvSpPr>
          <p:cNvPr id="0" name="t"/>
          <p:cNvSpPr/>
          <p:nvPr/>
        </p:nvSpPr>
        <p:spPr>
          <a:xfrm>
            <a:off x="5760720" y="274320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b="0" lang="en-US" sz="1100">
                <a:solidFill>
                  <a:srgbClr val="3C4350"/>
                </a:solidFill>
                <a:latin typeface="Arial"/>
                <a:ea typeface="Arial"/>
                <a:cs typeface="Arial"/>
              </a:rPr>
              <a:t>Avg time from sale to ransomware</a:t>
            </a:r>
          </a:p>
        </p:txBody>
      </p:sp>
      <p:sp>
        <p:nvSpPr>
          <p:cNvPr id="0" name="t"/>
          <p:cNvSpPr/>
          <p:nvPr/>
        </p:nvSpPr>
        <p:spPr>
          <a:xfrm>
            <a:off x="640080" y="347472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b="1" lang="en-US" sz="1400">
                <a:solidFill>
                  <a:srgbClr val="0D1117"/>
                </a:solidFill>
                <a:latin typeface="Arial"/>
                <a:ea typeface="Arial"/>
                <a:cs typeface="Arial"/>
              </a:rPr>
              <a:t>IABs are the upstream supply chain for ransomware — they enable attacks at scale.</a:t>
            </a:r>
          </a:p>
        </p:txBody>
      </p:sp>
      <p:sp>
        <p:nvSpPr>
          <p:cNvPr id="0" name="shape"/>
          <p:cNvSpPr/>
          <p:nvPr/>
        </p:nvSpPr>
        <p:spPr>
          <a:xfrm>
            <a:off x="640080" y="3383280"/>
            <a:ext cx="786384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endParaRPr lang="en-US"/>
          </a:p>
        </p:txBody>
      </p:sp>
      <p:sp>
        <p:nvSpPr>
          <p:cNvPr id="0" name="shape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0" name="shape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endParaRPr lang="en-US"/>
          </a:p>
        </p:txBody>
      </p:sp>
      <p:sp>
        <p:nvSpPr>
          <p:cNvPr id="0" name="t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b="1" lang="en-US" sz="2800">
                <a:solidFill>
                  <a:srgbClr val="0D1117"/>
                </a:solidFill>
                <a:latin typeface="Arial Black"/>
                <a:ea typeface="Arial Black"/>
                <a:cs typeface="Arial Black"/>
              </a:rPr>
              <a:t>Where DWIQ Intercepts the Kill Chain</a:t>
            </a:r>
          </a:p>
        </p:txBody>
      </p:sp>
      <p:sp>
        <p:nvSpPr>
          <p:cNvPr id="0" name="shape"/>
          <p:cNvSpPr/>
          <p:nvPr/>
        </p:nvSpPr>
        <p:spPr>
          <a:xfrm>
            <a:off x="457200" y="1371600"/>
            <a:ext cx="1737360" cy="64008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endParaRPr lang="en-US"/>
          </a:p>
        </p:txBody>
      </p:sp>
      <p:sp>
        <p:nvSpPr>
          <p:cNvPr id="0" name="t"/>
          <p:cNvSpPr/>
          <p:nvPr/>
        </p:nvSpPr>
        <p:spPr>
          <a:xfrm>
            <a:off x="457200" y="1463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b="1" lang="en-US" sz="16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Exploit</a:t>
            </a:r>
          </a:p>
        </p:txBody>
      </p:sp>
      <p:sp>
        <p:nvSpPr>
          <p:cNvPr id="0" name="t"/>
          <p:cNvSpPr/>
          <p:nvPr/>
        </p:nvSpPr>
        <p:spPr>
          <a:xfrm>
            <a:off x="457200" y="173736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b="0" lang="en-US"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>Vulnerability in edge device or app</a:t>
            </a:r>
          </a:p>
        </p:txBody>
      </p:sp>
      <p:sp>
        <p:nvSpPr>
          <p:cNvPr id="0" name="arrow"/>
          <p:cNvSpPr/>
          <p:nvPr/>
        </p:nvSpPr>
        <p:spPr>
          <a:xfrm>
            <a:off x="2194560" y="1636776"/>
            <a:ext cx="274320" cy="109728"/>
          </a:xfrm>
          <a:prstGeom prst="rightArrow">
            <a:avLst/>
          </a:prstGeom>
          <a:solidFill>
            <a:srgbClr val="E538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shape"/>
          <p:cNvSpPr/>
          <p:nvPr/>
        </p:nvSpPr>
        <p:spPr>
          <a:xfrm>
            <a:off x="2468880" y="1371600"/>
            <a:ext cx="1737360" cy="6400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endParaRPr lang="en-US"/>
          </a:p>
        </p:txBody>
      </p:sp>
      <p:sp>
        <p:nvSpPr>
          <p:cNvPr id="0" name="t"/>
          <p:cNvSpPr/>
          <p:nvPr/>
        </p:nvSpPr>
        <p:spPr>
          <a:xfrm>
            <a:off x="2468880" y="1463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b="1" lang="en-US" sz="16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Package</a:t>
            </a:r>
          </a:p>
        </p:txBody>
      </p:sp>
      <p:sp>
        <p:nvSpPr>
          <p:cNvPr id="0" name="t"/>
          <p:cNvSpPr/>
          <p:nvPr/>
        </p:nvSpPr>
        <p:spPr>
          <a:xfrm>
            <a:off x="2468880" y="173736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b="0" lang="en-US"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>IAB bundles access with victim details</a:t>
            </a:r>
          </a:p>
        </p:txBody>
      </p:sp>
      <p:sp>
        <p:nvSpPr>
          <p:cNvPr id="0" name="arrow"/>
          <p:cNvSpPr/>
          <p:nvPr/>
        </p:nvSpPr>
        <p:spPr>
          <a:xfrm>
            <a:off x="4206240" y="1636776"/>
            <a:ext cx="274320" cy="109728"/>
          </a:xfrm>
          <a:prstGeom prst="rightArrow">
            <a:avLst/>
          </a:prstGeom>
          <a:solidFill>
            <a:srgbClr val="E538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shape"/>
          <p:cNvSpPr/>
          <p:nvPr/>
        </p:nvSpPr>
        <p:spPr>
          <a:xfrm>
            <a:off x="4480560" y="1371600"/>
            <a:ext cx="1737360" cy="6400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endParaRPr lang="en-US"/>
          </a:p>
        </p:txBody>
      </p:sp>
      <p:sp>
        <p:nvSpPr>
          <p:cNvPr id="0" name="t"/>
          <p:cNvSpPr/>
          <p:nvPr/>
        </p:nvSpPr>
        <p:spPr>
          <a:xfrm>
            <a:off x="4480560" y="1463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b="1" lang="en-US" sz="16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Sell</a:t>
            </a:r>
          </a:p>
        </p:txBody>
      </p:sp>
      <p:sp>
        <p:nvSpPr>
          <p:cNvPr id="0" name="t"/>
          <p:cNvSpPr/>
          <p:nvPr/>
        </p:nvSpPr>
        <p:spPr>
          <a:xfrm>
            <a:off x="4480560" y="173736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b="0" lang="en-US"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>Ransomware affiliate purchases access</a:t>
            </a:r>
          </a:p>
        </p:txBody>
      </p:sp>
      <p:sp>
        <p:nvSpPr>
          <p:cNvPr id="0" name="arrow"/>
          <p:cNvSpPr/>
          <p:nvPr/>
        </p:nvSpPr>
        <p:spPr>
          <a:xfrm>
            <a:off x="6217920" y="1636776"/>
            <a:ext cx="274320" cy="109728"/>
          </a:xfrm>
          <a:prstGeom prst="rightArrow">
            <a:avLst/>
          </a:prstGeom>
          <a:solidFill>
            <a:srgbClr val="E538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shape"/>
          <p:cNvSpPr/>
          <p:nvPr/>
        </p:nvSpPr>
        <p:spPr>
          <a:xfrm>
            <a:off x="6492240" y="1371600"/>
            <a:ext cx="1737360" cy="64008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endParaRPr lang="en-US"/>
          </a:p>
        </p:txBody>
      </p:sp>
      <p:sp>
        <p:nvSpPr>
          <p:cNvPr id="0" name="t"/>
          <p:cNvSpPr/>
          <p:nvPr/>
        </p:nvSpPr>
        <p:spPr>
          <a:xfrm>
            <a:off x="6492240" y="1463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b="1" lang="en-US" sz="16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Deploy</a:t>
            </a:r>
          </a:p>
        </p:txBody>
      </p:sp>
      <p:sp>
        <p:nvSpPr>
          <p:cNvPr id="0" name="t"/>
          <p:cNvSpPr/>
          <p:nvPr/>
        </p:nvSpPr>
        <p:spPr>
          <a:xfrm>
            <a:off x="6492240" y="173736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b="0" lang="en-US"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>Ransomware hits within 1–14 days</a:t>
            </a:r>
          </a:p>
        </p:txBody>
      </p:sp>
      <p:sp>
        <p:nvSpPr>
          <p:cNvPr id="0" name="shape"/>
          <p:cNvSpPr/>
          <p:nvPr/>
        </p:nvSpPr>
        <p:spPr>
          <a:xfrm>
            <a:off x="2468880" y="2148840"/>
            <a:ext cx="3749040" cy="32004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endParaRPr lang="en-US"/>
          </a:p>
        </p:txBody>
      </p:sp>
      <p:sp>
        <p:nvSpPr>
          <p:cNvPr id="0" name="t"/>
          <p:cNvSpPr/>
          <p:nvPr/>
        </p:nvSpPr>
        <p:spPr>
          <a:xfrm>
            <a:off x="2468880" y="21488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b="1" lang="en-US" sz="14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DWIQ INTERCEPTION ZONE</a:t>
            </a:r>
          </a:p>
        </p:txBody>
      </p:sp>
      <p:sp>
        <p:nvSpPr>
          <p:cNvPr id="0" name="shape"/>
          <p:cNvSpPr/>
          <p:nvPr/>
        </p:nvSpPr>
        <p:spPr>
          <a:xfrm>
            <a:off x="640080" y="2834640"/>
            <a:ext cx="64008" cy="2286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endParaRPr lang="en-US"/>
          </a:p>
        </p:txBody>
      </p:sp>
      <p:sp>
        <p:nvSpPr>
          <p:cNvPr id="0" name="t"/>
          <p:cNvSpPr/>
          <p:nvPr/>
        </p:nvSpPr>
        <p:spPr>
          <a:xfrm>
            <a:off x="731520" y="283464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b="1" lang="en-US" sz="1600">
                <a:solidFill>
                  <a:srgbClr val="0D1117"/>
                </a:solidFill>
                <a:latin typeface="Arial Black"/>
                <a:ea typeface="Arial Black"/>
                <a:cs typeface="Arial Black"/>
              </a:rPr>
              <a:t>How We Get There</a:t>
            </a:r>
          </a:p>
        </p:txBody>
      </p:sp>
      <p:sp>
        <p:nvSpPr>
          <p:cNvPr id="0" name="t"/>
          <p:cNvSpPr/>
          <p:nvPr/>
        </p:nvSpPr>
        <p:spPr>
          <a:xfrm>
            <a:off x="731520" y="315468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b="0" lang="en-US" sz="1200">
                <a:solidFill>
                  <a:srgbClr val="3C4350"/>
                </a:solidFill>
                <a:latin typeface="Arial"/>
                <a:ea typeface="Arial"/>
                <a:cs typeface="Arial"/>
              </a:rPr>
              <a:t>1-on-1 relationships with IABs via misattributable personas</a:t>
            </a:r>
          </a:p>
        </p:txBody>
      </p:sp>
      <p:sp>
        <p:nvSpPr>
          <p:cNvPr id="0" name="t"/>
          <p:cNvSpPr/>
          <p:nvPr/>
        </p:nvSpPr>
        <p:spPr>
          <a:xfrm>
            <a:off x="731520" y="342900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b="0" lang="en-US" sz="1200">
                <a:solidFill>
                  <a:srgbClr val="3C4350"/>
                </a:solidFill>
                <a:latin typeface="Arial"/>
                <a:ea typeface="Arial"/>
                <a:cs typeface="Arial"/>
              </a:rPr>
              <a:t>Direct engagement — not marketplace scraping</a:t>
            </a:r>
          </a:p>
        </p:txBody>
      </p:sp>
      <p:sp>
        <p:nvSpPr>
          <p:cNvPr id="0" name="shape"/>
          <p:cNvSpPr/>
          <p:nvPr/>
        </p:nvSpPr>
        <p:spPr>
          <a:xfrm>
            <a:off x="4754880" y="2834640"/>
            <a:ext cx="64008" cy="2286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endParaRPr lang="en-US"/>
          </a:p>
        </p:txBody>
      </p:sp>
      <p:sp>
        <p:nvSpPr>
          <p:cNvPr id="0" name="t"/>
          <p:cNvSpPr/>
          <p:nvPr/>
        </p:nvSpPr>
        <p:spPr>
          <a:xfrm>
            <a:off x="4846320" y="283464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b="1" lang="en-US" sz="1600">
                <a:solidFill>
                  <a:srgbClr val="0D1117"/>
                </a:solidFill>
                <a:latin typeface="Arial Black"/>
                <a:ea typeface="Arial Black"/>
                <a:cs typeface="Arial Black"/>
              </a:rPr>
              <a:t>What You Get</a:t>
            </a:r>
          </a:p>
        </p:txBody>
      </p:sp>
      <p:sp>
        <p:nvSpPr>
          <p:cNvPr id="0" name="t"/>
          <p:cNvSpPr/>
          <p:nvPr/>
        </p:nvSpPr>
        <p:spPr>
          <a:xfrm>
            <a:off x="4846320" y="315468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b="0" lang="en-US" sz="1200">
                <a:solidFill>
                  <a:srgbClr val="3C4350"/>
                </a:solidFill>
                <a:latin typeface="Arial"/>
                <a:ea typeface="Arial"/>
                <a:cs typeface="Arial"/>
              </a:rPr>
              <a:t>Analyst-vetted alerts before ransomware deploys</a:t>
            </a:r>
          </a:p>
        </p:txBody>
      </p:sp>
      <p:sp>
        <p:nvSpPr>
          <p:cNvPr id="0" name="t"/>
          <p:cNvSpPr/>
          <p:nvPr/>
        </p:nvSpPr>
        <p:spPr>
          <a:xfrm>
            <a:off x="4846320" y="342900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b="0" lang="en-US" sz="1200">
                <a:solidFill>
                  <a:srgbClr val="3C4350"/>
                </a:solidFill>
                <a:latin typeface="Arial"/>
                <a:ea typeface="Arial"/>
                <a:cs typeface="Arial"/>
              </a:rPr>
              <a:t>Actionable time to patch, isolate, or rotate credentials</a:t>
            </a:r>
          </a:p>
        </p:txBody>
      </p:sp>
      <p:sp>
        <p:nvSpPr>
          <p:cNvPr id="0" name="shape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anchorCtr="0" anchor="ctr" bIns="0" lIns="0" rIns="0" wrap="square" tIns="0">
            <a:no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[INT] Project timeline/workflow presentation [Style 1] ">
  <a:themeElements>
    <a:clrScheme name="Google Colours">
      <a:dk1>
        <a:srgbClr val="292D3E"/>
      </a:dk1>
      <a:lt1>
        <a:srgbClr val="FFFFFF"/>
      </a:lt1>
      <a:dk2>
        <a:srgbClr val="F1F2DF"/>
      </a:dk2>
      <a:lt2>
        <a:srgbClr val="666666"/>
      </a:lt2>
      <a:accent1>
        <a:srgbClr val="6D31FD"/>
      </a:accent1>
      <a:accent2>
        <a:srgbClr val="066B6B"/>
      </a:accent2>
      <a:accent3>
        <a:srgbClr val="FFDF5F"/>
      </a:accent3>
      <a:accent4>
        <a:srgbClr val="8289FF"/>
      </a:accent4>
      <a:accent5>
        <a:srgbClr val="FF8127"/>
      </a:accent5>
      <a:accent6>
        <a:srgbClr val="CAF38D"/>
      </a:accent6>
      <a:hlink>
        <a:srgbClr val="8289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2026-03-10T16:31:59Z</dcterms:created>
  <dc:creator>Dark Web IQ</dc:creator>
</cp:coreProperties>
</file>